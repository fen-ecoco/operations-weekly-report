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第35週（08/24 ~ 08/30）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(第35週)</a:t>
            </a:r>
            <a:endParaRPr lang="en-US" sz="1200" dirty="0"/>
          </a:p>
        </p:txBody>
      </p:sp>
      <p:pic>
        <p:nvPicPr>
          <p:cNvPr id="8" name="Image 0" descr="D:\info\0507_Weekly-Report\Operations-Weekly-Report\automation\icons\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76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(61件) 增加 15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▲24.6%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D:\info\0507_Weekly-Report\Operations-Weekly-Report\automation\icons\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其他建議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14.5%（共 11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▲3%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D:\info\0507_Weekly-Report\Operations-Weekly-Report\automation\icons\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萬家福中壢店方舟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桃園市（本週 5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▲5件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D:\info\0507_Weekly-Report\Operations-Weekly-Report\automation\icons\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44.7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代表案例類型：其他建議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▲0.4%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第33週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第34週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第35週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76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11件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14.5%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8件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10.5%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2327564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APP畫面顯示與機台狀態不符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5.3%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163782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第35週（08/24 ~ 08/30）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D:\info\0507_Weekly-Report\Operations-Weekly-Report\automation\icons\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58件 (98.3%)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29.3% (17件)</a:t>
            </a:r>
            <a:endParaRPr lang="en-US" sz="1600" dirty="0"/>
          </a:p>
        </p:txBody>
      </p:sp>
      <p:pic>
        <p:nvPicPr>
          <p:cNvPr id="14" name="Image 1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最高回報站點：A｜桃園/全聯福利中心大溪員林店站（2件）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機台當機/無回應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13.8% (8件)</a:t>
            </a:r>
            <a:endParaRPr lang="en-US" sz="1600" dirty="0"/>
          </a:p>
        </p:txBody>
      </p:sp>
      <p:pic>
        <p:nvPicPr>
          <p:cNvPr id="19" name="Image 2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最高回報站點：E｜臺南/迷客夏臺南華平店站（4件）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12.1% (7件)</a:t>
            </a:r>
            <a:endParaRPr lang="en-US" sz="1600" dirty="0"/>
          </a:p>
        </p:txBody>
      </p:sp>
      <p:pic>
        <p:nvPicPr>
          <p:cNvPr id="24" name="Image 3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最高回報站點：D｜新竹/全家芎林飛鳳店站（1件）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D:\info\0507_Weekly-Report\Operations-Weekly-Report\automation\icons\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1件 (1.7%)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100% (1件)</a:t>
            </a:r>
            <a:endParaRPr lang="en-US" sz="1600" dirty="0"/>
          </a:p>
        </p:txBody>
      </p:sp>
      <p:pic>
        <p:nvPicPr>
          <p:cNvPr id="34" name="Image 5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最高回報站點：B｜桃園/小北百貨桃園大有店站（1件）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37" name="Image 6" descr="D:\info\0507_Weekly-Report\Operations-Weekly-Report\automation\icons\war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【本週融合洞察】收瓶機客訴集中於「滿艙問題（回收箱／寶特瓶）」（29.3%，17件），最高回報站點為 A｜桃園/全聯福利中心大溪員林店站（2件），建議優先派工檢修；電池機客訴則集中於「點數未入帳號」（100.0%，1件），建議持續追蹤。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675120" y="256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資料更新日期：2026/08/31（區間2026/08/01-08/31）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11430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371600"/>
                <a:gridCol w="914400"/>
                <a:gridCol w="2423160"/>
                <a:gridCol w="1371600"/>
                <a:gridCol w="155448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（總540）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縣市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機型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租賃/買斷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近30日合計（瓶）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月增減率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528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衛生福利部雙和醫院第一醫療大樓站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529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南山高中大中一樓站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全聯福利中心三民十全三店站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全聯福利中心小港宏平店站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823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屏東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全聯福利中心屏東瑞民店站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1,075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雲林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全聯福利中心林內中正店站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1,100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E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466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久昌好日和站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1,100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E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450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嘉義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嘉義新港圖書館站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1,100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509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豐譽億載安居站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1,162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508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健美洋行南一中體育館站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1,392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66460" y="129844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66460" y="12984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0" y="129844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9" name="Image 0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16" y="1353312"/>
            <a:ext cx="146304" cy="1463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07808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966460" y="168249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66460" y="16824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966460" y="206654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66460" y="2066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966460" y="245059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66460" y="245059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966460" y="28346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966460" y="28346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966460" y="32186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66460" y="3218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966460" y="360273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966460" y="360273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66460" y="398678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66460" y="39867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5966460" y="437083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966460" y="43708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7315200" y="4370832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28" name="Image 1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6" y="4425696"/>
            <a:ext cx="146304" cy="14630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07808" y="4370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5966460" y="475488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5966460" y="4754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65760" y="5276088"/>
            <a:ext cx="11430000" cy="960120"/>
          </a:xfrm>
          <a:prstGeom prst="roundRect">
            <a:avLst>
              <a:gd name="adj" fmla="val 5714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94360" y="53492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資料來源：Hive，一般站依近 30 個台灣日曆日實際清運的塑膠＋鋁罐瓶數分 S～F；三台以上有效收瓶機獨立列為 ARK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594360" y="55961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等級+加分/瓶量：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94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9525">
            <a:solidFill>
              <a:srgbClr val="FF500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94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S+18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1133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17,000瓶以上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1965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9525">
            <a:solidFill>
              <a:srgbClr val="0076A9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1965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A+12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2505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13,300～16,999瓶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3337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9525">
            <a:solidFill>
              <a:srgbClr val="060E9F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3337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B+8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3877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11,100～13,299瓶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47091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4F86A0">
              <a:alpha val="15000"/>
            </a:srgbClr>
          </a:solidFill>
          <a:ln w="9525">
            <a:solidFill>
              <a:srgbClr val="4F86A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7091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6A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C+4</a:t>
            </a:r>
            <a:endParaRPr lang="en-US" sz="850" dirty="0"/>
          </a:p>
        </p:txBody>
      </p:sp>
      <p:sp>
        <p:nvSpPr>
          <p:cNvPr id="46" name="Text 41"/>
          <p:cNvSpPr/>
          <p:nvPr/>
        </p:nvSpPr>
        <p:spPr>
          <a:xfrm>
            <a:off x="52486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9,000～11,099瓶</a:t>
            </a:r>
            <a:endParaRPr lang="en-US" sz="700" dirty="0"/>
          </a:p>
        </p:txBody>
      </p:sp>
      <p:sp>
        <p:nvSpPr>
          <p:cNvPr id="47" name="Shape 42"/>
          <p:cNvSpPr/>
          <p:nvPr/>
        </p:nvSpPr>
        <p:spPr>
          <a:xfrm>
            <a:off x="60807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60807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D+2</a:t>
            </a:r>
            <a:endParaRPr lang="en-US" sz="850" dirty="0"/>
          </a:p>
        </p:txBody>
      </p:sp>
      <p:sp>
        <p:nvSpPr>
          <p:cNvPr id="49" name="Text 44"/>
          <p:cNvSpPr/>
          <p:nvPr/>
        </p:nvSpPr>
        <p:spPr>
          <a:xfrm>
            <a:off x="66202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6,900～8,999瓶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7452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7452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E+1</a:t>
            </a:r>
            <a:endParaRPr lang="en-US" sz="850" dirty="0"/>
          </a:p>
        </p:txBody>
      </p:sp>
      <p:sp>
        <p:nvSpPr>
          <p:cNvPr id="52" name="Text 47"/>
          <p:cNvSpPr/>
          <p:nvPr/>
        </p:nvSpPr>
        <p:spPr>
          <a:xfrm>
            <a:off x="7991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4,100～6,899瓶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8823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8823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F+0</a:t>
            </a:r>
            <a:endParaRPr lang="en-US" sz="850" dirty="0"/>
          </a:p>
        </p:txBody>
      </p:sp>
      <p:sp>
        <p:nvSpPr>
          <p:cNvPr id="55" name="Text 50"/>
          <p:cNvSpPr/>
          <p:nvPr/>
        </p:nvSpPr>
        <p:spPr>
          <a:xfrm>
            <a:off x="9363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4,100瓶以下</a:t>
            </a:r>
            <a:endParaRPr lang="en-US" sz="700" dirty="0"/>
          </a:p>
        </p:txBody>
      </p:sp>
      <p:sp>
        <p:nvSpPr>
          <p:cNvPr id="56" name="Shape 51"/>
          <p:cNvSpPr/>
          <p:nvPr/>
        </p:nvSpPr>
        <p:spPr>
          <a:xfrm>
            <a:off x="10195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9C7A00">
              <a:alpha val="15000"/>
            </a:srgbClr>
          </a:solidFill>
          <a:ln w="9525">
            <a:solidFill>
              <a:srgbClr val="9C7A00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10195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ARK+8</a:t>
            </a:r>
            <a:endParaRPr lang="en-US" sz="850" dirty="0"/>
          </a:p>
        </p:txBody>
      </p:sp>
      <p:sp>
        <p:nvSpPr>
          <p:cNvPr id="58" name="Text 53"/>
          <p:cNvSpPr/>
          <p:nvPr/>
        </p:nvSpPr>
        <p:spPr>
          <a:xfrm>
            <a:off x="10735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3台有效收瓶機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2026-08-31T05:52:11Z</dcterms:created>
  <dcterms:modified xsi:type="dcterms:W3CDTF">2026-08-31T05:52:11Z</dcterms:modified>
</cp:coreProperties>
</file>