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佔比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>
              <a:noneShdw sx="100000" sy="100000" kx="0" ky="0" algn="bl" blurRad="38100" rotWithShape="1" dist="23000" dir="5400000">
                <a:srgbClr val="000000">
                  <a:alpha val="35000"/>
                </a:srgbClr>
              </a:noneShdw>
            </a:effectLst>
          </c:spPr>
          <c:dPt>
            <c:idx val="0"/>
            <c:bubble3D val="0"/>
            <c:spPr>
              <a:solidFill>
                <a:srgbClr val="060E9F"/>
              </a:solidFill>
              <a:effectLst>
                <a:noneShdw sx="100000" sy="100000" kx="0" ky="0" algn="bl" blurRad="38100" rotWithShape="1" dist="23000" dir="5400000">
                  <a:srgbClr val="000000">
                    <a:alpha val="35000"/>
                  </a:srgbClr>
                </a:noneShdw>
              </a:effectLst>
            </c:spPr>
          </c:dPt>
          <c:dPt>
            <c:idx val="1"/>
            <c:bubble3D val="0"/>
            <c:spPr>
              <a:solidFill>
                <a:srgbClr val="FF5000"/>
              </a:solidFill>
              <a:effectLst>
                <a:noneShdw sx="100000" sy="100000" kx="0" ky="0" algn="bl" blurRad="38100" rotWithShape="1" dist="23000" dir="5400000">
                  <a:srgbClr val="000000">
                    <a:alpha val="35000"/>
                  </a:srgbClr>
                </a:noneShdw>
              </a:effectLst>
            </c:spPr>
          </c:dPt>
          <c:dPt>
            <c:idx val="2"/>
            <c:bubble3D val="0"/>
            <c:spPr>
              <a:solidFill>
                <a:srgbClr val="0076A9"/>
              </a:solidFill>
              <a:effectLst>
                <a:noneShdw sx="100000" sy="100000" kx="0" ky="0" algn="bl" blurRad="38100" rotWithShape="1" dist="23000" dir="5400000">
                  <a:srgbClr val="000000">
                    <a:alpha val="35000"/>
                  </a:srgbClr>
                </a:noneShdw>
              </a:effectLst>
            </c:spPr>
          </c:dPt>
          <c:dPt>
            <c:idx val="3"/>
            <c:bubble3D val="0"/>
            <c:spPr>
              <a:solidFill>
                <a:srgbClr val="FFCE00"/>
              </a:solidFill>
              <a:effectLst>
                <a:noneShdw sx="100000" sy="100000" kx="0" ky="0" algn="bl" blurRad="38100" rotWithShape="1" dist="23000" dir="5400000">
                  <a:srgbClr val="000000">
                    <a:alpha val="35000"/>
                  </a:srgbClr>
                </a:noneShdw>
              </a:effectLst>
            </c:spPr>
          </c:dPt>
          <c:dPt>
            <c:idx val="4"/>
            <c:bubble3D val="0"/>
            <c:spPr>
              <a:solidFill>
                <a:srgbClr val="8EB8C9"/>
              </a:solidFill>
              <a:effectLst>
                <a:noneShdw sx="100000" sy="100000" kx="0" ky="0" algn="bl" blurRad="38100" rotWithShape="1" dist="23000" dir="5400000">
                  <a:srgbClr val="000000">
                    <a:alpha val="35000"/>
                  </a:srgbClr>
                </a:noneShdw>
              </a:effectLst>
            </c:spPr>
          </c:dPt>
          <c:dPt>
            <c:idx val="5"/>
            <c:bubble3D val="0"/>
            <c:spPr>
              <a:solidFill>
                <a:srgbClr val="FAE0B8"/>
              </a:solidFill>
              <a:effectLst>
                <a:noneShdw sx="100000" sy="100000" kx="0" ky="0" algn="bl" blurRad="38100" rotWithShape="1" dist="23000" dir="5400000">
                  <a:srgbClr val="000000">
                    <a:alpha val="35000"/>
                  </a:srgbClr>
                </a:noneShdw>
              </a:effectLst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9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9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APP帳號設定問題</c:v>
                </c:pt>
                <c:pt idx="1">
                  <c:v>機台問題</c:v>
                </c:pt>
                <c:pt idx="2">
                  <c:v>回收點數問題</c:v>
                </c:pt>
                <c:pt idx="3">
                  <c:v>顧客關係</c:v>
                </c:pt>
                <c:pt idx="4">
                  <c:v>優惠券問題</c:v>
                </c:pt>
                <c:pt idx="5">
                  <c:v>APP使用問題</c:v>
                </c:pt>
              </c:strCache>
            </c:strRef>
          </c:cat>
          <c:val>
            <c:numRef>
              <c:f>Sheet1!$B$2:$B$7</c:f>
              <c:numCache>
                <c:ptCount val="6"/>
                <c:pt idx="0">
                  <c:v>9</c:v>
                </c:pt>
                <c:pt idx="1">
                  <c:v>89</c:v>
                </c:pt>
                <c:pt idx="2">
                  <c:v>7</c:v>
                </c:pt>
                <c:pt idx="3">
                  <c:v>24</c:v>
                </c:pt>
                <c:pt idx="4">
                  <c:v>14</c:v>
                </c:pt>
                <c:pt idx="5">
                  <c:v>8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機台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>
              <a:noneShdw sx="100000" sy="100000" kx="0" ky="0" algn="bl" blurRad="38100" rotWithShape="1" dist="23000" dir="5400000">
                <a:srgbClr val="000000">
                  <a:alpha val="35000"/>
                </a:srgbClr>
              </a:noneShdw>
            </a:effectLst>
          </c:spPr>
          <c:dPt>
            <c:idx val="0"/>
            <c:bubble3D val="0"/>
            <c:spPr>
              <a:solidFill>
                <a:srgbClr val="FF5000"/>
              </a:solidFill>
              <a:effectLst>
                <a:noneShdw sx="100000" sy="100000" kx="0" ky="0" algn="bl" blurRad="38100" rotWithShape="1" dist="23000" dir="5400000">
                  <a:srgbClr val="000000">
                    <a:alpha val="35000"/>
                  </a:srgbClr>
                </a:noneShdw>
              </a:effectLst>
            </c:spPr>
          </c:dPt>
          <c:dPt>
            <c:idx val="1"/>
            <c:bubble3D val="0"/>
            <c:spPr>
              <a:solidFill>
                <a:srgbClr val="060E9F"/>
              </a:solidFill>
              <a:effectLst>
                <a:noneShdw sx="100000" sy="100000" kx="0" ky="0" algn="bl" blurRad="38100" rotWithShape="1" dist="23000" dir="5400000">
                  <a:srgbClr val="000000">
                    <a:alpha val="35000"/>
                  </a:srgbClr>
                </a:noneShdw>
              </a:effectLst>
            </c:spPr>
          </c:dPt>
          <c:dPt>
            <c:idx val="2"/>
            <c:bubble3D val="0"/>
            <c:spPr>
              <a:solidFill>
                <a:srgbClr val="0076A9"/>
              </a:solidFill>
              <a:effectLst>
                <a:noneShdw sx="100000" sy="100000" kx="0" ky="0" algn="bl" blurRad="38100" rotWithShape="1" dist="23000" dir="5400000">
                  <a:srgbClr val="000000">
                    <a:alpha val="35000"/>
                  </a:srgbClr>
                </a:noneShdw>
              </a:effectLst>
            </c:spPr>
          </c:dPt>
          <c:dPt>
            <c:idx val="3"/>
            <c:bubble3D val="0"/>
            <c:spPr>
              <a:solidFill>
                <a:srgbClr val="FFCE00"/>
              </a:solidFill>
              <a:effectLst>
                <a:noneShdw sx="100000" sy="100000" kx="0" ky="0" algn="bl" blurRad="38100" rotWithShape="1" dist="23000" dir="5400000">
                  <a:srgbClr val="000000">
                    <a:alpha val="35000"/>
                  </a:srgbClr>
                </a:noneShdw>
              </a:effectLst>
            </c:spPr>
          </c:dPt>
          <c:dPt>
            <c:idx val="4"/>
            <c:bubble3D val="0"/>
            <c:spPr>
              <a:solidFill>
                <a:srgbClr val="8EB8C9"/>
              </a:solidFill>
              <a:effectLst>
                <a:noneShdw sx="100000" sy="100000" kx="0" ky="0" algn="bl" blurRad="38100" rotWithShape="1" dist="23000" dir="5400000">
                  <a:srgbClr val="000000">
                    <a:alpha val="35000"/>
                  </a:srgbClr>
                </a:noneShdw>
              </a:effectLst>
            </c:spPr>
          </c:dPt>
          <c:dPt>
            <c:idx val="5"/>
            <c:bubble3D val="0"/>
            <c:spPr>
              <a:solidFill>
                <a:srgbClr val="B8BEC8"/>
              </a:solidFill>
              <a:effectLst>
                <a:noneShdw sx="100000" sy="100000" kx="0" ky="0" algn="bl" blurRad="38100" rotWithShape="1" dist="23000" dir="5400000">
                  <a:srgbClr val="000000">
                    <a:alpha val="35000"/>
                  </a:srgbClr>
                </a:noneShdw>
              </a:effectLst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8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8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8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8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8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8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瓶蓋桶已滿</c:v>
                </c:pt>
                <c:pt idx="1">
                  <c:v>機台需維護/故障提醒</c:v>
                </c:pt>
                <c:pt idx="2">
                  <c:v>機台關閉/無法啟動</c:v>
                </c:pt>
                <c:pt idx="3">
                  <c:v>機台運作中斷/重啟</c:v>
                </c:pt>
                <c:pt idx="4">
                  <c:v>履帶未作動或異常抖動</c:v>
                </c:pt>
                <c:pt idx="5">
                  <c:v>其他機台問題</c:v>
                </c:pt>
              </c:strCache>
            </c:strRef>
          </c:cat>
          <c:val>
            <c:numRef>
              <c:f>Sheet1!$B$2:$B$7</c:f>
              <c:numCache>
                <c:ptCount val="6"/>
                <c:pt idx="0">
                  <c:v>31</c:v>
                </c:pt>
                <c:pt idx="1">
                  <c:v>9</c:v>
                </c:pt>
                <c:pt idx="2">
                  <c:v>8</c:v>
                </c:pt>
                <c:pt idx="3">
                  <c:v>7</c:v>
                </c:pt>
                <c:pt idx="4">
                  <c:v>5</c:v>
                </c:pt>
                <c:pt idx="5">
                  <c:v>29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4592" y="54864"/>
            <a:ext cx="8778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客服課　06/29 ~ 07/05　客訴問題分析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164592" y="329184"/>
            <a:ext cx="45720" cy="201168"/>
          </a:xfrm>
          <a:prstGeom prst="rect">
            <a:avLst/>
          </a:prstGeom>
          <a:solidFill>
            <a:srgbClr val="FF5000"/>
          </a:solidFill>
          <a:ln/>
        </p:spPr>
      </p:sp>
      <p:sp>
        <p:nvSpPr>
          <p:cNvPr id="4" name="Text 2"/>
          <p:cNvSpPr/>
          <p:nvPr/>
        </p:nvSpPr>
        <p:spPr>
          <a:xfrm>
            <a:off x="246888" y="33832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0E9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客訴趨勢分析</a:t>
            </a:r>
            <a:endParaRPr lang="en-US" sz="105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64592" y="548640"/>
          <a:ext cx="8814816" cy="1792224"/>
        </p:xfrm>
        <a:graphic>
          <a:graphicData uri="http://schemas.openxmlformats.org/drawingml/2006/table">
            <a:tbl>
              <a:tblPr/>
              <a:tblGrid>
                <a:gridCol w="960120"/>
                <a:gridCol w="1051560"/>
                <a:gridCol w="1005840"/>
                <a:gridCol w="1005840"/>
                <a:gridCol w="1005840"/>
                <a:gridCol w="804672"/>
                <a:gridCol w="804672"/>
                <a:gridCol w="804672"/>
                <a:gridCol w="768096"/>
              </a:tblGrid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週次/期間</a:t>
                      </a:r>
                      <a:endParaRPr lang="en-US" sz="85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收瓶機/方舟</a:t>
                      </a:r>
                      <a:endParaRPr lang="en-US" sz="8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二代電池機</a:t>
                      </a:r>
                      <a:endParaRPr lang="en-US" sz="8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註冊帳號</a:t>
                      </a:r>
                      <a:endParaRPr lang="en-US" sz="8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回收點數</a:t>
                      </a:r>
                      <a:endParaRPr lang="en-US" sz="8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優惠券</a:t>
                      </a:r>
                      <a:endParaRPr lang="en-US" sz="8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APP使用</a:t>
                      </a:r>
                      <a:endParaRPr lang="en-US" sz="8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顧客關係</a:t>
                      </a:r>
                      <a:endParaRPr lang="en-US" sz="8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0E9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加總</a:t>
                      </a:r>
                      <a:endParaRPr lang="en-US" sz="8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000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555555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24週</a:t>
                      </a:r>
                      <a:endParaRPr lang="en-US" sz="8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555555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06/08-06/14</a:t>
                      </a:r>
                      <a:endParaRPr lang="en-US" sz="8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89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8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11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45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7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8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18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500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132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555555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25週</a:t>
                      </a:r>
                      <a:endParaRPr lang="en-US" sz="8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555555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06/15-06/21</a:t>
                      </a:r>
                      <a:endParaRPr lang="en-US" sz="8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62</a:t>
                      </a:r>
                      <a:pPr algn="ctr" indent="0" marL="0">
                        <a:buNone/>
                      </a:pPr>
                      <a:r>
                        <a:rPr lang="en-US" sz="650" dirty="0">
                          <a:solidFill>
                            <a:srgbClr val="0076A9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▼27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8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3</a:t>
                      </a:r>
                      <a:pPr algn="ctr" indent="0" marL="0">
                        <a:buNone/>
                      </a:pPr>
                      <a:r>
                        <a:rPr lang="en-US" sz="650" dirty="0">
                          <a:solidFill>
                            <a:srgbClr val="0076A9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▼8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8</a:t>
                      </a:r>
                      <a:pPr algn="ctr" indent="0" marL="0">
                        <a:buNone/>
                      </a:pPr>
                      <a:r>
                        <a:rPr lang="en-US" sz="650" dirty="0">
                          <a:solidFill>
                            <a:srgbClr val="0076A9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▼37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10</a:t>
                      </a:r>
                      <a:pPr algn="ctr" indent="0" marL="0">
                        <a:buNone/>
                      </a:pPr>
                      <a:r>
                        <a:rPr lang="en-US" sz="650" dirty="0">
                          <a:solidFill>
                            <a:srgbClr val="FF500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▲3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7</a:t>
                      </a:r>
                      <a:pPr algn="ctr" indent="0" marL="0">
                        <a:buNone/>
                      </a:pPr>
                      <a:r>
                        <a:rPr lang="en-US" sz="650" dirty="0">
                          <a:solidFill>
                            <a:srgbClr val="0076A9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▼1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12</a:t>
                      </a:r>
                      <a:pPr algn="ctr" indent="0" marL="0">
                        <a:buNone/>
                      </a:pPr>
                      <a:r>
                        <a:rPr lang="en-US" sz="650" dirty="0">
                          <a:solidFill>
                            <a:srgbClr val="0076A9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▼6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500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93</a:t>
                      </a:r>
                      <a:pPr algn="ctr" indent="0" marL="0">
                        <a:buNone/>
                      </a:pPr>
                      <a:r>
                        <a:rPr lang="en-US" sz="650" dirty="0">
                          <a:solidFill>
                            <a:srgbClr val="0076A9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▼39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555555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26週</a:t>
                      </a:r>
                      <a:endParaRPr lang="en-US" sz="8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555555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06/22-06/28</a:t>
                      </a:r>
                      <a:endParaRPr lang="en-US" sz="8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77</a:t>
                      </a:r>
                      <a:pPr algn="ctr" indent="0" marL="0">
                        <a:buNone/>
                      </a:pPr>
                      <a:r>
                        <a:rPr lang="en-US" sz="650" dirty="0">
                          <a:solidFill>
                            <a:srgbClr val="FF500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▲15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13</a:t>
                      </a:r>
                      <a:pPr algn="ctr" indent="0" marL="0">
                        <a:buNone/>
                      </a:pPr>
                      <a:r>
                        <a:rPr lang="en-US" sz="650" dirty="0">
                          <a:solidFill>
                            <a:srgbClr val="FF500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▲5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7</a:t>
                      </a:r>
                      <a:pPr algn="ctr" indent="0" marL="0">
                        <a:buNone/>
                      </a:pPr>
                      <a:r>
                        <a:rPr lang="en-US" sz="650" dirty="0">
                          <a:solidFill>
                            <a:srgbClr val="FF500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▲4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13</a:t>
                      </a:r>
                      <a:pPr algn="ctr" indent="0" marL="0">
                        <a:buNone/>
                      </a:pPr>
                      <a:r>
                        <a:rPr lang="en-US" sz="650" dirty="0">
                          <a:solidFill>
                            <a:srgbClr val="FF500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▲5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21</a:t>
                      </a:r>
                      <a:pPr algn="ctr" indent="0" marL="0">
                        <a:buNone/>
                      </a:pPr>
                      <a:r>
                        <a:rPr lang="en-US" sz="650" dirty="0">
                          <a:solidFill>
                            <a:srgbClr val="FF500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▲11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32</a:t>
                      </a:r>
                      <a:pPr algn="ctr" indent="0" marL="0">
                        <a:buNone/>
                      </a:pPr>
                      <a:r>
                        <a:rPr lang="en-US" sz="650" dirty="0">
                          <a:solidFill>
                            <a:srgbClr val="FF500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▲25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16</a:t>
                      </a:r>
                      <a:pPr algn="ctr" indent="0" marL="0">
                        <a:buNone/>
                      </a:pPr>
                      <a:r>
                        <a:rPr lang="en-US" sz="650" dirty="0">
                          <a:solidFill>
                            <a:srgbClr val="FF500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▲4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500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158</a:t>
                      </a:r>
                      <a:pPr algn="ctr" indent="0" marL="0">
                        <a:buNone/>
                      </a:pPr>
                      <a:r>
                        <a:rPr lang="en-US" sz="650" dirty="0">
                          <a:solidFill>
                            <a:srgbClr val="FF500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▲65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27週</a:t>
                      </a:r>
                      <a:endParaRPr lang="en-US" sz="8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06/29-07/05</a:t>
                      </a:r>
                      <a:endParaRPr lang="en-US" sz="8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0B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103</a:t>
                      </a:r>
                      <a:pPr algn="ctr" indent="0" marL="0">
                        <a:buNone/>
                      </a:pPr>
                      <a:r>
                        <a:rPr lang="en-US" sz="650" dirty="0">
                          <a:solidFill>
                            <a:srgbClr val="FF500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▲26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0B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6</a:t>
                      </a:r>
                      <a:pPr algn="ctr" indent="0" marL="0">
                        <a:buNone/>
                      </a:pPr>
                      <a:r>
                        <a:rPr lang="en-US" sz="650" dirty="0">
                          <a:solidFill>
                            <a:srgbClr val="0076A9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▼7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0B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9</a:t>
                      </a:r>
                      <a:pPr algn="ctr" indent="0" marL="0">
                        <a:buNone/>
                      </a:pPr>
                      <a:r>
                        <a:rPr lang="en-US" sz="650" dirty="0">
                          <a:solidFill>
                            <a:srgbClr val="FF500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▲2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0B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7</a:t>
                      </a:r>
                      <a:pPr algn="ctr" indent="0" marL="0">
                        <a:buNone/>
                      </a:pPr>
                      <a:r>
                        <a:rPr lang="en-US" sz="650" dirty="0">
                          <a:solidFill>
                            <a:srgbClr val="0076A9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▼6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0B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14</a:t>
                      </a:r>
                      <a:pPr algn="ctr" indent="0" marL="0">
                        <a:buNone/>
                      </a:pPr>
                      <a:r>
                        <a:rPr lang="en-US" sz="650" dirty="0">
                          <a:solidFill>
                            <a:srgbClr val="0076A9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▼7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0B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8</a:t>
                      </a:r>
                      <a:pPr algn="ctr" indent="0" marL="0">
                        <a:buNone/>
                      </a:pPr>
                      <a:r>
                        <a:rPr lang="en-US" sz="650" dirty="0">
                          <a:solidFill>
                            <a:srgbClr val="0076A9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▼24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0B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33333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24</a:t>
                      </a:r>
                      <a:pPr algn="ctr" indent="0" marL="0">
                        <a:buNone/>
                      </a:pPr>
                      <a:r>
                        <a:rPr lang="en-US" sz="650" dirty="0">
                          <a:solidFill>
                            <a:srgbClr val="FF500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▲8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0B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5000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152</a:t>
                      </a:r>
                      <a:pPr algn="ctr" indent="0" marL="0">
                        <a:buNone/>
                      </a:pPr>
                      <a:r>
                        <a:rPr lang="en-US" sz="650" dirty="0">
                          <a:solidFill>
                            <a:srgbClr val="0076A9"/>
                          </a:solidFill>
                          <a:latin typeface="Noto Sans TC" pitchFamily="34" charset="0"/>
                          <a:ea typeface="Noto Sans TC" pitchFamily="34" charset="-122"/>
                          <a:cs typeface="Noto Sans TC" pitchFamily="34" charset="-120"/>
                        </a:rPr>
                        <a:t> ▼6</a:t>
                      </a:r>
                      <a:endParaRPr lang="en-US" sz="1200" dirty="0">
                        <a:latin typeface="Noto Sans TC" charset="0"/>
                        <a:ea typeface="Noto Sans TC" charset="0"/>
                        <a:cs typeface="Noto Sans T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0B8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164592" y="2404872"/>
            <a:ext cx="45720" cy="201168"/>
          </a:xfrm>
          <a:prstGeom prst="rect">
            <a:avLst/>
          </a:prstGeom>
          <a:solidFill>
            <a:srgbClr val="FF5000"/>
          </a:solidFill>
          <a:ln/>
        </p:spPr>
      </p:sp>
      <p:sp>
        <p:nvSpPr>
          <p:cNvPr id="7" name="Text 4"/>
          <p:cNvSpPr/>
          <p:nvPr/>
        </p:nvSpPr>
        <p:spPr>
          <a:xfrm>
            <a:off x="246888" y="2414016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50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當週客訴佔比 + 主分類佔比（06/29 ~ 07/05）</a:t>
            </a:r>
            <a:endParaRPr lang="en-US" sz="105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64008" y="2642616"/>
          <a:ext cx="3529584" cy="234086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5"/>
          <p:cNvSpPr/>
          <p:nvPr/>
        </p:nvSpPr>
        <p:spPr>
          <a:xfrm>
            <a:off x="3703320" y="2706624"/>
            <a:ext cx="182880" cy="182880"/>
          </a:xfrm>
          <a:prstGeom prst="rect">
            <a:avLst/>
          </a:prstGeom>
          <a:solidFill>
            <a:srgbClr val="060E9F"/>
          </a:solidFill>
          <a:ln/>
        </p:spPr>
      </p:sp>
      <p:sp>
        <p:nvSpPr>
          <p:cNvPr id="10" name="Text 6"/>
          <p:cNvSpPr/>
          <p:nvPr/>
        </p:nvSpPr>
        <p:spPr>
          <a:xfrm>
            <a:off x="3941064" y="2670048"/>
            <a:ext cx="1965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APP帳號設定問題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3941064" y="2862072"/>
            <a:ext cx="1965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9件　5.9%</a:t>
            </a:r>
            <a:endParaRPr lang="en-US" sz="800" dirty="0"/>
          </a:p>
        </p:txBody>
      </p:sp>
      <p:sp>
        <p:nvSpPr>
          <p:cNvPr id="12" name="Shape 8"/>
          <p:cNvSpPr/>
          <p:nvPr/>
        </p:nvSpPr>
        <p:spPr>
          <a:xfrm>
            <a:off x="3703320" y="3095244"/>
            <a:ext cx="182880" cy="182880"/>
          </a:xfrm>
          <a:prstGeom prst="rect">
            <a:avLst/>
          </a:prstGeom>
          <a:solidFill>
            <a:srgbClr val="FF5000"/>
          </a:solidFill>
          <a:ln/>
        </p:spPr>
      </p:sp>
      <p:sp>
        <p:nvSpPr>
          <p:cNvPr id="13" name="Text 9"/>
          <p:cNvSpPr/>
          <p:nvPr/>
        </p:nvSpPr>
        <p:spPr>
          <a:xfrm>
            <a:off x="3941064" y="3058668"/>
            <a:ext cx="1965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機台問題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3941064" y="3250692"/>
            <a:ext cx="1965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89件　58.6%</a:t>
            </a:r>
            <a:endParaRPr lang="en-US" sz="800" dirty="0"/>
          </a:p>
        </p:txBody>
      </p:sp>
      <p:sp>
        <p:nvSpPr>
          <p:cNvPr id="15" name="Shape 11"/>
          <p:cNvSpPr/>
          <p:nvPr/>
        </p:nvSpPr>
        <p:spPr>
          <a:xfrm>
            <a:off x="3703320" y="3483864"/>
            <a:ext cx="182880" cy="182880"/>
          </a:xfrm>
          <a:prstGeom prst="rect">
            <a:avLst/>
          </a:prstGeom>
          <a:solidFill>
            <a:srgbClr val="0076A9"/>
          </a:solidFill>
          <a:ln/>
        </p:spPr>
      </p:sp>
      <p:sp>
        <p:nvSpPr>
          <p:cNvPr id="16" name="Text 12"/>
          <p:cNvSpPr/>
          <p:nvPr/>
        </p:nvSpPr>
        <p:spPr>
          <a:xfrm>
            <a:off x="3941064" y="3447288"/>
            <a:ext cx="1965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回收點數問題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3941064" y="3639312"/>
            <a:ext cx="1965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7件　4.6%</a:t>
            </a:r>
            <a:endParaRPr lang="en-US" sz="800" dirty="0"/>
          </a:p>
        </p:txBody>
      </p:sp>
      <p:sp>
        <p:nvSpPr>
          <p:cNvPr id="18" name="Shape 14"/>
          <p:cNvSpPr/>
          <p:nvPr/>
        </p:nvSpPr>
        <p:spPr>
          <a:xfrm>
            <a:off x="3703320" y="3872484"/>
            <a:ext cx="182880" cy="182880"/>
          </a:xfrm>
          <a:prstGeom prst="rect">
            <a:avLst/>
          </a:prstGeom>
          <a:solidFill>
            <a:srgbClr val="FFCE00"/>
          </a:solidFill>
          <a:ln/>
        </p:spPr>
      </p:sp>
      <p:sp>
        <p:nvSpPr>
          <p:cNvPr id="19" name="Text 15"/>
          <p:cNvSpPr/>
          <p:nvPr/>
        </p:nvSpPr>
        <p:spPr>
          <a:xfrm>
            <a:off x="3941064" y="3835908"/>
            <a:ext cx="1965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顧客關係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3941064" y="4027932"/>
            <a:ext cx="1965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24件　15.8%</a:t>
            </a:r>
            <a:endParaRPr lang="en-US" sz="800" dirty="0"/>
          </a:p>
        </p:txBody>
      </p:sp>
      <p:sp>
        <p:nvSpPr>
          <p:cNvPr id="21" name="Shape 17"/>
          <p:cNvSpPr/>
          <p:nvPr/>
        </p:nvSpPr>
        <p:spPr>
          <a:xfrm>
            <a:off x="3703320" y="4261104"/>
            <a:ext cx="182880" cy="182880"/>
          </a:xfrm>
          <a:prstGeom prst="rect">
            <a:avLst/>
          </a:prstGeom>
          <a:solidFill>
            <a:srgbClr val="8EB8C9"/>
          </a:solidFill>
          <a:ln/>
        </p:spPr>
      </p:sp>
      <p:sp>
        <p:nvSpPr>
          <p:cNvPr id="22" name="Text 18"/>
          <p:cNvSpPr/>
          <p:nvPr/>
        </p:nvSpPr>
        <p:spPr>
          <a:xfrm>
            <a:off x="3941064" y="4224528"/>
            <a:ext cx="1965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優惠券問題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3941064" y="4416552"/>
            <a:ext cx="1965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14件　9.2%</a:t>
            </a:r>
            <a:endParaRPr lang="en-US" sz="800" dirty="0"/>
          </a:p>
        </p:txBody>
      </p:sp>
      <p:sp>
        <p:nvSpPr>
          <p:cNvPr id="24" name="Shape 20"/>
          <p:cNvSpPr/>
          <p:nvPr/>
        </p:nvSpPr>
        <p:spPr>
          <a:xfrm>
            <a:off x="3703320" y="4649724"/>
            <a:ext cx="182880" cy="182880"/>
          </a:xfrm>
          <a:prstGeom prst="rect">
            <a:avLst/>
          </a:prstGeom>
          <a:solidFill>
            <a:srgbClr val="FAE0B8"/>
          </a:solidFill>
          <a:ln/>
        </p:spPr>
      </p:sp>
      <p:sp>
        <p:nvSpPr>
          <p:cNvPr id="25" name="Text 21"/>
          <p:cNvSpPr/>
          <p:nvPr/>
        </p:nvSpPr>
        <p:spPr>
          <a:xfrm>
            <a:off x="3941064" y="4613148"/>
            <a:ext cx="1965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APP使用問題</a:t>
            </a:r>
            <a:endParaRPr lang="en-US" sz="1000" dirty="0"/>
          </a:p>
        </p:txBody>
      </p:sp>
      <p:sp>
        <p:nvSpPr>
          <p:cNvPr id="26" name="Text 22"/>
          <p:cNvSpPr/>
          <p:nvPr/>
        </p:nvSpPr>
        <p:spPr>
          <a:xfrm>
            <a:off x="3941064" y="4805172"/>
            <a:ext cx="1965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8件　5.3%</a:t>
            </a:r>
            <a:endParaRPr lang="en-US" sz="800" dirty="0"/>
          </a:p>
        </p:txBody>
      </p:sp>
      <p:sp>
        <p:nvSpPr>
          <p:cNvPr id="27" name="Shape 23"/>
          <p:cNvSpPr/>
          <p:nvPr/>
        </p:nvSpPr>
        <p:spPr>
          <a:xfrm>
            <a:off x="5788152" y="2642616"/>
            <a:ext cx="3264408" cy="800100"/>
          </a:xfrm>
          <a:prstGeom prst="rect">
            <a:avLst/>
          </a:prstGeom>
          <a:solidFill>
            <a:srgbClr val="FFF4EF"/>
          </a:solidFill>
          <a:ln w="12700">
            <a:solidFill>
              <a:srgbClr val="E0E6F0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5788152" y="2642616"/>
            <a:ext cx="45720" cy="800100"/>
          </a:xfrm>
          <a:prstGeom prst="rect">
            <a:avLst/>
          </a:prstGeom>
          <a:solidFill>
            <a:srgbClr val="FF5000"/>
          </a:solidFill>
          <a:ln/>
        </p:spPr>
      </p:sp>
      <p:sp>
        <p:nvSpPr>
          <p:cNvPr id="29" name="Text 25"/>
          <p:cNvSpPr/>
          <p:nvPr/>
        </p:nvSpPr>
        <p:spPr>
          <a:xfrm>
            <a:off x="5879592" y="2697480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50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6089904" y="269748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許願新增站點/設站建議</a:t>
            </a:r>
            <a:endParaRPr lang="en-US" sz="1000" dirty="0"/>
          </a:p>
        </p:txBody>
      </p:sp>
      <p:sp>
        <p:nvSpPr>
          <p:cNvPr id="31" name="Text 27"/>
          <p:cNvSpPr/>
          <p:nvPr/>
        </p:nvSpPr>
        <p:spPr>
          <a:xfrm>
            <a:off x="6089904" y="2916936"/>
            <a:ext cx="22128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50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12件・7.9%</a:t>
            </a:r>
            <a:endParaRPr lang="en-US" sz="1800" dirty="0"/>
          </a:p>
        </p:txBody>
      </p:sp>
      <p:sp>
        <p:nvSpPr>
          <p:cNvPr id="32" name="Text 28"/>
          <p:cNvSpPr/>
          <p:nvPr/>
        </p:nvSpPr>
        <p:spPr>
          <a:xfrm>
            <a:off x="8348472" y="2715768"/>
            <a:ext cx="66751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600" dirty="0"/>
          </a:p>
        </p:txBody>
      </p:sp>
      <p:sp>
        <p:nvSpPr>
          <p:cNvPr id="33" name="Shape 29"/>
          <p:cNvSpPr/>
          <p:nvPr/>
        </p:nvSpPr>
        <p:spPr>
          <a:xfrm>
            <a:off x="5833872" y="3387852"/>
            <a:ext cx="3218688" cy="45720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34" name="Shape 30"/>
          <p:cNvSpPr/>
          <p:nvPr/>
        </p:nvSpPr>
        <p:spPr>
          <a:xfrm>
            <a:off x="5833872" y="3387852"/>
            <a:ext cx="254276" cy="45720"/>
          </a:xfrm>
          <a:prstGeom prst="rect">
            <a:avLst/>
          </a:prstGeom>
          <a:solidFill>
            <a:srgbClr val="FF5000"/>
          </a:solidFill>
          <a:ln/>
        </p:spPr>
      </p:sp>
      <p:sp>
        <p:nvSpPr>
          <p:cNvPr id="35" name="Shape 31"/>
          <p:cNvSpPr/>
          <p:nvPr/>
        </p:nvSpPr>
        <p:spPr>
          <a:xfrm>
            <a:off x="5788152" y="3465576"/>
            <a:ext cx="3264408" cy="800100"/>
          </a:xfrm>
          <a:prstGeom prst="rect">
            <a:avLst/>
          </a:prstGeom>
          <a:solidFill>
            <a:srgbClr val="EEF6FB"/>
          </a:solidFill>
          <a:ln w="12700">
            <a:solidFill>
              <a:srgbClr val="E0E6F0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5788152" y="3465576"/>
            <a:ext cx="45720" cy="800100"/>
          </a:xfrm>
          <a:prstGeom prst="rect">
            <a:avLst/>
          </a:prstGeom>
          <a:solidFill>
            <a:srgbClr val="0076A9"/>
          </a:solidFill>
          <a:ln/>
        </p:spPr>
      </p:sp>
      <p:sp>
        <p:nvSpPr>
          <p:cNvPr id="37" name="Text 33"/>
          <p:cNvSpPr/>
          <p:nvPr/>
        </p:nvSpPr>
        <p:spPr>
          <a:xfrm>
            <a:off x="5879592" y="3520440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76A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</a:t>
            </a:r>
            <a:endParaRPr lang="en-US" sz="900" dirty="0"/>
          </a:p>
        </p:txBody>
      </p:sp>
      <p:sp>
        <p:nvSpPr>
          <p:cNvPr id="38" name="Text 34"/>
          <p:cNvSpPr/>
          <p:nvPr/>
        </p:nvSpPr>
        <p:spPr>
          <a:xfrm>
            <a:off x="6089904" y="352044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無法接收簡訊驗證碼</a:t>
            </a:r>
            <a:endParaRPr lang="en-US" sz="1000" dirty="0"/>
          </a:p>
        </p:txBody>
      </p:sp>
      <p:sp>
        <p:nvSpPr>
          <p:cNvPr id="39" name="Text 35"/>
          <p:cNvSpPr/>
          <p:nvPr/>
        </p:nvSpPr>
        <p:spPr>
          <a:xfrm>
            <a:off x="6089904" y="3739896"/>
            <a:ext cx="22128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76A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9件・5.9%</a:t>
            </a:r>
            <a:endParaRPr lang="en-US" sz="1800" dirty="0"/>
          </a:p>
        </p:txBody>
      </p:sp>
      <p:sp>
        <p:nvSpPr>
          <p:cNvPr id="40" name="Text 36"/>
          <p:cNvSpPr/>
          <p:nvPr/>
        </p:nvSpPr>
        <p:spPr>
          <a:xfrm>
            <a:off x="8348472" y="3538728"/>
            <a:ext cx="66751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600" dirty="0"/>
          </a:p>
        </p:txBody>
      </p:sp>
      <p:sp>
        <p:nvSpPr>
          <p:cNvPr id="41" name="Shape 37"/>
          <p:cNvSpPr/>
          <p:nvPr/>
        </p:nvSpPr>
        <p:spPr>
          <a:xfrm>
            <a:off x="5833872" y="4210812"/>
            <a:ext cx="3218688" cy="45720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42" name="Shape 38"/>
          <p:cNvSpPr/>
          <p:nvPr/>
        </p:nvSpPr>
        <p:spPr>
          <a:xfrm>
            <a:off x="5833872" y="4210812"/>
            <a:ext cx="189903" cy="45720"/>
          </a:xfrm>
          <a:prstGeom prst="rect">
            <a:avLst/>
          </a:prstGeom>
          <a:solidFill>
            <a:srgbClr val="0076A9"/>
          </a:solidFill>
          <a:ln/>
        </p:spPr>
      </p:sp>
      <p:sp>
        <p:nvSpPr>
          <p:cNvPr id="43" name="Shape 39"/>
          <p:cNvSpPr/>
          <p:nvPr/>
        </p:nvSpPr>
        <p:spPr>
          <a:xfrm>
            <a:off x="5788152" y="4288536"/>
            <a:ext cx="3264408" cy="800100"/>
          </a:xfrm>
          <a:prstGeom prst="rect">
            <a:avLst/>
          </a:prstGeom>
          <a:solidFill>
            <a:srgbClr val="F5F7FF"/>
          </a:solidFill>
          <a:ln w="12700">
            <a:solidFill>
              <a:srgbClr val="E0E6F0"/>
            </a:solidFill>
            <a:prstDash val="solid"/>
          </a:ln>
        </p:spPr>
      </p:sp>
      <p:sp>
        <p:nvSpPr>
          <p:cNvPr id="44" name="Shape 40"/>
          <p:cNvSpPr/>
          <p:nvPr/>
        </p:nvSpPr>
        <p:spPr>
          <a:xfrm>
            <a:off x="5788152" y="4288536"/>
            <a:ext cx="45720" cy="800100"/>
          </a:xfrm>
          <a:prstGeom prst="rect">
            <a:avLst/>
          </a:prstGeom>
          <a:solidFill>
            <a:srgbClr val="060E9F"/>
          </a:solidFill>
          <a:ln/>
        </p:spPr>
      </p:sp>
      <p:sp>
        <p:nvSpPr>
          <p:cNvPr id="45" name="Text 41"/>
          <p:cNvSpPr/>
          <p:nvPr/>
        </p:nvSpPr>
        <p:spPr>
          <a:xfrm>
            <a:off x="5879592" y="4343400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0E9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3</a:t>
            </a:r>
            <a:endParaRPr lang="en-US" sz="900" dirty="0"/>
          </a:p>
        </p:txBody>
      </p:sp>
      <p:sp>
        <p:nvSpPr>
          <p:cNvPr id="46" name="Text 42"/>
          <p:cNvSpPr/>
          <p:nvPr/>
        </p:nvSpPr>
        <p:spPr>
          <a:xfrm>
            <a:off x="6089904" y="434340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點數未入帳號</a:t>
            </a:r>
            <a:endParaRPr lang="en-US" sz="1000" dirty="0"/>
          </a:p>
        </p:txBody>
      </p:sp>
      <p:sp>
        <p:nvSpPr>
          <p:cNvPr id="47" name="Text 43"/>
          <p:cNvSpPr/>
          <p:nvPr/>
        </p:nvSpPr>
        <p:spPr>
          <a:xfrm>
            <a:off x="6089904" y="4562856"/>
            <a:ext cx="22128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0E9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7件・4.6%</a:t>
            </a:r>
            <a:endParaRPr lang="en-US" sz="1800" dirty="0"/>
          </a:p>
        </p:txBody>
      </p:sp>
      <p:sp>
        <p:nvSpPr>
          <p:cNvPr id="48" name="Text 44"/>
          <p:cNvSpPr/>
          <p:nvPr/>
        </p:nvSpPr>
        <p:spPr>
          <a:xfrm>
            <a:off x="8348472" y="4361688"/>
            <a:ext cx="66751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600" dirty="0"/>
          </a:p>
        </p:txBody>
      </p:sp>
      <p:sp>
        <p:nvSpPr>
          <p:cNvPr id="49" name="Shape 45"/>
          <p:cNvSpPr/>
          <p:nvPr/>
        </p:nvSpPr>
        <p:spPr>
          <a:xfrm>
            <a:off x="5833872" y="5033772"/>
            <a:ext cx="3218688" cy="45720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50" name="Shape 46"/>
          <p:cNvSpPr/>
          <p:nvPr/>
        </p:nvSpPr>
        <p:spPr>
          <a:xfrm>
            <a:off x="5833872" y="5033772"/>
            <a:ext cx="148060" cy="45720"/>
          </a:xfrm>
          <a:prstGeom prst="rect">
            <a:avLst/>
          </a:prstGeom>
          <a:solidFill>
            <a:srgbClr val="060E9F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4592" y="54864"/>
            <a:ext cx="8778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客服課　06/29 ~ 07/05　機台問題佔比 與 熱門站點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164592" y="329184"/>
            <a:ext cx="45720" cy="201168"/>
          </a:xfrm>
          <a:prstGeom prst="rect">
            <a:avLst/>
          </a:prstGeom>
          <a:solidFill>
            <a:srgbClr val="FF5000"/>
          </a:solidFill>
          <a:ln/>
        </p:spPr>
      </p:sp>
      <p:sp>
        <p:nvSpPr>
          <p:cNvPr id="4" name="Text 2"/>
          <p:cNvSpPr/>
          <p:nvPr/>
        </p:nvSpPr>
        <p:spPr>
          <a:xfrm>
            <a:off x="246888" y="33832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0E9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客訴詳情與分類佔比</a:t>
            </a:r>
            <a:endParaRPr lang="en-US" sz="10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" y="475488"/>
          <a:ext cx="2788920" cy="1554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2907792" y="530352"/>
            <a:ext cx="137160" cy="137160"/>
          </a:xfrm>
          <a:prstGeom prst="rect">
            <a:avLst/>
          </a:prstGeom>
          <a:solidFill>
            <a:srgbClr val="FF5000"/>
          </a:solidFill>
          <a:ln/>
        </p:spPr>
      </p:sp>
      <p:sp>
        <p:nvSpPr>
          <p:cNvPr id="7" name="Text 4"/>
          <p:cNvSpPr/>
          <p:nvPr/>
        </p:nvSpPr>
        <p:spPr>
          <a:xfrm>
            <a:off x="3090672" y="493776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瓶蓋桶已滿　31件（34.8%）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2907792" y="754380"/>
            <a:ext cx="137160" cy="137160"/>
          </a:xfrm>
          <a:prstGeom prst="rect">
            <a:avLst/>
          </a:prstGeom>
          <a:solidFill>
            <a:srgbClr val="060E9F"/>
          </a:solidFill>
          <a:ln/>
        </p:spPr>
      </p:sp>
      <p:sp>
        <p:nvSpPr>
          <p:cNvPr id="9" name="Text 6"/>
          <p:cNvSpPr/>
          <p:nvPr/>
        </p:nvSpPr>
        <p:spPr>
          <a:xfrm>
            <a:off x="3090672" y="717804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機台需維護/故障提醒　9件（10.1%）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2907792" y="978408"/>
            <a:ext cx="137160" cy="137160"/>
          </a:xfrm>
          <a:prstGeom prst="rect">
            <a:avLst/>
          </a:prstGeom>
          <a:solidFill>
            <a:srgbClr val="0076A9"/>
          </a:solidFill>
          <a:ln/>
        </p:spPr>
      </p:sp>
      <p:sp>
        <p:nvSpPr>
          <p:cNvPr id="11" name="Text 8"/>
          <p:cNvSpPr/>
          <p:nvPr/>
        </p:nvSpPr>
        <p:spPr>
          <a:xfrm>
            <a:off x="3090672" y="941832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機台關閉/無法啟動　8件（9%）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2907792" y="1202436"/>
            <a:ext cx="137160" cy="137160"/>
          </a:xfrm>
          <a:prstGeom prst="rect">
            <a:avLst/>
          </a:prstGeom>
          <a:solidFill>
            <a:srgbClr val="FFCE00"/>
          </a:solidFill>
          <a:ln/>
        </p:spPr>
      </p:sp>
      <p:sp>
        <p:nvSpPr>
          <p:cNvPr id="13" name="Text 10"/>
          <p:cNvSpPr/>
          <p:nvPr/>
        </p:nvSpPr>
        <p:spPr>
          <a:xfrm>
            <a:off x="3090672" y="1165860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機台運作中斷/重啟　7件（7.9%）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2907792" y="1426464"/>
            <a:ext cx="137160" cy="137160"/>
          </a:xfrm>
          <a:prstGeom prst="rect">
            <a:avLst/>
          </a:prstGeom>
          <a:solidFill>
            <a:srgbClr val="8EB8C9"/>
          </a:solidFill>
          <a:ln/>
        </p:spPr>
      </p:sp>
      <p:sp>
        <p:nvSpPr>
          <p:cNvPr id="15" name="Text 12"/>
          <p:cNvSpPr/>
          <p:nvPr/>
        </p:nvSpPr>
        <p:spPr>
          <a:xfrm>
            <a:off x="3090672" y="1389888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履帶未作動或異常抖動　5件（5.6%）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2907792" y="1650492"/>
            <a:ext cx="137160" cy="137160"/>
          </a:xfrm>
          <a:prstGeom prst="rect">
            <a:avLst/>
          </a:prstGeom>
          <a:solidFill>
            <a:srgbClr val="B8BEC8"/>
          </a:solidFill>
          <a:ln/>
        </p:spPr>
      </p:sp>
      <p:sp>
        <p:nvSpPr>
          <p:cNvPr id="17" name="Text 14"/>
          <p:cNvSpPr/>
          <p:nvPr/>
        </p:nvSpPr>
        <p:spPr>
          <a:xfrm>
            <a:off x="3090672" y="1613916"/>
            <a:ext cx="2788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其他機台問題　29件（32.6%）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5596128" y="475488"/>
            <a:ext cx="1005840" cy="1554480"/>
          </a:xfrm>
          <a:prstGeom prst="rect">
            <a:avLst/>
          </a:prstGeom>
          <a:solidFill>
            <a:srgbClr val="FFF3EC"/>
          </a:solidFill>
          <a:ln w="12700">
            <a:solidFill>
              <a:srgbClr val="FF500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596128" y="530352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收瓶機/方舟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5596128" y="731520"/>
            <a:ext cx="1005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5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94%</a:t>
            </a:r>
            <a:endParaRPr lang="en-US" sz="3200" dirty="0"/>
          </a:p>
        </p:txBody>
      </p:sp>
      <p:sp>
        <p:nvSpPr>
          <p:cNvPr id="21" name="Text 18"/>
          <p:cNvSpPr/>
          <p:nvPr/>
        </p:nvSpPr>
        <p:spPr>
          <a:xfrm>
            <a:off x="5596128" y="1609344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（103件）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6693408" y="475488"/>
            <a:ext cx="1005840" cy="1554480"/>
          </a:xfrm>
          <a:prstGeom prst="rect">
            <a:avLst/>
          </a:prstGeom>
          <a:solidFill>
            <a:srgbClr val="EDF5FB"/>
          </a:solidFill>
          <a:ln w="12700">
            <a:solidFill>
              <a:srgbClr val="8EB8C9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693408" y="530352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電池機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6693408" y="731520"/>
            <a:ext cx="1005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76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3200" dirty="0"/>
          </a:p>
        </p:txBody>
      </p:sp>
      <p:sp>
        <p:nvSpPr>
          <p:cNvPr id="25" name="Text 22"/>
          <p:cNvSpPr/>
          <p:nvPr/>
        </p:nvSpPr>
        <p:spPr>
          <a:xfrm>
            <a:off x="6693408" y="1609344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（6件）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164592" y="2121408"/>
            <a:ext cx="45720" cy="201168"/>
          </a:xfrm>
          <a:prstGeom prst="rect">
            <a:avLst/>
          </a:prstGeom>
          <a:solidFill>
            <a:srgbClr val="FF5000"/>
          </a:solidFill>
          <a:ln/>
        </p:spPr>
      </p:sp>
      <p:sp>
        <p:nvSpPr>
          <p:cNvPr id="27" name="Text 24"/>
          <p:cNvSpPr/>
          <p:nvPr/>
        </p:nvSpPr>
        <p:spPr>
          <a:xfrm>
            <a:off x="246888" y="2130552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0E9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收瓶機、電池機客訴 Top 3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5669280" y="2121408"/>
            <a:ext cx="45720" cy="201168"/>
          </a:xfrm>
          <a:prstGeom prst="rect">
            <a:avLst/>
          </a:prstGeom>
          <a:solidFill>
            <a:srgbClr val="FF5000"/>
          </a:solidFill>
          <a:ln/>
        </p:spPr>
      </p:sp>
      <p:sp>
        <p:nvSpPr>
          <p:cNvPr id="29" name="Text 26"/>
          <p:cNvSpPr/>
          <p:nvPr/>
        </p:nvSpPr>
        <p:spPr>
          <a:xfrm>
            <a:off x="5751576" y="2130552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50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本週熱點站點（第27週：06/29 ~ 07/05）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164592" y="2304288"/>
            <a:ext cx="658368" cy="1078992"/>
          </a:xfrm>
          <a:prstGeom prst="rect">
            <a:avLst/>
          </a:prstGeom>
          <a:solidFill>
            <a:srgbClr val="060E9F"/>
          </a:solidFill>
          <a:ln/>
        </p:spPr>
      </p:sp>
      <p:sp>
        <p:nvSpPr>
          <p:cNvPr id="31" name="Text 28"/>
          <p:cNvSpPr/>
          <p:nvPr/>
        </p:nvSpPr>
        <p:spPr>
          <a:xfrm>
            <a:off x="164592" y="2304288"/>
            <a:ext cx="658368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收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瓶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機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841248" y="2322576"/>
            <a:ext cx="4736592" cy="333756"/>
          </a:xfrm>
          <a:prstGeom prst="rect">
            <a:avLst/>
          </a:prstGeom>
          <a:solidFill>
            <a:srgbClr val="EDF3FF"/>
          </a:solidFill>
          <a:ln w="12700">
            <a:solidFill>
              <a:srgbClr val="E0E6F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96112" y="2386584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50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1133856" y="2386584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瓶蓋桶已滿</a:t>
            </a:r>
            <a:endParaRPr lang="en-US" sz="950" dirty="0"/>
          </a:p>
        </p:txBody>
      </p:sp>
      <p:sp>
        <p:nvSpPr>
          <p:cNvPr id="35" name="Text 32"/>
          <p:cNvSpPr/>
          <p:nvPr/>
        </p:nvSpPr>
        <p:spPr>
          <a:xfrm>
            <a:off x="4809744" y="2359152"/>
            <a:ext cx="7132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F5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2000" dirty="0"/>
          </a:p>
        </p:txBody>
      </p:sp>
      <p:sp>
        <p:nvSpPr>
          <p:cNvPr id="36" name="Shape 33"/>
          <p:cNvSpPr/>
          <p:nvPr/>
        </p:nvSpPr>
        <p:spPr>
          <a:xfrm>
            <a:off x="1133856" y="2610612"/>
            <a:ext cx="3246120" cy="34747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37" name="Shape 34"/>
          <p:cNvSpPr/>
          <p:nvPr/>
        </p:nvSpPr>
        <p:spPr>
          <a:xfrm>
            <a:off x="1133856" y="2610612"/>
            <a:ext cx="973836" cy="34747"/>
          </a:xfrm>
          <a:prstGeom prst="rect">
            <a:avLst/>
          </a:prstGeom>
          <a:solidFill>
            <a:srgbClr val="FF5000"/>
          </a:solidFill>
          <a:ln/>
        </p:spPr>
      </p:sp>
      <p:sp>
        <p:nvSpPr>
          <p:cNvPr id="38" name="Shape 35"/>
          <p:cNvSpPr/>
          <p:nvPr/>
        </p:nvSpPr>
        <p:spPr>
          <a:xfrm>
            <a:off x="841248" y="2674620"/>
            <a:ext cx="4736592" cy="333756"/>
          </a:xfrm>
          <a:prstGeom prst="rect">
            <a:avLst/>
          </a:prstGeom>
          <a:solidFill>
            <a:srgbClr val="F4F8FF"/>
          </a:solidFill>
          <a:ln w="12700">
            <a:solidFill>
              <a:srgbClr val="E0E6F0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896112" y="2738628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0E9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1133856" y="2738628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機台需維護/故障提醒</a:t>
            </a:r>
            <a:endParaRPr lang="en-US" sz="950" dirty="0"/>
          </a:p>
        </p:txBody>
      </p:sp>
      <p:sp>
        <p:nvSpPr>
          <p:cNvPr id="41" name="Text 38"/>
          <p:cNvSpPr/>
          <p:nvPr/>
        </p:nvSpPr>
        <p:spPr>
          <a:xfrm>
            <a:off x="4809744" y="2711196"/>
            <a:ext cx="7132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060E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2000" dirty="0"/>
          </a:p>
        </p:txBody>
      </p:sp>
      <p:sp>
        <p:nvSpPr>
          <p:cNvPr id="42" name="Shape 39"/>
          <p:cNvSpPr/>
          <p:nvPr/>
        </p:nvSpPr>
        <p:spPr>
          <a:xfrm>
            <a:off x="1133856" y="2962656"/>
            <a:ext cx="3246120" cy="34747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43" name="Shape 40"/>
          <p:cNvSpPr/>
          <p:nvPr/>
        </p:nvSpPr>
        <p:spPr>
          <a:xfrm>
            <a:off x="1133856" y="2962656"/>
            <a:ext cx="259690" cy="34747"/>
          </a:xfrm>
          <a:prstGeom prst="rect">
            <a:avLst/>
          </a:prstGeom>
          <a:solidFill>
            <a:srgbClr val="060E9F"/>
          </a:solidFill>
          <a:ln/>
        </p:spPr>
      </p:sp>
      <p:sp>
        <p:nvSpPr>
          <p:cNvPr id="44" name="Shape 41"/>
          <p:cNvSpPr/>
          <p:nvPr/>
        </p:nvSpPr>
        <p:spPr>
          <a:xfrm>
            <a:off x="841248" y="3026664"/>
            <a:ext cx="4736592" cy="333756"/>
          </a:xfrm>
          <a:prstGeom prst="rect">
            <a:avLst/>
          </a:prstGeom>
          <a:solidFill>
            <a:srgbClr val="F9FBFF"/>
          </a:solidFill>
          <a:ln w="12700">
            <a:solidFill>
              <a:srgbClr val="E0E6F0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896112" y="3090672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6A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3</a:t>
            </a:r>
            <a:endParaRPr lang="en-US" sz="1000" dirty="0"/>
          </a:p>
        </p:txBody>
      </p:sp>
      <p:sp>
        <p:nvSpPr>
          <p:cNvPr id="46" name="Text 43"/>
          <p:cNvSpPr/>
          <p:nvPr/>
        </p:nvSpPr>
        <p:spPr>
          <a:xfrm>
            <a:off x="1133856" y="3090672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許願新增站點/設站建議</a:t>
            </a:r>
            <a:endParaRPr lang="en-US" sz="950" dirty="0"/>
          </a:p>
        </p:txBody>
      </p:sp>
      <p:sp>
        <p:nvSpPr>
          <p:cNvPr id="47" name="Text 44"/>
          <p:cNvSpPr/>
          <p:nvPr/>
        </p:nvSpPr>
        <p:spPr>
          <a:xfrm>
            <a:off x="4809744" y="3063240"/>
            <a:ext cx="7132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0076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2000" dirty="0"/>
          </a:p>
        </p:txBody>
      </p:sp>
      <p:sp>
        <p:nvSpPr>
          <p:cNvPr id="48" name="Shape 45"/>
          <p:cNvSpPr/>
          <p:nvPr/>
        </p:nvSpPr>
        <p:spPr>
          <a:xfrm>
            <a:off x="1133856" y="3314700"/>
            <a:ext cx="3246120" cy="34747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49" name="Shape 46"/>
          <p:cNvSpPr/>
          <p:nvPr/>
        </p:nvSpPr>
        <p:spPr>
          <a:xfrm>
            <a:off x="1133856" y="3314700"/>
            <a:ext cx="259690" cy="34747"/>
          </a:xfrm>
          <a:prstGeom prst="rect">
            <a:avLst/>
          </a:prstGeom>
          <a:solidFill>
            <a:srgbClr val="0076A9"/>
          </a:solidFill>
          <a:ln/>
        </p:spPr>
      </p:sp>
      <p:sp>
        <p:nvSpPr>
          <p:cNvPr id="50" name="Shape 47"/>
          <p:cNvSpPr/>
          <p:nvPr/>
        </p:nvSpPr>
        <p:spPr>
          <a:xfrm>
            <a:off x="164592" y="3396996"/>
            <a:ext cx="658368" cy="731520"/>
          </a:xfrm>
          <a:prstGeom prst="rect">
            <a:avLst/>
          </a:prstGeom>
          <a:solidFill>
            <a:srgbClr val="FF5000"/>
          </a:solidFill>
          <a:ln/>
        </p:spPr>
      </p:sp>
      <p:sp>
        <p:nvSpPr>
          <p:cNvPr id="51" name="Text 48"/>
          <p:cNvSpPr/>
          <p:nvPr/>
        </p:nvSpPr>
        <p:spPr>
          <a:xfrm>
            <a:off x="164592" y="3396996"/>
            <a:ext cx="65836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電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池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機</a:t>
            </a:r>
            <a:endParaRPr lang="en-US" sz="1050" dirty="0"/>
          </a:p>
        </p:txBody>
      </p:sp>
      <p:sp>
        <p:nvSpPr>
          <p:cNvPr id="52" name="Shape 49"/>
          <p:cNvSpPr/>
          <p:nvPr/>
        </p:nvSpPr>
        <p:spPr>
          <a:xfrm>
            <a:off x="841248" y="3415284"/>
            <a:ext cx="4736592" cy="327355"/>
          </a:xfrm>
          <a:prstGeom prst="rect">
            <a:avLst/>
          </a:prstGeom>
          <a:solidFill>
            <a:srgbClr val="F0FDF7"/>
          </a:solidFill>
          <a:ln w="12700">
            <a:solidFill>
              <a:srgbClr val="E0E6F0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896112" y="3479292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6A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1</a:t>
            </a:r>
            <a:endParaRPr lang="en-US" sz="1000" dirty="0"/>
          </a:p>
        </p:txBody>
      </p:sp>
      <p:sp>
        <p:nvSpPr>
          <p:cNvPr id="54" name="Text 51"/>
          <p:cNvSpPr/>
          <p:nvPr/>
        </p:nvSpPr>
        <p:spPr>
          <a:xfrm>
            <a:off x="1133856" y="3479292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履帶未作動或異常抖動</a:t>
            </a:r>
            <a:endParaRPr lang="en-US" sz="950" dirty="0"/>
          </a:p>
        </p:txBody>
      </p:sp>
      <p:sp>
        <p:nvSpPr>
          <p:cNvPr id="55" name="Text 52"/>
          <p:cNvSpPr/>
          <p:nvPr/>
        </p:nvSpPr>
        <p:spPr>
          <a:xfrm>
            <a:off x="4809744" y="3451860"/>
            <a:ext cx="7132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0076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2000" dirty="0"/>
          </a:p>
        </p:txBody>
      </p:sp>
      <p:sp>
        <p:nvSpPr>
          <p:cNvPr id="56" name="Shape 53"/>
          <p:cNvSpPr/>
          <p:nvPr/>
        </p:nvSpPr>
        <p:spPr>
          <a:xfrm>
            <a:off x="1133856" y="3694176"/>
            <a:ext cx="3246120" cy="34747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57" name="Shape 54"/>
          <p:cNvSpPr/>
          <p:nvPr/>
        </p:nvSpPr>
        <p:spPr>
          <a:xfrm>
            <a:off x="1133856" y="3694176"/>
            <a:ext cx="1623060" cy="34747"/>
          </a:xfrm>
          <a:prstGeom prst="rect">
            <a:avLst/>
          </a:prstGeom>
          <a:solidFill>
            <a:srgbClr val="0076A9"/>
          </a:solidFill>
          <a:ln/>
        </p:spPr>
      </p:sp>
      <p:sp>
        <p:nvSpPr>
          <p:cNvPr id="58" name="Shape 55"/>
          <p:cNvSpPr/>
          <p:nvPr/>
        </p:nvSpPr>
        <p:spPr>
          <a:xfrm>
            <a:off x="841248" y="3760927"/>
            <a:ext cx="4736592" cy="327355"/>
          </a:xfrm>
          <a:prstGeom prst="rect">
            <a:avLst/>
          </a:prstGeom>
          <a:solidFill>
            <a:srgbClr val="F7FAFE"/>
          </a:solidFill>
          <a:ln w="12700">
            <a:solidFill>
              <a:srgbClr val="E0E6F0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896112" y="3824935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EB8C9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</a:t>
            </a:r>
            <a:endParaRPr lang="en-US" sz="1000" dirty="0"/>
          </a:p>
        </p:txBody>
      </p:sp>
      <p:sp>
        <p:nvSpPr>
          <p:cNvPr id="60" name="Text 57"/>
          <p:cNvSpPr/>
          <p:nvPr/>
        </p:nvSpPr>
        <p:spPr>
          <a:xfrm>
            <a:off x="1133856" y="3824935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投入物卡住_瓶罐/電池</a:t>
            </a:r>
            <a:endParaRPr lang="en-US" sz="950" dirty="0"/>
          </a:p>
        </p:txBody>
      </p:sp>
      <p:sp>
        <p:nvSpPr>
          <p:cNvPr id="61" name="Text 58"/>
          <p:cNvSpPr/>
          <p:nvPr/>
        </p:nvSpPr>
        <p:spPr>
          <a:xfrm>
            <a:off x="4809744" y="3797503"/>
            <a:ext cx="7132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8EB8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33%</a:t>
            </a:r>
            <a:endParaRPr lang="en-US" sz="2000" dirty="0"/>
          </a:p>
        </p:txBody>
      </p:sp>
      <p:sp>
        <p:nvSpPr>
          <p:cNvPr id="62" name="Shape 59"/>
          <p:cNvSpPr/>
          <p:nvPr/>
        </p:nvSpPr>
        <p:spPr>
          <a:xfrm>
            <a:off x="1133856" y="4039819"/>
            <a:ext cx="3246120" cy="34747"/>
          </a:xfrm>
          <a:prstGeom prst="rect">
            <a:avLst/>
          </a:prstGeom>
          <a:solidFill>
            <a:srgbClr val="EBEBEB"/>
          </a:solidFill>
          <a:ln/>
        </p:spPr>
      </p:sp>
      <p:sp>
        <p:nvSpPr>
          <p:cNvPr id="63" name="Shape 60"/>
          <p:cNvSpPr/>
          <p:nvPr/>
        </p:nvSpPr>
        <p:spPr>
          <a:xfrm>
            <a:off x="1133856" y="4039819"/>
            <a:ext cx="1071220" cy="34747"/>
          </a:xfrm>
          <a:prstGeom prst="rect">
            <a:avLst/>
          </a:prstGeom>
          <a:solidFill>
            <a:srgbClr val="8EB8C9"/>
          </a:solidFill>
          <a:ln/>
        </p:spPr>
      </p:sp>
      <p:sp>
        <p:nvSpPr>
          <p:cNvPr id="64" name="Shape 61"/>
          <p:cNvSpPr/>
          <p:nvPr/>
        </p:nvSpPr>
        <p:spPr>
          <a:xfrm>
            <a:off x="164592" y="4151376"/>
            <a:ext cx="5376672" cy="548640"/>
          </a:xfrm>
          <a:prstGeom prst="rect">
            <a:avLst/>
          </a:prstGeom>
          <a:solidFill>
            <a:srgbClr val="FAE0B8"/>
          </a:solidFill>
          <a:ln w="12700">
            <a:solidFill>
              <a:srgbClr val="FFCE00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256032" y="4169664"/>
            <a:ext cx="5230368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B48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收瓶機 瓶蓋桶已滿 31件（30.0%）居首，請確認清空頻率。</a:t>
            </a:r>
            <a:endParaRPr lang="en-US" sz="750" dirty="0"/>
          </a:p>
        </p:txBody>
      </p:sp>
      <p:sp>
        <p:nvSpPr>
          <p:cNvPr id="66" name="Shape 63"/>
          <p:cNvSpPr/>
          <p:nvPr/>
        </p:nvSpPr>
        <p:spPr>
          <a:xfrm>
            <a:off x="5669280" y="2304288"/>
            <a:ext cx="3337560" cy="237744"/>
          </a:xfrm>
          <a:prstGeom prst="rect">
            <a:avLst/>
          </a:prstGeom>
          <a:solidFill>
            <a:srgbClr val="FAE0B8"/>
          </a:solidFill>
          <a:ln/>
        </p:spPr>
      </p:sp>
      <p:sp>
        <p:nvSpPr>
          <p:cNvPr id="67" name="Text 64"/>
          <p:cNvSpPr/>
          <p:nvPr/>
        </p:nvSpPr>
        <p:spPr>
          <a:xfrm>
            <a:off x="5724144" y="2304288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0E9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高雄</a:t>
            </a:r>
            <a:endParaRPr lang="en-US" sz="1200" dirty="0"/>
          </a:p>
        </p:txBody>
      </p:sp>
      <p:sp>
        <p:nvSpPr>
          <p:cNvPr id="68" name="Text 65"/>
          <p:cNvSpPr/>
          <p:nvPr/>
        </p:nvSpPr>
        <p:spPr>
          <a:xfrm>
            <a:off x="8412480" y="2304288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5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1300" dirty="0"/>
          </a:p>
        </p:txBody>
      </p:sp>
      <p:sp>
        <p:nvSpPr>
          <p:cNvPr id="69" name="Text 66"/>
          <p:cNvSpPr/>
          <p:nvPr/>
        </p:nvSpPr>
        <p:spPr>
          <a:xfrm>
            <a:off x="5833872" y="2551176"/>
            <a:ext cx="30632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 </a:t>
            </a:r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全聯福利中心苓雅三多店站</a:t>
            </a:r>
            <a:endParaRPr lang="en-US" sz="900" dirty="0"/>
          </a:p>
        </p:txBody>
      </p:sp>
      <p:sp>
        <p:nvSpPr>
          <p:cNvPr id="70" name="Text 67"/>
          <p:cNvSpPr/>
          <p:nvPr/>
        </p:nvSpPr>
        <p:spPr>
          <a:xfrm>
            <a:off x="8412480" y="2551176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71" name="Text 68"/>
          <p:cNvSpPr/>
          <p:nvPr/>
        </p:nvSpPr>
        <p:spPr>
          <a:xfrm>
            <a:off x="5833872" y="2756916"/>
            <a:ext cx="30632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 </a:t>
            </a:r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康達盛通五甲店站</a:t>
            </a:r>
            <a:endParaRPr lang="en-US" sz="900" dirty="0"/>
          </a:p>
        </p:txBody>
      </p:sp>
      <p:sp>
        <p:nvSpPr>
          <p:cNvPr id="72" name="Text 69"/>
          <p:cNvSpPr/>
          <p:nvPr/>
        </p:nvSpPr>
        <p:spPr>
          <a:xfrm>
            <a:off x="8412480" y="2756916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73" name="Text 70"/>
          <p:cNvSpPr/>
          <p:nvPr/>
        </p:nvSpPr>
        <p:spPr>
          <a:xfrm>
            <a:off x="5833872" y="2962656"/>
            <a:ext cx="30632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 </a:t>
            </a:r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全聯福利中心大寮三隆店站</a:t>
            </a:r>
            <a:endParaRPr lang="en-US" sz="900" dirty="0"/>
          </a:p>
        </p:txBody>
      </p:sp>
      <p:sp>
        <p:nvSpPr>
          <p:cNvPr id="74" name="Text 71"/>
          <p:cNvSpPr/>
          <p:nvPr/>
        </p:nvSpPr>
        <p:spPr>
          <a:xfrm>
            <a:off x="8412480" y="2962656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75" name="Shape 72"/>
          <p:cNvSpPr/>
          <p:nvPr/>
        </p:nvSpPr>
        <p:spPr>
          <a:xfrm>
            <a:off x="5669280" y="3186684"/>
            <a:ext cx="3337560" cy="237744"/>
          </a:xfrm>
          <a:prstGeom prst="rect">
            <a:avLst/>
          </a:prstGeom>
          <a:solidFill>
            <a:srgbClr val="FAE0B8"/>
          </a:solidFill>
          <a:ln/>
        </p:spPr>
      </p:sp>
      <p:sp>
        <p:nvSpPr>
          <p:cNvPr id="76" name="Text 73"/>
          <p:cNvSpPr/>
          <p:nvPr/>
        </p:nvSpPr>
        <p:spPr>
          <a:xfrm>
            <a:off x="5724144" y="3186684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0E9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臺南</a:t>
            </a:r>
            <a:endParaRPr lang="en-US" sz="1200" dirty="0"/>
          </a:p>
        </p:txBody>
      </p:sp>
      <p:sp>
        <p:nvSpPr>
          <p:cNvPr id="77" name="Text 74"/>
          <p:cNvSpPr/>
          <p:nvPr/>
        </p:nvSpPr>
        <p:spPr>
          <a:xfrm>
            <a:off x="8412480" y="3186684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5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300" dirty="0"/>
          </a:p>
        </p:txBody>
      </p:sp>
      <p:sp>
        <p:nvSpPr>
          <p:cNvPr id="78" name="Text 75"/>
          <p:cNvSpPr/>
          <p:nvPr/>
        </p:nvSpPr>
        <p:spPr>
          <a:xfrm>
            <a:off x="5833872" y="3433572"/>
            <a:ext cx="30632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 </a:t>
            </a:r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億進寢具文賢店站</a:t>
            </a:r>
            <a:endParaRPr lang="en-US" sz="900" dirty="0"/>
          </a:p>
        </p:txBody>
      </p:sp>
      <p:sp>
        <p:nvSpPr>
          <p:cNvPr id="79" name="Text 76"/>
          <p:cNvSpPr/>
          <p:nvPr/>
        </p:nvSpPr>
        <p:spPr>
          <a:xfrm>
            <a:off x="8412480" y="343357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80" name="Text 77"/>
          <p:cNvSpPr/>
          <p:nvPr/>
        </p:nvSpPr>
        <p:spPr>
          <a:xfrm>
            <a:off x="5833872" y="3639312"/>
            <a:ext cx="30632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 </a:t>
            </a:r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全家台南育安店站</a:t>
            </a:r>
            <a:endParaRPr lang="en-US" sz="900" dirty="0"/>
          </a:p>
        </p:txBody>
      </p:sp>
      <p:sp>
        <p:nvSpPr>
          <p:cNvPr id="81" name="Text 78"/>
          <p:cNvSpPr/>
          <p:nvPr/>
        </p:nvSpPr>
        <p:spPr>
          <a:xfrm>
            <a:off x="8412480" y="363931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82" name="Text 79"/>
          <p:cNvSpPr/>
          <p:nvPr/>
        </p:nvSpPr>
        <p:spPr>
          <a:xfrm>
            <a:off x="5833872" y="3845052"/>
            <a:ext cx="30632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 </a:t>
            </a:r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康達盛通仁德店方舟站</a:t>
            </a:r>
            <a:endParaRPr lang="en-US" sz="900" dirty="0"/>
          </a:p>
        </p:txBody>
      </p:sp>
      <p:sp>
        <p:nvSpPr>
          <p:cNvPr id="83" name="Text 80"/>
          <p:cNvSpPr/>
          <p:nvPr/>
        </p:nvSpPr>
        <p:spPr>
          <a:xfrm>
            <a:off x="8412480" y="3845052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84" name="Shape 81"/>
          <p:cNvSpPr/>
          <p:nvPr/>
        </p:nvSpPr>
        <p:spPr>
          <a:xfrm>
            <a:off x="5669280" y="4069080"/>
            <a:ext cx="3337560" cy="237744"/>
          </a:xfrm>
          <a:prstGeom prst="rect">
            <a:avLst/>
          </a:prstGeom>
          <a:solidFill>
            <a:srgbClr val="FAE0B8"/>
          </a:solidFill>
          <a:ln/>
        </p:spPr>
      </p:sp>
      <p:sp>
        <p:nvSpPr>
          <p:cNvPr id="85" name="Text 82"/>
          <p:cNvSpPr/>
          <p:nvPr/>
        </p:nvSpPr>
        <p:spPr>
          <a:xfrm>
            <a:off x="5724144" y="4069080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0E9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桃園</a:t>
            </a:r>
            <a:endParaRPr lang="en-US" sz="1200" dirty="0"/>
          </a:p>
        </p:txBody>
      </p:sp>
      <p:sp>
        <p:nvSpPr>
          <p:cNvPr id="86" name="Text 83"/>
          <p:cNvSpPr/>
          <p:nvPr/>
        </p:nvSpPr>
        <p:spPr>
          <a:xfrm>
            <a:off x="8412480" y="4069080"/>
            <a:ext cx="548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5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300" dirty="0"/>
          </a:p>
        </p:txBody>
      </p:sp>
      <p:sp>
        <p:nvSpPr>
          <p:cNvPr id="87" name="Text 84"/>
          <p:cNvSpPr/>
          <p:nvPr/>
        </p:nvSpPr>
        <p:spPr>
          <a:xfrm>
            <a:off x="5833872" y="4315968"/>
            <a:ext cx="30632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 </a:t>
            </a:r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全聯福利中心龜山長慶店站</a:t>
            </a:r>
            <a:endParaRPr lang="en-US" sz="900" dirty="0"/>
          </a:p>
        </p:txBody>
      </p:sp>
      <p:sp>
        <p:nvSpPr>
          <p:cNvPr id="88" name="Text 85"/>
          <p:cNvSpPr/>
          <p:nvPr/>
        </p:nvSpPr>
        <p:spPr>
          <a:xfrm>
            <a:off x="8412480" y="431596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89" name="Text 86"/>
          <p:cNvSpPr/>
          <p:nvPr/>
        </p:nvSpPr>
        <p:spPr>
          <a:xfrm>
            <a:off x="5833872" y="4521708"/>
            <a:ext cx="30632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 </a:t>
            </a:r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全聯福利中心龜山華亞三店站</a:t>
            </a:r>
            <a:endParaRPr lang="en-US" sz="900" dirty="0"/>
          </a:p>
        </p:txBody>
      </p:sp>
      <p:sp>
        <p:nvSpPr>
          <p:cNvPr id="90" name="Text 87"/>
          <p:cNvSpPr/>
          <p:nvPr/>
        </p:nvSpPr>
        <p:spPr>
          <a:xfrm>
            <a:off x="8412480" y="452170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91" name="Text 88"/>
          <p:cNvSpPr/>
          <p:nvPr/>
        </p:nvSpPr>
        <p:spPr>
          <a:xfrm>
            <a:off x="5833872" y="4727448"/>
            <a:ext cx="30632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 </a:t>
            </a:r>
            <a:pPr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全聯福利中心桃園國際店站</a:t>
            </a:r>
            <a:endParaRPr lang="en-US" sz="900" dirty="0"/>
          </a:p>
        </p:txBody>
      </p:sp>
      <p:sp>
        <p:nvSpPr>
          <p:cNvPr id="92" name="Text 89"/>
          <p:cNvSpPr/>
          <p:nvPr/>
        </p:nvSpPr>
        <p:spPr>
          <a:xfrm>
            <a:off x="8412480" y="472744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2026-07-06T03:06:24Z</dcterms:created>
  <dcterms:modified xsi:type="dcterms:W3CDTF">2026-07-06T03:06:24Z</dcterms:modified>
</cp:coreProperties>
</file>