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2.png"/><Relationship Id="rId4" Type="http://schemas.openxmlformats.org/officeDocument/2006/relationships/image" Target="../media/image-2-2.png"/><Relationship Id="rId5" Type="http://schemas.openxmlformats.org/officeDocument/2006/relationships/image" Target="../media/image-2-5.png"/><Relationship Id="rId6" Type="http://schemas.openxmlformats.org/officeDocument/2006/relationships/image" Target="../media/image-2-2.png"/><Relationship Id="rId7" Type="http://schemas.openxmlformats.org/officeDocument/2006/relationships/image" Target="../media/image-2-2.png"/><Relationship Id="rId8" Type="http://schemas.openxmlformats.org/officeDocument/2006/relationships/image" Target="../media/image-2-2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4630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ecoco 客服週報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326880" y="164592"/>
            <a:ext cx="2468880" cy="384048"/>
          </a:xfrm>
          <a:prstGeom prst="roundRect">
            <a:avLst>
              <a:gd name="adj" fmla="val 50000"/>
            </a:avLst>
          </a:prstGeom>
          <a:solidFill>
            <a:srgbClr val="060E9F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0" y="16459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第33週（08/10 ~ 08/16）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65760" y="685800"/>
            <a:ext cx="2720340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9050" dir="5400000">
              <a:srgbClr val="999999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685800"/>
            <a:ext cx="2720340" cy="64008"/>
          </a:xfrm>
          <a:prstGeom prst="roundRect">
            <a:avLst>
              <a:gd name="adj" fmla="val 42857"/>
            </a:avLst>
          </a:prstGeom>
          <a:solidFill>
            <a:srgbClr val="060E9F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832104"/>
            <a:ext cx="20802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本週客訴總件數 (第33週)</a:t>
            </a:r>
            <a:endParaRPr lang="en-US" sz="1200" dirty="0"/>
          </a:p>
        </p:txBody>
      </p:sp>
      <p:pic>
        <p:nvPicPr>
          <p:cNvPr id="8" name="Image 0" descr="D:\info\0507_Weekly-Report\Operations-Weekly-Report\automation\icons\headset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47188" y="850392"/>
            <a:ext cx="256032" cy="25603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48640" y="1179576"/>
            <a:ext cx="23545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165 </a:t>
            </a:r>
            <a:pPr indent="0" marL="0">
              <a:buNone/>
            </a:pPr>
            <a:r>
              <a:rPr lang="en-US" sz="135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件</a:t>
            </a:r>
            <a:endParaRPr lang="en-US" sz="2700" dirty="0"/>
          </a:p>
        </p:txBody>
      </p:sp>
      <p:sp>
        <p:nvSpPr>
          <p:cNvPr id="10" name="Text 7"/>
          <p:cNvSpPr/>
          <p:nvPr/>
        </p:nvSpPr>
        <p:spPr>
          <a:xfrm>
            <a:off x="548640" y="1691640"/>
            <a:ext cx="17145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2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較上週 (157件) 增加 8 件</a:t>
            </a:r>
            <a:endParaRPr lang="en-US" sz="920" dirty="0"/>
          </a:p>
        </p:txBody>
      </p:sp>
      <p:sp>
        <p:nvSpPr>
          <p:cNvPr id="11" name="Shape 8"/>
          <p:cNvSpPr/>
          <p:nvPr/>
        </p:nvSpPr>
        <p:spPr>
          <a:xfrm>
            <a:off x="2153412" y="1691640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FE9DC"/>
          </a:solidFill>
          <a:ln/>
        </p:spPr>
      </p:sp>
      <p:sp>
        <p:nvSpPr>
          <p:cNvPr id="12" name="Text 9"/>
          <p:cNvSpPr/>
          <p:nvPr/>
        </p:nvSpPr>
        <p:spPr>
          <a:xfrm>
            <a:off x="2153412" y="1691640"/>
            <a:ext cx="768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▲5.1%</a:t>
            </a:r>
            <a:endParaRPr lang="en-US" sz="1020" dirty="0"/>
          </a:p>
        </p:txBody>
      </p:sp>
      <p:sp>
        <p:nvSpPr>
          <p:cNvPr id="13" name="Shape 10"/>
          <p:cNvSpPr/>
          <p:nvPr/>
        </p:nvSpPr>
        <p:spPr>
          <a:xfrm>
            <a:off x="3268980" y="685800"/>
            <a:ext cx="2720340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9050" dir="5400000">
              <a:srgbClr val="999999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268980" y="685800"/>
            <a:ext cx="2720340" cy="64008"/>
          </a:xfrm>
          <a:prstGeom prst="roundRect">
            <a:avLst>
              <a:gd name="adj" fmla="val 42857"/>
            </a:avLst>
          </a:prstGeom>
          <a:solidFill>
            <a:srgbClr val="FF5000"/>
          </a:solidFill>
          <a:ln/>
        </p:spPr>
      </p:sp>
      <p:sp>
        <p:nvSpPr>
          <p:cNvPr id="15" name="Text 12"/>
          <p:cNvSpPr/>
          <p:nvPr/>
        </p:nvSpPr>
        <p:spPr>
          <a:xfrm>
            <a:off x="3451860" y="832104"/>
            <a:ext cx="20802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回報最高主題</a:t>
            </a:r>
            <a:endParaRPr lang="en-US" sz="1200" dirty="0"/>
          </a:p>
        </p:txBody>
      </p:sp>
      <p:pic>
        <p:nvPicPr>
          <p:cNvPr id="16" name="Image 1" descr="D:\info\0507_Weekly-Report\Operations-Weekly-Report\automation\icons\warn_oran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0408" y="850392"/>
            <a:ext cx="256032" cy="256032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451860" y="1179576"/>
            <a:ext cx="23545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5000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點數未入帳號</a:t>
            </a:r>
            <a:endParaRPr lang="en-US" sz="1700" dirty="0"/>
          </a:p>
        </p:txBody>
      </p:sp>
      <p:sp>
        <p:nvSpPr>
          <p:cNvPr id="18" name="Text 14"/>
          <p:cNvSpPr/>
          <p:nvPr/>
        </p:nvSpPr>
        <p:spPr>
          <a:xfrm>
            <a:off x="3451860" y="1691640"/>
            <a:ext cx="17145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2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佔比 12.1%（共 20 件）</a:t>
            </a:r>
            <a:endParaRPr lang="en-US" sz="920" dirty="0"/>
          </a:p>
        </p:txBody>
      </p:sp>
      <p:sp>
        <p:nvSpPr>
          <p:cNvPr id="19" name="Shape 15"/>
          <p:cNvSpPr/>
          <p:nvPr/>
        </p:nvSpPr>
        <p:spPr>
          <a:xfrm>
            <a:off x="5056632" y="1691640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FE9DC"/>
          </a:solidFill>
          <a:ln/>
        </p:spPr>
      </p:sp>
      <p:sp>
        <p:nvSpPr>
          <p:cNvPr id="20" name="Text 16"/>
          <p:cNvSpPr/>
          <p:nvPr/>
        </p:nvSpPr>
        <p:spPr>
          <a:xfrm>
            <a:off x="5056632" y="1691640"/>
            <a:ext cx="768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▲3.8%</a:t>
            </a:r>
            <a:endParaRPr lang="en-US" sz="1020" dirty="0"/>
          </a:p>
        </p:txBody>
      </p:sp>
      <p:sp>
        <p:nvSpPr>
          <p:cNvPr id="21" name="Shape 17"/>
          <p:cNvSpPr/>
          <p:nvPr/>
        </p:nvSpPr>
        <p:spPr>
          <a:xfrm>
            <a:off x="6172200" y="685800"/>
            <a:ext cx="2720340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9050" dir="5400000">
              <a:srgbClr val="999999">
                <a:alpha val="20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6172200" y="685800"/>
            <a:ext cx="2720340" cy="64008"/>
          </a:xfrm>
          <a:prstGeom prst="roundRect">
            <a:avLst>
              <a:gd name="adj" fmla="val 42857"/>
            </a:avLst>
          </a:prstGeom>
          <a:solidFill>
            <a:srgbClr val="0076A9"/>
          </a:solidFill>
          <a:ln/>
        </p:spPr>
      </p:sp>
      <p:sp>
        <p:nvSpPr>
          <p:cNvPr id="23" name="Text 19"/>
          <p:cNvSpPr/>
          <p:nvPr/>
        </p:nvSpPr>
        <p:spPr>
          <a:xfrm>
            <a:off x="6355080" y="832104"/>
            <a:ext cx="20802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客訴量最高站點</a:t>
            </a:r>
            <a:endParaRPr lang="en-US" sz="1200" dirty="0"/>
          </a:p>
        </p:txBody>
      </p:sp>
      <p:pic>
        <p:nvPicPr>
          <p:cNvPr id="24" name="Image 2" descr="D:\info\0507_Weekly-Report\Operations-Weekly-Report\automation\icons\pin_darkblu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3628" y="850392"/>
            <a:ext cx="256032" cy="256032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6355080" y="1179576"/>
            <a:ext cx="23545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76A9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全聯福利中心台中大昌店</a:t>
            </a:r>
            <a:endParaRPr lang="en-US" sz="1550" dirty="0"/>
          </a:p>
        </p:txBody>
      </p:sp>
      <p:sp>
        <p:nvSpPr>
          <p:cNvPr id="26" name="Text 21"/>
          <p:cNvSpPr/>
          <p:nvPr/>
        </p:nvSpPr>
        <p:spPr>
          <a:xfrm>
            <a:off x="6355080" y="1691640"/>
            <a:ext cx="17145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2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臺中市（本週 13 件）</a:t>
            </a:r>
            <a:endParaRPr lang="en-US" sz="920" dirty="0"/>
          </a:p>
        </p:txBody>
      </p:sp>
      <p:sp>
        <p:nvSpPr>
          <p:cNvPr id="27" name="Shape 22"/>
          <p:cNvSpPr/>
          <p:nvPr/>
        </p:nvSpPr>
        <p:spPr>
          <a:xfrm>
            <a:off x="7959852" y="1691640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FE9DC"/>
          </a:solidFill>
          <a:ln/>
        </p:spPr>
      </p:sp>
      <p:sp>
        <p:nvSpPr>
          <p:cNvPr id="28" name="Text 23"/>
          <p:cNvSpPr/>
          <p:nvPr/>
        </p:nvSpPr>
        <p:spPr>
          <a:xfrm>
            <a:off x="7959852" y="1691640"/>
            <a:ext cx="768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▲13件</a:t>
            </a:r>
            <a:endParaRPr lang="en-US" sz="1020" dirty="0"/>
          </a:p>
        </p:txBody>
      </p:sp>
      <p:sp>
        <p:nvSpPr>
          <p:cNvPr id="29" name="Shape 24"/>
          <p:cNvSpPr/>
          <p:nvPr/>
        </p:nvSpPr>
        <p:spPr>
          <a:xfrm>
            <a:off x="9075420" y="685800"/>
            <a:ext cx="2720340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9050" dir="5400000">
              <a:srgbClr val="999999">
                <a:alpha val="20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9075420" y="685800"/>
            <a:ext cx="2720340" cy="64008"/>
          </a:xfrm>
          <a:prstGeom prst="roundRect">
            <a:avLst>
              <a:gd name="adj" fmla="val 42857"/>
            </a:avLst>
          </a:prstGeom>
          <a:solidFill>
            <a:srgbClr val="FFCE00"/>
          </a:solidFill>
          <a:ln/>
        </p:spPr>
      </p:sp>
      <p:sp>
        <p:nvSpPr>
          <p:cNvPr id="31" name="Text 26"/>
          <p:cNvSpPr/>
          <p:nvPr/>
        </p:nvSpPr>
        <p:spPr>
          <a:xfrm>
            <a:off x="9258300" y="832104"/>
            <a:ext cx="20802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非機台問題佔比</a:t>
            </a:r>
            <a:endParaRPr lang="en-US" sz="1200" dirty="0"/>
          </a:p>
        </p:txBody>
      </p:sp>
      <p:pic>
        <p:nvPicPr>
          <p:cNvPr id="32" name="Image 3" descr="D:\info\0507_Weekly-Report\Operations-Weekly-Report\automation\icons\usercog_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850392"/>
            <a:ext cx="256032" cy="256032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9258300" y="1179576"/>
            <a:ext cx="23545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C7A00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39.4</a:t>
            </a:r>
            <a:pPr indent="0" marL="0">
              <a:buNone/>
            </a:pPr>
            <a:r>
              <a:rPr lang="en-US" sz="1350" b="1" dirty="0">
                <a:solidFill>
                  <a:srgbClr val="9C7A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%</a:t>
            </a:r>
            <a:endParaRPr lang="en-US" sz="2700" dirty="0"/>
          </a:p>
        </p:txBody>
      </p:sp>
      <p:sp>
        <p:nvSpPr>
          <p:cNvPr id="34" name="Text 28"/>
          <p:cNvSpPr/>
          <p:nvPr/>
        </p:nvSpPr>
        <p:spPr>
          <a:xfrm>
            <a:off x="9258300" y="1691640"/>
            <a:ext cx="17145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2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代表案例類型：更換帳號</a:t>
            </a:r>
            <a:endParaRPr lang="en-US" sz="920" dirty="0"/>
          </a:p>
        </p:txBody>
      </p:sp>
      <p:sp>
        <p:nvSpPr>
          <p:cNvPr id="35" name="Shape 29"/>
          <p:cNvSpPr/>
          <p:nvPr/>
        </p:nvSpPr>
        <p:spPr>
          <a:xfrm>
            <a:off x="10863072" y="1691640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FE9DC"/>
          </a:solidFill>
          <a:ln/>
        </p:spPr>
      </p:sp>
      <p:sp>
        <p:nvSpPr>
          <p:cNvPr id="36" name="Text 30"/>
          <p:cNvSpPr/>
          <p:nvPr/>
        </p:nvSpPr>
        <p:spPr>
          <a:xfrm>
            <a:off x="10863072" y="1691640"/>
            <a:ext cx="768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▲6.9%</a:t>
            </a:r>
            <a:endParaRPr lang="en-US" sz="1020" dirty="0"/>
          </a:p>
        </p:txBody>
      </p:sp>
      <p:sp>
        <p:nvSpPr>
          <p:cNvPr id="37" name="Shape 31"/>
          <p:cNvSpPr/>
          <p:nvPr/>
        </p:nvSpPr>
        <p:spPr>
          <a:xfrm>
            <a:off x="365760" y="2459736"/>
            <a:ext cx="64008" cy="256032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38" name="Text 32"/>
          <p:cNvSpPr/>
          <p:nvPr/>
        </p:nvSpPr>
        <p:spPr>
          <a:xfrm>
            <a:off x="502920" y="2432304"/>
            <a:ext cx="6995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客訴趨勢分析（近4週）　單位：件數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807208"/>
          <a:ext cx="7132320" cy="3017520"/>
        </p:xfrm>
        <a:graphic>
          <a:graphicData uri="http://schemas.openxmlformats.org/drawingml/2006/table">
            <a:tbl>
              <a:tblPr/>
              <a:tblGrid>
                <a:gridCol w="1024128"/>
                <a:gridCol w="868680"/>
                <a:gridCol w="868680"/>
                <a:gridCol w="868680"/>
                <a:gridCol w="868680"/>
                <a:gridCol w="868680"/>
                <a:gridCol w="868680"/>
                <a:gridCol w="905256"/>
              </a:tblGrid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週次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機台問題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APP帳號設定問題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回收點數問題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顧客關係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優惠券問題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APP使用問題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加總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第30週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118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6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20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26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12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4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186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500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第31週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106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▼12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3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11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▼9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20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11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8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5000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159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▼27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500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第32週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106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3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13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5000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19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6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10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5000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157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500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第33週</a:t>
                      </a:r>
                      <a:endParaRPr lang="en-US" sz="10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100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0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20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5000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33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5000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▲14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10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5000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2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165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5000"/>
                    </a:solidFill>
                  </a:tcPr>
                </a:tc>
              </a:tr>
            </a:tbl>
          </a:graphicData>
        </a:graphic>
      </p:graphicFrame>
      <p:sp>
        <p:nvSpPr>
          <p:cNvPr id="40" name="Shape 33"/>
          <p:cNvSpPr/>
          <p:nvPr/>
        </p:nvSpPr>
        <p:spPr>
          <a:xfrm>
            <a:off x="7772400" y="2459736"/>
            <a:ext cx="64008" cy="256032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41" name="Text 34"/>
          <p:cNvSpPr/>
          <p:nvPr/>
        </p:nvSpPr>
        <p:spPr>
          <a:xfrm>
            <a:off x="7909560" y="2432304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5000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非機台問題 Top 3</a:t>
            </a:r>
            <a:endParaRPr lang="en-US" sz="1300" dirty="0"/>
          </a:p>
        </p:txBody>
      </p:sp>
      <p:sp>
        <p:nvSpPr>
          <p:cNvPr id="42" name="Shape 35"/>
          <p:cNvSpPr/>
          <p:nvPr/>
        </p:nvSpPr>
        <p:spPr>
          <a:xfrm>
            <a:off x="7772400" y="2807208"/>
            <a:ext cx="4023360" cy="1188720"/>
          </a:xfrm>
          <a:prstGeom prst="roundRect">
            <a:avLst>
              <a:gd name="adj" fmla="val 6154"/>
            </a:avLst>
          </a:prstGeom>
          <a:solidFill>
            <a:srgbClr val="FFF4EF"/>
          </a:solidFill>
          <a:ln w="12700">
            <a:solidFill>
              <a:srgbClr val="FF5000"/>
            </a:solidFill>
            <a:prstDash val="solid"/>
          </a:ln>
        </p:spPr>
      </p:sp>
      <p:sp>
        <p:nvSpPr>
          <p:cNvPr id="43" name="Shape 36"/>
          <p:cNvSpPr/>
          <p:nvPr/>
        </p:nvSpPr>
        <p:spPr>
          <a:xfrm>
            <a:off x="7772400" y="2807208"/>
            <a:ext cx="54864" cy="1188720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44" name="Text 37"/>
          <p:cNvSpPr/>
          <p:nvPr/>
        </p:nvSpPr>
        <p:spPr>
          <a:xfrm>
            <a:off x="7918704" y="291693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5000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1</a:t>
            </a:r>
            <a:endParaRPr lang="en-US" sz="1700" dirty="0"/>
          </a:p>
        </p:txBody>
      </p:sp>
      <p:sp>
        <p:nvSpPr>
          <p:cNvPr id="45" name="Text 38"/>
          <p:cNvSpPr/>
          <p:nvPr/>
        </p:nvSpPr>
        <p:spPr>
          <a:xfrm>
            <a:off x="8394192" y="289864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點數未入帳號</a:t>
            </a:r>
            <a:endParaRPr lang="en-US" sz="1250" dirty="0"/>
          </a:p>
        </p:txBody>
      </p:sp>
      <p:sp>
        <p:nvSpPr>
          <p:cNvPr id="46" name="Text 39"/>
          <p:cNvSpPr/>
          <p:nvPr/>
        </p:nvSpPr>
        <p:spPr>
          <a:xfrm>
            <a:off x="8394192" y="328269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5000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20件</a:t>
            </a:r>
            <a:pPr indent="0" marL="0">
              <a:buNone/>
            </a:pPr>
            <a:r>
              <a:rPr lang="en-US" sz="115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12.1%</a:t>
            </a:r>
            <a:endParaRPr lang="en-US" sz="1700" dirty="0"/>
          </a:p>
        </p:txBody>
      </p:sp>
      <p:sp>
        <p:nvSpPr>
          <p:cNvPr id="47" name="Shape 40"/>
          <p:cNvSpPr/>
          <p:nvPr/>
        </p:nvSpPr>
        <p:spPr>
          <a:xfrm>
            <a:off x="8394192" y="3794760"/>
            <a:ext cx="3200400" cy="6400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48" name="Shape 41"/>
          <p:cNvSpPr/>
          <p:nvPr/>
        </p:nvSpPr>
        <p:spPr>
          <a:xfrm>
            <a:off x="8394192" y="3794760"/>
            <a:ext cx="3200400" cy="64008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49" name="Shape 42"/>
          <p:cNvSpPr/>
          <p:nvPr/>
        </p:nvSpPr>
        <p:spPr>
          <a:xfrm>
            <a:off x="7772400" y="4151376"/>
            <a:ext cx="4023360" cy="1188720"/>
          </a:xfrm>
          <a:prstGeom prst="roundRect">
            <a:avLst>
              <a:gd name="adj" fmla="val 6154"/>
            </a:avLst>
          </a:prstGeom>
          <a:solidFill>
            <a:srgbClr val="EEF6FB"/>
          </a:solidFill>
          <a:ln w="12700">
            <a:solidFill>
              <a:srgbClr val="0076A9"/>
            </a:solidFill>
            <a:prstDash val="solid"/>
          </a:ln>
        </p:spPr>
      </p:sp>
      <p:sp>
        <p:nvSpPr>
          <p:cNvPr id="50" name="Shape 43"/>
          <p:cNvSpPr/>
          <p:nvPr/>
        </p:nvSpPr>
        <p:spPr>
          <a:xfrm>
            <a:off x="7772400" y="4151376"/>
            <a:ext cx="54864" cy="1188720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51" name="Text 44"/>
          <p:cNvSpPr/>
          <p:nvPr/>
        </p:nvSpPr>
        <p:spPr>
          <a:xfrm>
            <a:off x="7918704" y="4261104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76A9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2</a:t>
            </a:r>
            <a:endParaRPr lang="en-US" sz="1700" dirty="0"/>
          </a:p>
        </p:txBody>
      </p:sp>
      <p:sp>
        <p:nvSpPr>
          <p:cNvPr id="52" name="Text 45"/>
          <p:cNvSpPr/>
          <p:nvPr/>
        </p:nvSpPr>
        <p:spPr>
          <a:xfrm>
            <a:off x="8394192" y="424281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許願新增站點/設站建議</a:t>
            </a:r>
            <a:endParaRPr lang="en-US" sz="1250" dirty="0"/>
          </a:p>
        </p:txBody>
      </p:sp>
      <p:sp>
        <p:nvSpPr>
          <p:cNvPr id="53" name="Text 46"/>
          <p:cNvSpPr/>
          <p:nvPr/>
        </p:nvSpPr>
        <p:spPr>
          <a:xfrm>
            <a:off x="8394192" y="462686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76A9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13件</a:t>
            </a:r>
            <a:pPr indent="0" marL="0">
              <a:buNone/>
            </a:pPr>
            <a:r>
              <a:rPr lang="en-US" sz="1150" b="1" dirty="0">
                <a:solidFill>
                  <a:srgbClr val="0076A9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7.9%</a:t>
            </a:r>
            <a:endParaRPr lang="en-US" sz="1700" dirty="0"/>
          </a:p>
        </p:txBody>
      </p:sp>
      <p:sp>
        <p:nvSpPr>
          <p:cNvPr id="54" name="Shape 47"/>
          <p:cNvSpPr/>
          <p:nvPr/>
        </p:nvSpPr>
        <p:spPr>
          <a:xfrm>
            <a:off x="8394192" y="5138928"/>
            <a:ext cx="3200400" cy="6400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5" name="Shape 48"/>
          <p:cNvSpPr/>
          <p:nvPr/>
        </p:nvSpPr>
        <p:spPr>
          <a:xfrm>
            <a:off x="8394192" y="5138928"/>
            <a:ext cx="2080260" cy="64008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56" name="Shape 49"/>
          <p:cNvSpPr/>
          <p:nvPr/>
        </p:nvSpPr>
        <p:spPr>
          <a:xfrm>
            <a:off x="7772400" y="5495544"/>
            <a:ext cx="4023360" cy="1188720"/>
          </a:xfrm>
          <a:prstGeom prst="roundRect">
            <a:avLst>
              <a:gd name="adj" fmla="val 6154"/>
            </a:avLst>
          </a:prstGeom>
          <a:solidFill>
            <a:srgbClr val="F5F7FF"/>
          </a:solidFill>
          <a:ln w="12700">
            <a:solidFill>
              <a:srgbClr val="060E9F"/>
            </a:solidFill>
            <a:prstDash val="solid"/>
          </a:ln>
        </p:spPr>
      </p:sp>
      <p:sp>
        <p:nvSpPr>
          <p:cNvPr id="57" name="Shape 50"/>
          <p:cNvSpPr/>
          <p:nvPr/>
        </p:nvSpPr>
        <p:spPr>
          <a:xfrm>
            <a:off x="7772400" y="5495544"/>
            <a:ext cx="54864" cy="1188720"/>
          </a:xfrm>
          <a:prstGeom prst="rect">
            <a:avLst/>
          </a:prstGeom>
          <a:solidFill>
            <a:srgbClr val="060E9F"/>
          </a:solidFill>
          <a:ln/>
        </p:spPr>
      </p:sp>
      <p:sp>
        <p:nvSpPr>
          <p:cNvPr id="58" name="Text 51"/>
          <p:cNvSpPr/>
          <p:nvPr/>
        </p:nvSpPr>
        <p:spPr>
          <a:xfrm>
            <a:off x="7918704" y="5605272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3</a:t>
            </a:r>
            <a:endParaRPr lang="en-US" sz="1700" dirty="0"/>
          </a:p>
        </p:txBody>
      </p:sp>
      <p:sp>
        <p:nvSpPr>
          <p:cNvPr id="59" name="Text 52"/>
          <p:cNvSpPr/>
          <p:nvPr/>
        </p:nvSpPr>
        <p:spPr>
          <a:xfrm>
            <a:off x="8394192" y="558698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更換帳號</a:t>
            </a:r>
            <a:endParaRPr lang="en-US" sz="1250" dirty="0"/>
          </a:p>
        </p:txBody>
      </p:sp>
      <p:sp>
        <p:nvSpPr>
          <p:cNvPr id="60" name="Text 53"/>
          <p:cNvSpPr/>
          <p:nvPr/>
        </p:nvSpPr>
        <p:spPr>
          <a:xfrm>
            <a:off x="8394192" y="59710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7件</a:t>
            </a:r>
            <a:pPr indent="0" marL="0">
              <a:buNone/>
            </a:pPr>
            <a:r>
              <a:rPr lang="en-US" sz="115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4.2%</a:t>
            </a:r>
            <a:endParaRPr lang="en-US" sz="1700" dirty="0"/>
          </a:p>
        </p:txBody>
      </p:sp>
      <p:sp>
        <p:nvSpPr>
          <p:cNvPr id="61" name="Shape 54"/>
          <p:cNvSpPr/>
          <p:nvPr/>
        </p:nvSpPr>
        <p:spPr>
          <a:xfrm>
            <a:off x="8394192" y="6483096"/>
            <a:ext cx="3200400" cy="6400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62" name="Shape 55"/>
          <p:cNvSpPr/>
          <p:nvPr/>
        </p:nvSpPr>
        <p:spPr>
          <a:xfrm>
            <a:off x="8394192" y="6483096"/>
            <a:ext cx="1120140" cy="64008"/>
          </a:xfrm>
          <a:prstGeom prst="rect">
            <a:avLst/>
          </a:prstGeom>
          <a:solidFill>
            <a:srgbClr val="060E9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73152" cy="329184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14630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33333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客訴機台類型與高頻站點分析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9326880" y="164592"/>
            <a:ext cx="2468880" cy="384048"/>
          </a:xfrm>
          <a:prstGeom prst="roundRect">
            <a:avLst>
              <a:gd name="adj" fmla="val 50000"/>
            </a:avLst>
          </a:prstGeom>
          <a:solidFill>
            <a:srgbClr val="060E9F"/>
          </a:solidFill>
          <a:ln/>
        </p:spPr>
      </p:sp>
      <p:sp>
        <p:nvSpPr>
          <p:cNvPr id="5" name="Text 3"/>
          <p:cNvSpPr/>
          <p:nvPr/>
        </p:nvSpPr>
        <p:spPr>
          <a:xfrm>
            <a:off x="9326880" y="16459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第33週（08/10 ~ 08/16）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65760" y="868680"/>
            <a:ext cx="555498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25000"/>
              </a:srgbClr>
            </a:outerShdw>
          </a:effectLst>
        </p:spPr>
      </p:sp>
      <p:pic>
        <p:nvPicPr>
          <p:cNvPr id="7" name="Image 0" descr="D:\info\0507_Weekly-Report\Operations-Weekly-Report\automation\icons\recycle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069848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60704" y="102412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收瓶機 ／ 方舟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4091940" y="1069848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F5000"/>
          </a:solidFill>
          <a:ln/>
        </p:spPr>
      </p:sp>
      <p:sp>
        <p:nvSpPr>
          <p:cNvPr id="10" name="Text 7"/>
          <p:cNvSpPr/>
          <p:nvPr/>
        </p:nvSpPr>
        <p:spPr>
          <a:xfrm>
            <a:off x="4091940" y="106984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108件 (82.4%)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85216" y="1554480"/>
            <a:ext cx="5116068" cy="1057656"/>
          </a:xfrm>
          <a:prstGeom prst="roundRect">
            <a:avLst>
              <a:gd name="adj" fmla="val 5187"/>
            </a:avLst>
          </a:prstGeom>
          <a:solidFill>
            <a:srgbClr val="F8F9FB"/>
          </a:solidFill>
          <a:ln/>
        </p:spPr>
      </p:sp>
      <p:sp>
        <p:nvSpPr>
          <p:cNvPr id="12" name="Text 9"/>
          <p:cNvSpPr/>
          <p:nvPr/>
        </p:nvSpPr>
        <p:spPr>
          <a:xfrm>
            <a:off x="694944" y="1655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000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1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143000" y="1609344"/>
            <a:ext cx="4503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滿艙問題（回收箱／寶特瓶）</a:t>
            </a:r>
            <a:pPr indent="0" marL="0">
              <a:buNone/>
            </a:pPr>
            <a:r>
              <a:rPr lang="en-US" sz="140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合計 26.9% (29件)</a:t>
            </a:r>
            <a:endParaRPr lang="en-US" sz="1600" dirty="0"/>
          </a:p>
        </p:txBody>
      </p:sp>
      <p:pic>
        <p:nvPicPr>
          <p:cNvPr id="14" name="Image 1" descr="D:\info\0507_Weekly-Report\Operations-Weekly-Report\automation\icons\pin_gr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2103120"/>
            <a:ext cx="137160" cy="13716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325880" y="2057400"/>
            <a:ext cx="4320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最高回報站點：B｜臺北/全聯福利中心文山木新店站（3件）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85216" y="2712720"/>
            <a:ext cx="5116068" cy="1057656"/>
          </a:xfrm>
          <a:prstGeom prst="roundRect">
            <a:avLst>
              <a:gd name="adj" fmla="val 5187"/>
            </a:avLst>
          </a:prstGeom>
          <a:solidFill>
            <a:srgbClr val="F8F9FB"/>
          </a:solidFill>
          <a:ln/>
        </p:spPr>
      </p:sp>
      <p:sp>
        <p:nvSpPr>
          <p:cNvPr id="17" name="Text 13"/>
          <p:cNvSpPr/>
          <p:nvPr/>
        </p:nvSpPr>
        <p:spPr>
          <a:xfrm>
            <a:off x="694944" y="2813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2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1143000" y="2767584"/>
            <a:ext cx="4503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機台操作畫面無法登入</a:t>
            </a:r>
            <a:pPr indent="0" marL="0">
              <a:buNone/>
            </a:pPr>
            <a:r>
              <a:rPr lang="en-US" sz="140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合計 13.9% (15件)</a:t>
            </a:r>
            <a:endParaRPr lang="en-US" sz="1600" dirty="0"/>
          </a:p>
        </p:txBody>
      </p:sp>
      <p:pic>
        <p:nvPicPr>
          <p:cNvPr id="19" name="Image 2" descr="D:\info\0507_Weekly-Report\Operations-Weekly-Report\automation\icons\pin_gra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3261360"/>
            <a:ext cx="137160" cy="1371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325880" y="3215640"/>
            <a:ext cx="4320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最高回報站點：B｜臺中/全聯福利中心台中大昌店站（11件）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585216" y="3870960"/>
            <a:ext cx="5116068" cy="1057656"/>
          </a:xfrm>
          <a:prstGeom prst="roundRect">
            <a:avLst>
              <a:gd name="adj" fmla="val 5187"/>
            </a:avLst>
          </a:prstGeom>
          <a:solidFill>
            <a:srgbClr val="F8F9FB"/>
          </a:solidFill>
          <a:ln/>
        </p:spPr>
      </p:sp>
      <p:sp>
        <p:nvSpPr>
          <p:cNvPr id="22" name="Text 17"/>
          <p:cNvSpPr/>
          <p:nvPr/>
        </p:nvSpPr>
        <p:spPr>
          <a:xfrm>
            <a:off x="694944" y="3971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76A9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18"/>
          <p:cNvSpPr/>
          <p:nvPr/>
        </p:nvSpPr>
        <p:spPr>
          <a:xfrm>
            <a:off x="1143000" y="3925824"/>
            <a:ext cx="4503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點數未入帳號</a:t>
            </a:r>
            <a:pPr indent="0" marL="0">
              <a:buNone/>
            </a:pPr>
            <a:r>
              <a:rPr lang="en-US" sz="1400" b="1" dirty="0">
                <a:solidFill>
                  <a:srgbClr val="0076A9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合計 9.3% (10件)</a:t>
            </a:r>
            <a:endParaRPr lang="en-US" sz="1600" dirty="0"/>
          </a:p>
        </p:txBody>
      </p:sp>
      <p:pic>
        <p:nvPicPr>
          <p:cNvPr id="24" name="Image 3" descr="D:\info\0507_Weekly-Report\Operations-Weekly-Report\automation\icons\pin_gra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4419600"/>
            <a:ext cx="137160" cy="13716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325880" y="4373880"/>
            <a:ext cx="4320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最高回報站點：C｜高雄/Q哥手機館高雄鳳山店站（2件）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6240780" y="868680"/>
            <a:ext cx="555498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25000"/>
              </a:srgbClr>
            </a:outerShdw>
          </a:effectLst>
        </p:spPr>
      </p:sp>
      <p:pic>
        <p:nvPicPr>
          <p:cNvPr id="27" name="Image 4" descr="D:\info\0507_Weekly-Report\Operations-Weekly-Report\automation\icons\battery_oran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6812" y="1069848"/>
            <a:ext cx="347472" cy="34747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6935724" y="102412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二代電池機</a:t>
            </a:r>
            <a:endParaRPr lang="en-US" sz="1800" dirty="0"/>
          </a:p>
        </p:txBody>
      </p:sp>
      <p:sp>
        <p:nvSpPr>
          <p:cNvPr id="29" name="Shape 22"/>
          <p:cNvSpPr/>
          <p:nvPr/>
        </p:nvSpPr>
        <p:spPr>
          <a:xfrm>
            <a:off x="9966960" y="1069848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FCE00"/>
          </a:solidFill>
          <a:ln/>
        </p:spPr>
      </p:sp>
      <p:sp>
        <p:nvSpPr>
          <p:cNvPr id="30" name="Text 23"/>
          <p:cNvSpPr/>
          <p:nvPr/>
        </p:nvSpPr>
        <p:spPr>
          <a:xfrm>
            <a:off x="9966960" y="106984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23件 (17.6%)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6460236" y="1554480"/>
            <a:ext cx="5116068" cy="1057656"/>
          </a:xfrm>
          <a:prstGeom prst="roundRect">
            <a:avLst>
              <a:gd name="adj" fmla="val 5187"/>
            </a:avLst>
          </a:prstGeom>
          <a:solidFill>
            <a:srgbClr val="F8F9FB"/>
          </a:solidFill>
          <a:ln/>
        </p:spPr>
      </p:sp>
      <p:sp>
        <p:nvSpPr>
          <p:cNvPr id="32" name="Text 25"/>
          <p:cNvSpPr/>
          <p:nvPr/>
        </p:nvSpPr>
        <p:spPr>
          <a:xfrm>
            <a:off x="6569964" y="1655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000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1</a:t>
            </a:r>
            <a:endParaRPr lang="en-US" sz="1800" dirty="0"/>
          </a:p>
        </p:txBody>
      </p:sp>
      <p:sp>
        <p:nvSpPr>
          <p:cNvPr id="33" name="Text 26"/>
          <p:cNvSpPr/>
          <p:nvPr/>
        </p:nvSpPr>
        <p:spPr>
          <a:xfrm>
            <a:off x="7018020" y="1609344"/>
            <a:ext cx="4503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點數未入帳號</a:t>
            </a:r>
            <a:pPr indent="0" marL="0">
              <a:buNone/>
            </a:pPr>
            <a:r>
              <a:rPr lang="en-US" sz="140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合計 43.5% (10件)</a:t>
            </a:r>
            <a:endParaRPr lang="en-US" sz="1600" dirty="0"/>
          </a:p>
        </p:txBody>
      </p:sp>
      <p:pic>
        <p:nvPicPr>
          <p:cNvPr id="34" name="Image 5" descr="D:\info\0507_Weekly-Report\Operations-Weekly-Report\automation\icons\pin_gra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18020" y="2103120"/>
            <a:ext cx="137160" cy="137160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7200900" y="2057400"/>
            <a:ext cx="4320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最高回報站點：C｜雲林/小北百貨雲林民生南店站（3件）</a:t>
            </a:r>
            <a:endParaRPr lang="en-US" sz="1050" dirty="0"/>
          </a:p>
        </p:txBody>
      </p:sp>
      <p:sp>
        <p:nvSpPr>
          <p:cNvPr id="36" name="Shape 28"/>
          <p:cNvSpPr/>
          <p:nvPr/>
        </p:nvSpPr>
        <p:spPr>
          <a:xfrm>
            <a:off x="6460236" y="2712720"/>
            <a:ext cx="5116068" cy="1057656"/>
          </a:xfrm>
          <a:prstGeom prst="roundRect">
            <a:avLst>
              <a:gd name="adj" fmla="val 5187"/>
            </a:avLst>
          </a:prstGeom>
          <a:solidFill>
            <a:srgbClr val="F8F9FB"/>
          </a:solidFill>
          <a:ln/>
        </p:spPr>
      </p:sp>
      <p:sp>
        <p:nvSpPr>
          <p:cNvPr id="37" name="Text 29"/>
          <p:cNvSpPr/>
          <p:nvPr/>
        </p:nvSpPr>
        <p:spPr>
          <a:xfrm>
            <a:off x="6569964" y="2813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2</a:t>
            </a:r>
            <a:endParaRPr lang="en-US" sz="1800" dirty="0"/>
          </a:p>
        </p:txBody>
      </p:sp>
      <p:sp>
        <p:nvSpPr>
          <p:cNvPr id="38" name="Text 30"/>
          <p:cNvSpPr/>
          <p:nvPr/>
        </p:nvSpPr>
        <p:spPr>
          <a:xfrm>
            <a:off x="7018020" y="2767584"/>
            <a:ext cx="4503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螢幕異常顯示/畫面異常</a:t>
            </a:r>
            <a:pPr indent="0" marL="0">
              <a:buNone/>
            </a:pPr>
            <a:r>
              <a:rPr lang="en-US" sz="140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合計 26.1% (6件)</a:t>
            </a:r>
            <a:endParaRPr lang="en-US" sz="1600" dirty="0"/>
          </a:p>
        </p:txBody>
      </p:sp>
      <p:pic>
        <p:nvPicPr>
          <p:cNvPr id="39" name="Image 6" descr="D:\info\0507_Weekly-Report\Operations-Weekly-Report\automation\icons\pin_gra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18020" y="3261360"/>
            <a:ext cx="137160" cy="137160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7200900" y="3215640"/>
            <a:ext cx="4320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最高回報站點：B｜桃園/全聯福利中心大溪僑愛店站（3件）</a:t>
            </a:r>
            <a:endParaRPr lang="en-US" sz="1050" dirty="0"/>
          </a:p>
        </p:txBody>
      </p:sp>
      <p:sp>
        <p:nvSpPr>
          <p:cNvPr id="41" name="Shape 32"/>
          <p:cNvSpPr/>
          <p:nvPr/>
        </p:nvSpPr>
        <p:spPr>
          <a:xfrm>
            <a:off x="6460236" y="3870960"/>
            <a:ext cx="5116068" cy="1057656"/>
          </a:xfrm>
          <a:prstGeom prst="roundRect">
            <a:avLst>
              <a:gd name="adj" fmla="val 5187"/>
            </a:avLst>
          </a:prstGeom>
          <a:solidFill>
            <a:srgbClr val="F8F9FB"/>
          </a:solidFill>
          <a:ln/>
        </p:spPr>
      </p:sp>
      <p:sp>
        <p:nvSpPr>
          <p:cNvPr id="42" name="Text 33"/>
          <p:cNvSpPr/>
          <p:nvPr/>
        </p:nvSpPr>
        <p:spPr>
          <a:xfrm>
            <a:off x="6569964" y="3971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76A9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3</a:t>
            </a:r>
            <a:endParaRPr lang="en-US" sz="1800" dirty="0"/>
          </a:p>
        </p:txBody>
      </p:sp>
      <p:sp>
        <p:nvSpPr>
          <p:cNvPr id="43" name="Text 34"/>
          <p:cNvSpPr/>
          <p:nvPr/>
        </p:nvSpPr>
        <p:spPr>
          <a:xfrm>
            <a:off x="7018020" y="3925824"/>
            <a:ext cx="4503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履帶未作動或異常抖動</a:t>
            </a:r>
            <a:pPr indent="0" marL="0">
              <a:buNone/>
            </a:pPr>
            <a:r>
              <a:rPr lang="en-US" sz="1400" b="1" dirty="0">
                <a:solidFill>
                  <a:srgbClr val="0076A9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合計 13% (3件)</a:t>
            </a:r>
            <a:endParaRPr lang="en-US" sz="1600" dirty="0"/>
          </a:p>
        </p:txBody>
      </p:sp>
      <p:pic>
        <p:nvPicPr>
          <p:cNvPr id="44" name="Image 7" descr="D:\info\0507_Weekly-Report\Operations-Weekly-Report\automation\icons\pin_gray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18020" y="4419600"/>
            <a:ext cx="137160" cy="137160"/>
          </a:xfrm>
          <a:prstGeom prst="rect">
            <a:avLst/>
          </a:prstGeom>
        </p:spPr>
      </p:pic>
      <p:sp>
        <p:nvSpPr>
          <p:cNvPr id="45" name="Text 35"/>
          <p:cNvSpPr/>
          <p:nvPr/>
        </p:nvSpPr>
        <p:spPr>
          <a:xfrm>
            <a:off x="7200900" y="4373880"/>
            <a:ext cx="4320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最高回報站點：C｜彰化/全家溪湖再發店站（1件）</a:t>
            </a:r>
            <a:endParaRPr lang="en-US" sz="1050" dirty="0"/>
          </a:p>
        </p:txBody>
      </p:sp>
      <p:sp>
        <p:nvSpPr>
          <p:cNvPr id="46" name="Shape 36"/>
          <p:cNvSpPr/>
          <p:nvPr/>
        </p:nvSpPr>
        <p:spPr>
          <a:xfrm>
            <a:off x="365760" y="5257800"/>
            <a:ext cx="11430000" cy="777240"/>
          </a:xfrm>
          <a:prstGeom prst="roundRect">
            <a:avLst>
              <a:gd name="adj" fmla="val 9412"/>
            </a:avLst>
          </a:prstGeom>
          <a:solidFill>
            <a:srgbClr val="FAE0B8"/>
          </a:solidFill>
          <a:ln w="15875">
            <a:solidFill>
              <a:srgbClr val="FFCE00"/>
            </a:solidFill>
            <a:prstDash val="solid"/>
          </a:ln>
        </p:spPr>
      </p:sp>
      <p:pic>
        <p:nvPicPr>
          <p:cNvPr id="47" name="Image 8" descr="D:\info\0507_Weekly-Report\Operations-Weekly-Report\automation\icons\war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6928" y="5477256"/>
            <a:ext cx="310896" cy="310896"/>
          </a:xfrm>
          <a:prstGeom prst="rect">
            <a:avLst/>
          </a:prstGeom>
        </p:spPr>
      </p:pic>
      <p:sp>
        <p:nvSpPr>
          <p:cNvPr id="48" name="Text 37"/>
          <p:cNvSpPr/>
          <p:nvPr/>
        </p:nvSpPr>
        <p:spPr>
          <a:xfrm>
            <a:off x="1005840" y="534924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4800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【本週融合洞察】收瓶機客訴集中於「滿艙與登入異常」，其中「機台操作畫面無法登入」逾7成集中於 B｜臺中/全聯福利中心台中大昌店站（11件），建議優先派工檢修；電池機客訴則高度集中於「點數未入帳」（43.5%），建議排查連線補發機制。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73152" cy="329184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14630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33333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月低回收量站點改善清單 Top 10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229600" y="1828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076A9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Hive 站點回收量貢獻／排名（總 530 站）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229600" y="43891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資料更新日期：2026/08/21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68680"/>
          <a:ext cx="1143000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938528"/>
                <a:gridCol w="1124712"/>
                <a:gridCol w="3621024"/>
                <a:gridCol w="1938528"/>
                <a:gridCol w="1938528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等級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Hive排名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（總530）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城市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站點名稱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總回收量（瓶）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MOM排名趨勢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C</a:t>
                      </a:r>
                      <a:endParaRPr lang="en-US" sz="14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516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臺南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全聯福利中心官田中山店站</a:t>
                      </a:r>
                      <a:endParaRPr lang="en-US" sz="11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1,906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C</a:t>
                      </a:r>
                      <a:endParaRPr lang="en-US" sz="14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510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高雄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全聯福利中心湖內中山店站</a:t>
                      </a:r>
                      <a:endParaRPr lang="en-US" sz="11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2,710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C</a:t>
                      </a:r>
                      <a:endParaRPr lang="en-US" sz="14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506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高雄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小北百貨高雄鳳林店站</a:t>
                      </a:r>
                      <a:endParaRPr lang="en-US" sz="11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2,914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C</a:t>
                      </a:r>
                      <a:endParaRPr lang="en-US" sz="14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505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彰化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全家仁德德南店站</a:t>
                      </a:r>
                      <a:endParaRPr lang="en-US" sz="11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2,926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C</a:t>
                      </a:r>
                      <a:endParaRPr lang="en-US" sz="14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500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高雄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全聯福利中心三民十全三店站</a:t>
                      </a:r>
                      <a:endParaRPr lang="en-US" sz="11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3,266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C</a:t>
                      </a:r>
                      <a:endParaRPr lang="en-US" sz="14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448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高雄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日月光高雄K7廠站</a:t>
                      </a:r>
                      <a:endParaRPr lang="en-US" sz="11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5,400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C</a:t>
                      </a:r>
                      <a:endParaRPr lang="en-US" sz="14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437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臺南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全家仁德二仁店站</a:t>
                      </a:r>
                      <a:endParaRPr lang="en-US" sz="11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5,805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C</a:t>
                      </a:r>
                      <a:endParaRPr lang="en-US" sz="14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394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雲林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小北百貨高雄中正店站</a:t>
                      </a:r>
                      <a:endParaRPr lang="en-US" sz="11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6,700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C</a:t>
                      </a:r>
                      <a:endParaRPr lang="en-US" sz="14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380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嘉義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全聯福利中心嘉義湖子內店站</a:t>
                      </a:r>
                      <a:endParaRPr lang="en-US" sz="11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6,942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C</a:t>
                      </a:r>
                      <a:endParaRPr lang="en-US" sz="14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372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彰化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全家員林正新店站</a:t>
                      </a:r>
                      <a:endParaRPr lang="en-US" sz="11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7,066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365760" y="5294376"/>
            <a:ext cx="11430000" cy="548640"/>
          </a:xfrm>
          <a:prstGeom prst="roundRect">
            <a:avLst>
              <a:gd name="adj" fmla="val 10000"/>
            </a:avLst>
          </a:prstGeom>
          <a:solidFill>
            <a:srgbClr val="F5F7FF"/>
          </a:solidFill>
          <a:ln w="9525">
            <a:solidFill>
              <a:srgbClr val="8EB9C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" y="5294376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資料來源：Hive，站點貢獻程度以月回收量分級(最近 30 天塑膠＋鋁罐回收量) (前34%是A,中間33%是B,後面33%是C)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2026-08-21T04:28:47Z</dcterms:created>
  <dcterms:modified xsi:type="dcterms:W3CDTF">2026-08-21T04:28:47Z</dcterms:modified>
</cp:coreProperties>
</file>