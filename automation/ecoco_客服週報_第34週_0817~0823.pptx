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image" Target="../media/image-2-2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ecoco 客服週報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第34週（08/17 ~ 08/23）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(第34週)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188" y="850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61 </a:t>
            </a:r>
            <a:pPr indent="0" marL="0">
              <a:buNone/>
            </a:pP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(165件) 減少 104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DDEAF5"/>
          </a:solidFill>
          <a:ln/>
        </p:spPr>
      </p:sp>
      <p:sp>
        <p:nvSpPr>
          <p:cNvPr id="12" name="Text 9"/>
          <p:cNvSpPr/>
          <p:nvPr/>
        </p:nvSpPr>
        <p:spPr>
          <a:xfrm>
            <a:off x="215341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▼63%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898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15" name="Text 12"/>
          <p:cNvSpPr/>
          <p:nvPr/>
        </p:nvSpPr>
        <p:spPr>
          <a:xfrm>
            <a:off x="345186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8503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寶特瓶滿艙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16.4%（共 10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0" name="Text 16"/>
          <p:cNvSpPr/>
          <p:nvPr/>
        </p:nvSpPr>
        <p:spPr>
          <a:xfrm>
            <a:off x="505663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▲7.3%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23" name="Text 19"/>
          <p:cNvSpPr/>
          <p:nvPr/>
        </p:nvSpPr>
        <p:spPr>
          <a:xfrm>
            <a:off x="635508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850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全家台南萬年店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臺南市（本週 2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8" name="Text 23"/>
          <p:cNvSpPr/>
          <p:nvPr/>
        </p:nvSpPr>
        <p:spPr>
          <a:xfrm>
            <a:off x="795985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▲2件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07542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1" name="Text 26"/>
          <p:cNvSpPr/>
          <p:nvPr/>
        </p:nvSpPr>
        <p:spPr>
          <a:xfrm>
            <a:off x="925830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85039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44.3</a:t>
            </a:r>
            <a:pPr indent="0" marL="0">
              <a:buNone/>
            </a:pP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代表案例類型：忘記密碼/無法重設密碼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36" name="Text 30"/>
          <p:cNvSpPr/>
          <p:nvPr/>
        </p:nvSpPr>
        <p:spPr>
          <a:xfrm>
            <a:off x="1086307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▲4.9%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Text 32"/>
          <p:cNvSpPr/>
          <p:nvPr/>
        </p:nvSpPr>
        <p:spPr>
          <a:xfrm>
            <a:off x="502920" y="243230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07208"/>
          <a:ext cx="7132320" cy="3017520"/>
        </p:xfrm>
        <a:graphic>
          <a:graphicData uri="http://schemas.openxmlformats.org/drawingml/2006/table">
            <a:tbl>
              <a:tblPr/>
              <a:tblGrid>
                <a:gridCol w="1024128"/>
                <a:gridCol w="868680"/>
                <a:gridCol w="868680"/>
                <a:gridCol w="868680"/>
                <a:gridCol w="868680"/>
                <a:gridCol w="868680"/>
                <a:gridCol w="868680"/>
                <a:gridCol w="905256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第31週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159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第32週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19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157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第33週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165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第34週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1" name="Text 34"/>
          <p:cNvSpPr/>
          <p:nvPr/>
        </p:nvSpPr>
        <p:spPr>
          <a:xfrm>
            <a:off x="7909560" y="24323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2807208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772400" y="2807208"/>
            <a:ext cx="54864" cy="11887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4" name="Text 37"/>
          <p:cNvSpPr/>
          <p:nvPr/>
        </p:nvSpPr>
        <p:spPr>
          <a:xfrm>
            <a:off x="7918704" y="29169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其他建議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7件</a:t>
            </a:r>
            <a:pPr indent="0" marL="0">
              <a:buNone/>
            </a:pP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11.5%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1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9" name="Shape 42"/>
          <p:cNvSpPr/>
          <p:nvPr/>
        </p:nvSpPr>
        <p:spPr>
          <a:xfrm>
            <a:off x="7772400" y="4151376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7772400" y="4151376"/>
            <a:ext cx="54864" cy="118872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1" name="Text 44"/>
          <p:cNvSpPr/>
          <p:nvPr/>
        </p:nvSpPr>
        <p:spPr>
          <a:xfrm>
            <a:off x="7918704" y="4261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許願新增站點/設站建議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626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4件</a:t>
            </a:r>
            <a:pPr indent="0" marL="0">
              <a:buNone/>
            </a:pP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6.6%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138928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5" name="Shape 48"/>
          <p:cNvSpPr/>
          <p:nvPr/>
        </p:nvSpPr>
        <p:spPr>
          <a:xfrm>
            <a:off x="8394192" y="5138928"/>
            <a:ext cx="1828800" cy="64008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6" name="Shape 49"/>
          <p:cNvSpPr/>
          <p:nvPr/>
        </p:nvSpPr>
        <p:spPr>
          <a:xfrm>
            <a:off x="7772400" y="5495544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772400" y="5495544"/>
            <a:ext cx="54864" cy="118872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58" name="Text 51"/>
          <p:cNvSpPr/>
          <p:nvPr/>
        </p:nvSpPr>
        <p:spPr>
          <a:xfrm>
            <a:off x="7918704" y="5605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586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5971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4件</a:t>
            </a:r>
            <a:pPr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6.6%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48309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2" name="Shape 55"/>
          <p:cNvSpPr/>
          <p:nvPr/>
        </p:nvSpPr>
        <p:spPr>
          <a:xfrm>
            <a:off x="8394192" y="6483096"/>
            <a:ext cx="1828800" cy="64008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第34週（08/17 ~ 08/23）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7" name="Image 0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42件 (87.5%)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38.1% (16件)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最高回報站點：A｜桃園/全聯福利中心大溪員林店站（2件）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其他建議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11.9% (5件)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最高回報站點：D｜臺南/全聯福利中心仁德德安店站（2件）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7.1% (3件)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最高回報站點：A｜桃園/全聯福利中心平鎮新富店站（1件）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27" name="Image 4" descr="D:\info\0507_Weekly-Report\Operations-Weekly-Report\automation\icons\battery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6件 (12.5%)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辨識失敗異常或錯誤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33.3% (2件)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最高回報站點：E｜臺南/全家台南萬年店站（2件）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6023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7" name="Text 29"/>
          <p:cNvSpPr/>
          <p:nvPr/>
        </p:nvSpPr>
        <p:spPr>
          <a:xfrm>
            <a:off x="656996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701802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16.7% (1件)</a:t>
            </a:r>
            <a:endParaRPr lang="en-US" sz="1600" dirty="0"/>
          </a:p>
        </p:txBody>
      </p:sp>
      <p:pic>
        <p:nvPicPr>
          <p:cNvPr id="39" name="Image 6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020" y="3261360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20090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最高回報站點：D｜臺中/全聯福利中心台中中平店站（1件）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6023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42" name="Text 33"/>
          <p:cNvSpPr/>
          <p:nvPr/>
        </p:nvSpPr>
        <p:spPr>
          <a:xfrm>
            <a:off x="656996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34"/>
          <p:cNvSpPr/>
          <p:nvPr/>
        </p:nvSpPr>
        <p:spPr>
          <a:xfrm>
            <a:off x="701802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螢幕異常顯示/畫面異常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16.7% (1件)</a:t>
            </a:r>
            <a:endParaRPr lang="en-US" sz="1600" dirty="0"/>
          </a:p>
        </p:txBody>
      </p:sp>
      <p:pic>
        <p:nvPicPr>
          <p:cNvPr id="44" name="Image 7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4419600"/>
            <a:ext cx="137160" cy="1371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0090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最高回報站點：C｜高雄/億進寢具鳳屏店站（1件）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</p:sp>
      <p:pic>
        <p:nvPicPr>
          <p:cNvPr id="47" name="Image 8" descr="D:\info\0507_Weekly-Report\Operations-Weekly-Report\automation\icons\war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【本週融合洞察】收瓶機客訴集中於「滿艙問題（回收箱／寶特瓶）」（38.1%，16件），最高回報站點為 A｜桃園/全聯福利中心大溪員林店站（2件），建議優先派工檢修；電池機客訴則集中於「辨識失敗異常或錯誤」（33.3%，2件），建議持續追蹤。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資料更新日期：2026/08/27（區間2026/07/28-08/27）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914400"/>
                <a:gridCol w="2423160"/>
                <a:gridCol w="1371600"/>
                <a:gridCol w="155448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（總542）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縣市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機型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租賃/買斷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近30日合計（瓶）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月增減率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衛生福利部雙和醫院第一醫療大樓站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531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南山高中大中一樓站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516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成功大學光復第二宿舍站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934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515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屏東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全聯福利中心屏東瑞民店站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1,075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514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全聯福利中心總部大樓站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1,600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513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健美洋行南一中體育館站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1,622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512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成功大學學生活動中心(一)站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1,729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511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全聯福利中心右昌店站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1,753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彰化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全聯福利中心彰化田中店站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1,766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509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全聯福利中心三民十全三店站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1,852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66460" y="12984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66460" y="1298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0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9" name="Image 0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353312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7808" y="1298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66460" y="16824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66460" y="1682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66460" y="206654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66460" y="2066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0" y="20665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16" name="Image 1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2121408"/>
            <a:ext cx="146304" cy="1463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07808" y="20665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66460" y="245059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66460" y="2450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966460" y="2834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6646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96646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6646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966460" y="36027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6646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315200" y="360273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27" name="Image 2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3657600"/>
            <a:ext cx="146304" cy="1463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07808" y="3602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966460" y="39867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966460" y="3986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966460" y="43708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66460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966460" y="47548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966460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65760" y="5276088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4360" y="5367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資料來源：Hive，一般站依近 30 個台灣日曆日實際清運的塑膠＋鋁罐瓶數分 S～F；三台以上有效收瓶機獨立列為 ARK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594360" y="5678424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9525">
            <a:solidFill>
              <a:srgbClr val="FF500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94360" y="5678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932688" y="5678424"/>
            <a:ext cx="12017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17,000瓶以上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2161903" y="5678424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9525">
            <a:solidFill>
              <a:srgbClr val="0076A9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161903" y="5678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2500231" y="5678424"/>
            <a:ext cx="12017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13,300～16,999瓶</a:t>
            </a:r>
            <a:endParaRPr lang="en-US" sz="750" dirty="0"/>
          </a:p>
        </p:txBody>
      </p:sp>
      <p:sp>
        <p:nvSpPr>
          <p:cNvPr id="43" name="Shape 37"/>
          <p:cNvSpPr/>
          <p:nvPr/>
        </p:nvSpPr>
        <p:spPr>
          <a:xfrm>
            <a:off x="3729446" y="5678424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9525">
            <a:solidFill>
              <a:srgbClr val="060E9F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3729446" y="5678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4067774" y="5678424"/>
            <a:ext cx="12017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11,100～13,299瓶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5296989" y="5678424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9525">
            <a:solidFill>
              <a:srgbClr val="4F86A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5296989" y="5678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5635317" y="5678424"/>
            <a:ext cx="12017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9,000～11,099瓶</a:t>
            </a:r>
            <a:endParaRPr lang="en-US" sz="750" dirty="0"/>
          </a:p>
        </p:txBody>
      </p:sp>
      <p:sp>
        <p:nvSpPr>
          <p:cNvPr id="49" name="Shape 43"/>
          <p:cNvSpPr/>
          <p:nvPr/>
        </p:nvSpPr>
        <p:spPr>
          <a:xfrm>
            <a:off x="6864531" y="5678424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6864531" y="5678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7202859" y="5678424"/>
            <a:ext cx="12017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6,900～8,999瓶</a:t>
            </a:r>
            <a:endParaRPr lang="en-US" sz="750" dirty="0"/>
          </a:p>
        </p:txBody>
      </p:sp>
      <p:sp>
        <p:nvSpPr>
          <p:cNvPr id="52" name="Shape 46"/>
          <p:cNvSpPr/>
          <p:nvPr/>
        </p:nvSpPr>
        <p:spPr>
          <a:xfrm>
            <a:off x="8432074" y="5678424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8432074" y="5678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8770402" y="5678424"/>
            <a:ext cx="12017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4,100～6,899瓶</a:t>
            </a:r>
            <a:endParaRPr lang="en-US" sz="750" dirty="0"/>
          </a:p>
        </p:txBody>
      </p:sp>
      <p:sp>
        <p:nvSpPr>
          <p:cNvPr id="55" name="Shape 49"/>
          <p:cNvSpPr/>
          <p:nvPr/>
        </p:nvSpPr>
        <p:spPr>
          <a:xfrm>
            <a:off x="9999617" y="5678424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9999617" y="5678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10337945" y="5678424"/>
            <a:ext cx="12017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4,100瓶以下</a:t>
            </a:r>
            <a:endParaRPr lang="en-US" sz="750" dirty="0"/>
          </a:p>
        </p:txBody>
      </p:sp>
      <p:sp>
        <p:nvSpPr>
          <p:cNvPr id="58" name="Text 52"/>
          <p:cNvSpPr/>
          <p:nvPr/>
        </p:nvSpPr>
        <p:spPr>
          <a:xfrm>
            <a:off x="594360" y="597103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※ ARK/3台有效收瓶機/+8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2026-08-27T03:09:27Z</dcterms:created>
  <dcterms:modified xsi:type="dcterms:W3CDTF">2026-08-27T03:09:27Z</dcterms:modified>
</cp:coreProperties>
</file>