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2.png"/><Relationship Id="rId4" Type="http://schemas.openxmlformats.org/officeDocument/2006/relationships/image" Target="../media/image-2-2.png"/><Relationship Id="rId5" Type="http://schemas.openxmlformats.org/officeDocument/2006/relationships/image" Target="../media/image-2-5.png"/><Relationship Id="rId6" Type="http://schemas.openxmlformats.org/officeDocument/2006/relationships/image" Target="../media/image-2-2.png"/><Relationship Id="rId7" Type="http://schemas.openxmlformats.org/officeDocument/2006/relationships/image" Target="../media/image-2-2.png"/><Relationship Id="rId8" Type="http://schemas.openxmlformats.org/officeDocument/2006/relationships/image" Target="../media/image-2-2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1.png"/><Relationship Id="rId3" Type="http://schemas.openxmlformats.org/officeDocument/2006/relationships/image" Target="../media/image-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463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ecoco 客服週報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4" name="Text 2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第34週（08/17 ~ 08/23）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60E9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本週客訴總件數 (第34週)</a:t>
            </a:r>
            <a:endParaRPr lang="en-US" sz="1200" dirty="0"/>
          </a:p>
        </p:txBody>
      </p:sp>
      <p:pic>
        <p:nvPicPr>
          <p:cNvPr id="8" name="Image 0" descr="/home/claude/work/icons/headset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7188" y="850392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61 </a:t>
            </a:r>
            <a:pPr indent="0" marL="0">
              <a:buNone/>
            </a:pPr>
            <a:r>
              <a:rPr lang="en-US" sz="13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件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54864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較上週 (165件) 減少 104 件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15341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DDEAF5"/>
          </a:solidFill>
          <a:ln/>
        </p:spPr>
      </p:sp>
      <p:sp>
        <p:nvSpPr>
          <p:cNvPr id="12" name="Text 9"/>
          <p:cNvSpPr/>
          <p:nvPr/>
        </p:nvSpPr>
        <p:spPr>
          <a:xfrm>
            <a:off x="215341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▼63%</a:t>
            </a:r>
            <a:endParaRPr lang="en-US" sz="1020" dirty="0"/>
          </a:p>
        </p:txBody>
      </p:sp>
      <p:sp>
        <p:nvSpPr>
          <p:cNvPr id="13" name="Shape 10"/>
          <p:cNvSpPr/>
          <p:nvPr/>
        </p:nvSpPr>
        <p:spPr>
          <a:xfrm>
            <a:off x="326898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26898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5000"/>
          </a:solidFill>
          <a:ln/>
        </p:spPr>
      </p:sp>
      <p:sp>
        <p:nvSpPr>
          <p:cNvPr id="15" name="Text 12"/>
          <p:cNvSpPr/>
          <p:nvPr/>
        </p:nvSpPr>
        <p:spPr>
          <a:xfrm>
            <a:off x="345186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回報最高主題</a:t>
            </a:r>
            <a:endParaRPr lang="en-US" sz="1200" dirty="0"/>
          </a:p>
        </p:txBody>
      </p:sp>
      <p:pic>
        <p:nvPicPr>
          <p:cNvPr id="16" name="Image 1" descr="/home/claude/work/icons/warn_ora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408" y="850392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345186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寶特瓶滿艙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345186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佔比 16.4%（共 10 件）</a:t>
            </a:r>
            <a:endParaRPr lang="en-US" sz="920" dirty="0"/>
          </a:p>
        </p:txBody>
      </p:sp>
      <p:sp>
        <p:nvSpPr>
          <p:cNvPr id="19" name="Shape 15"/>
          <p:cNvSpPr/>
          <p:nvPr/>
        </p:nvSpPr>
        <p:spPr>
          <a:xfrm>
            <a:off x="505663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0" name="Text 16"/>
          <p:cNvSpPr/>
          <p:nvPr/>
        </p:nvSpPr>
        <p:spPr>
          <a:xfrm>
            <a:off x="505663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▲7.3%</a:t>
            </a:r>
            <a:endParaRPr lang="en-US" sz="1020" dirty="0"/>
          </a:p>
        </p:txBody>
      </p:sp>
      <p:sp>
        <p:nvSpPr>
          <p:cNvPr id="21" name="Shape 17"/>
          <p:cNvSpPr/>
          <p:nvPr/>
        </p:nvSpPr>
        <p:spPr>
          <a:xfrm>
            <a:off x="617220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617220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0076A9"/>
          </a:solidFill>
          <a:ln/>
        </p:spPr>
      </p:sp>
      <p:sp>
        <p:nvSpPr>
          <p:cNvPr id="23" name="Text 19"/>
          <p:cNvSpPr/>
          <p:nvPr/>
        </p:nvSpPr>
        <p:spPr>
          <a:xfrm>
            <a:off x="635508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客訴量最高站點</a:t>
            </a:r>
            <a:endParaRPr lang="en-US" sz="1200" dirty="0"/>
          </a:p>
        </p:txBody>
      </p:sp>
      <p:pic>
        <p:nvPicPr>
          <p:cNvPr id="24" name="Image 2" descr="/home/claude/work/icons/pin_dark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628" y="850392"/>
            <a:ext cx="256032" cy="25603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508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全家台南萬年店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635508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臺南市（本週 2 件）</a:t>
            </a:r>
            <a:endParaRPr lang="en-US" sz="920" dirty="0"/>
          </a:p>
        </p:txBody>
      </p:sp>
      <p:sp>
        <p:nvSpPr>
          <p:cNvPr id="27" name="Shape 22"/>
          <p:cNvSpPr/>
          <p:nvPr/>
        </p:nvSpPr>
        <p:spPr>
          <a:xfrm>
            <a:off x="795985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28" name="Text 23"/>
          <p:cNvSpPr/>
          <p:nvPr/>
        </p:nvSpPr>
        <p:spPr>
          <a:xfrm>
            <a:off x="795985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▲2件</a:t>
            </a:r>
            <a:endParaRPr lang="en-US" sz="1020" dirty="0"/>
          </a:p>
        </p:txBody>
      </p:sp>
      <p:sp>
        <p:nvSpPr>
          <p:cNvPr id="29" name="Shape 24"/>
          <p:cNvSpPr/>
          <p:nvPr/>
        </p:nvSpPr>
        <p:spPr>
          <a:xfrm>
            <a:off x="9075420" y="685800"/>
            <a:ext cx="2720340" cy="1389888"/>
          </a:xfrm>
          <a:prstGeom prst="roundRect">
            <a:avLst>
              <a:gd name="adj" fmla="val 5921"/>
            </a:avLst>
          </a:prstGeom>
          <a:solidFill>
            <a:srgbClr val="FFFFFF"/>
          </a:solidFill>
          <a:ln w="12700">
            <a:solidFill>
              <a:srgbClr val="E5E5E5"/>
            </a:solidFill>
            <a:prstDash val="solid"/>
          </a:ln>
          <a:effectLst>
            <a:outerShdw sx="100000" sy="100000" kx="0" ky="0" algn="bl" rotWithShape="0" blurRad="63500" dist="19050" dir="5400000">
              <a:srgbClr val="999999">
                <a:alpha val="2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075420" y="685800"/>
            <a:ext cx="2720340" cy="64008"/>
          </a:xfrm>
          <a:prstGeom prst="roundRect">
            <a:avLst>
              <a:gd name="adj" fmla="val 42857"/>
            </a:avLst>
          </a:prstGeom>
          <a:solidFill>
            <a:srgbClr val="FFCE00"/>
          </a:solidFill>
          <a:ln/>
        </p:spPr>
      </p:sp>
      <p:sp>
        <p:nvSpPr>
          <p:cNvPr id="31" name="Text 26"/>
          <p:cNvSpPr/>
          <p:nvPr/>
        </p:nvSpPr>
        <p:spPr>
          <a:xfrm>
            <a:off x="9258300" y="832104"/>
            <a:ext cx="20802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非機台問題佔比</a:t>
            </a:r>
            <a:endParaRPr lang="en-US" sz="1200" dirty="0"/>
          </a:p>
        </p:txBody>
      </p:sp>
      <p:pic>
        <p:nvPicPr>
          <p:cNvPr id="32" name="Image 3" descr="/home/claude/work/icons/usercog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850392"/>
            <a:ext cx="256032" cy="256032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9258300" y="1179576"/>
            <a:ext cx="23545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9C7A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44.3</a:t>
            </a:r>
            <a:pPr indent="0" marL="0">
              <a:buNone/>
            </a:pPr>
            <a:r>
              <a:rPr lang="en-US" sz="1350" b="1" dirty="0">
                <a:solidFill>
                  <a:srgbClr val="9C7A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%</a:t>
            </a:r>
            <a:endParaRPr lang="en-US" sz="2700" dirty="0"/>
          </a:p>
        </p:txBody>
      </p:sp>
      <p:sp>
        <p:nvSpPr>
          <p:cNvPr id="34" name="Text 28"/>
          <p:cNvSpPr/>
          <p:nvPr/>
        </p:nvSpPr>
        <p:spPr>
          <a:xfrm>
            <a:off x="9258300" y="1691640"/>
            <a:ext cx="17145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2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代表案例類型：忘記密碼/無法重設密碼</a:t>
            </a:r>
            <a:endParaRPr lang="en-US" sz="920" dirty="0"/>
          </a:p>
        </p:txBody>
      </p:sp>
      <p:sp>
        <p:nvSpPr>
          <p:cNvPr id="35" name="Shape 29"/>
          <p:cNvSpPr/>
          <p:nvPr/>
        </p:nvSpPr>
        <p:spPr>
          <a:xfrm>
            <a:off x="10863072" y="1691640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FE9DC"/>
          </a:solidFill>
          <a:ln/>
        </p:spPr>
      </p:sp>
      <p:sp>
        <p:nvSpPr>
          <p:cNvPr id="36" name="Text 30"/>
          <p:cNvSpPr/>
          <p:nvPr/>
        </p:nvSpPr>
        <p:spPr>
          <a:xfrm>
            <a:off x="10863072" y="1691640"/>
            <a:ext cx="768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▲4.9%</a:t>
            </a:r>
            <a:endParaRPr lang="en-US" sz="1020" dirty="0"/>
          </a:p>
        </p:txBody>
      </p:sp>
      <p:sp>
        <p:nvSpPr>
          <p:cNvPr id="37" name="Shape 31"/>
          <p:cNvSpPr/>
          <p:nvPr/>
        </p:nvSpPr>
        <p:spPr>
          <a:xfrm>
            <a:off x="36576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8" name="Text 32"/>
          <p:cNvSpPr/>
          <p:nvPr/>
        </p:nvSpPr>
        <p:spPr>
          <a:xfrm>
            <a:off x="502920" y="2432304"/>
            <a:ext cx="6995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客訴趨勢分析（近4週）　單位：件數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07208"/>
          <a:ext cx="7132320" cy="3017520"/>
        </p:xfrm>
        <a:graphic>
          <a:graphicData uri="http://schemas.openxmlformats.org/drawingml/2006/table">
            <a:tbl>
              <a:tblPr/>
              <a:tblGrid>
                <a:gridCol w="1024128"/>
                <a:gridCol w="868680"/>
                <a:gridCol w="868680"/>
                <a:gridCol w="868680"/>
                <a:gridCol w="868680"/>
                <a:gridCol w="868680"/>
                <a:gridCol w="868680"/>
                <a:gridCol w="905256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週次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機台問題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APP帳號設定問題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回收點數問題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顧客關係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優惠券問題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APP使用問題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加總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第31週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8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第32週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19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157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第33週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10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165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第34週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▼66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4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16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2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76A9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3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5000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▲1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E0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61</a:t>
                      </a:r>
                      <a:pPr algn="ctr" indent="0" marL="0">
                        <a:buNone/>
                      </a:pPr>
                      <a:endParaRPr lang="en-US" sz="120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FFFF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▼104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5000"/>
                    </a:solidFill>
                  </a:tcPr>
                </a:tc>
              </a:tr>
            </a:tbl>
          </a:graphicData>
        </a:graphic>
      </p:graphicFrame>
      <p:sp>
        <p:nvSpPr>
          <p:cNvPr id="40" name="Shape 33"/>
          <p:cNvSpPr/>
          <p:nvPr/>
        </p:nvSpPr>
        <p:spPr>
          <a:xfrm>
            <a:off x="7772400" y="2459736"/>
            <a:ext cx="64008" cy="256032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1" name="Text 34"/>
          <p:cNvSpPr/>
          <p:nvPr/>
        </p:nvSpPr>
        <p:spPr>
          <a:xfrm>
            <a:off x="7909560" y="2432304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非機台問題 Top 3</a:t>
            </a:r>
            <a:endParaRPr lang="en-US" sz="1300" dirty="0"/>
          </a:p>
        </p:txBody>
      </p:sp>
      <p:sp>
        <p:nvSpPr>
          <p:cNvPr id="42" name="Shape 35"/>
          <p:cNvSpPr/>
          <p:nvPr/>
        </p:nvSpPr>
        <p:spPr>
          <a:xfrm>
            <a:off x="7772400" y="2807208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FF4EF"/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7772400" y="2807208"/>
            <a:ext cx="54864" cy="1188720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4" name="Text 37"/>
          <p:cNvSpPr/>
          <p:nvPr/>
        </p:nvSpPr>
        <p:spPr>
          <a:xfrm>
            <a:off x="7918704" y="291693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700" dirty="0"/>
          </a:p>
        </p:txBody>
      </p:sp>
      <p:sp>
        <p:nvSpPr>
          <p:cNvPr id="45" name="Text 38"/>
          <p:cNvSpPr/>
          <p:nvPr/>
        </p:nvSpPr>
        <p:spPr>
          <a:xfrm>
            <a:off x="8394192" y="28986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endParaRPr lang="en-US" sz="1250" dirty="0"/>
          </a:p>
        </p:txBody>
      </p:sp>
      <p:sp>
        <p:nvSpPr>
          <p:cNvPr id="46" name="Text 39"/>
          <p:cNvSpPr/>
          <p:nvPr/>
        </p:nvSpPr>
        <p:spPr>
          <a:xfrm>
            <a:off x="8394192" y="32826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7件</a:t>
            </a:r>
            <a:pPr indent="0" marL="0">
              <a:buNone/>
            </a:pPr>
            <a:r>
              <a:rPr lang="en-US" sz="115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11.5%</a:t>
            </a:r>
            <a:endParaRPr lang="en-US" sz="1700" dirty="0"/>
          </a:p>
        </p:txBody>
      </p:sp>
      <p:sp>
        <p:nvSpPr>
          <p:cNvPr id="47" name="Shape 40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48" name="Shape 41"/>
          <p:cNvSpPr/>
          <p:nvPr/>
        </p:nvSpPr>
        <p:spPr>
          <a:xfrm>
            <a:off x="8394192" y="3794760"/>
            <a:ext cx="3200400" cy="64008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49" name="Shape 42"/>
          <p:cNvSpPr/>
          <p:nvPr/>
        </p:nvSpPr>
        <p:spPr>
          <a:xfrm>
            <a:off x="7772400" y="4151376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EEF6FB"/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50" name="Shape 43"/>
          <p:cNvSpPr/>
          <p:nvPr/>
        </p:nvSpPr>
        <p:spPr>
          <a:xfrm>
            <a:off x="7772400" y="4151376"/>
            <a:ext cx="54864" cy="1188720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1" name="Text 44"/>
          <p:cNvSpPr/>
          <p:nvPr/>
        </p:nvSpPr>
        <p:spPr>
          <a:xfrm>
            <a:off x="7918704" y="42611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700" dirty="0"/>
          </a:p>
        </p:txBody>
      </p:sp>
      <p:sp>
        <p:nvSpPr>
          <p:cNvPr id="52" name="Text 45"/>
          <p:cNvSpPr/>
          <p:nvPr/>
        </p:nvSpPr>
        <p:spPr>
          <a:xfrm>
            <a:off x="8394192" y="424281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endParaRPr lang="en-US" sz="1250" dirty="0"/>
          </a:p>
        </p:txBody>
      </p:sp>
      <p:sp>
        <p:nvSpPr>
          <p:cNvPr id="53" name="Text 46"/>
          <p:cNvSpPr/>
          <p:nvPr/>
        </p:nvSpPr>
        <p:spPr>
          <a:xfrm>
            <a:off x="8394192" y="462686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6.6%</a:t>
            </a:r>
            <a:endParaRPr lang="en-US" sz="1700" dirty="0"/>
          </a:p>
        </p:txBody>
      </p:sp>
      <p:sp>
        <p:nvSpPr>
          <p:cNvPr id="54" name="Shape 47"/>
          <p:cNvSpPr/>
          <p:nvPr/>
        </p:nvSpPr>
        <p:spPr>
          <a:xfrm>
            <a:off x="8394192" y="5138928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55" name="Shape 48"/>
          <p:cNvSpPr/>
          <p:nvPr/>
        </p:nvSpPr>
        <p:spPr>
          <a:xfrm>
            <a:off x="8394192" y="5138928"/>
            <a:ext cx="1828800" cy="64008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56" name="Shape 49"/>
          <p:cNvSpPr/>
          <p:nvPr/>
        </p:nvSpPr>
        <p:spPr>
          <a:xfrm>
            <a:off x="7772400" y="5495544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F5F7FF"/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57" name="Shape 50"/>
          <p:cNvSpPr/>
          <p:nvPr/>
        </p:nvSpPr>
        <p:spPr>
          <a:xfrm>
            <a:off x="7772400" y="5495544"/>
            <a:ext cx="54864" cy="1188720"/>
          </a:xfrm>
          <a:prstGeom prst="rect">
            <a:avLst/>
          </a:prstGeom>
          <a:solidFill>
            <a:srgbClr val="060E9F"/>
          </a:solidFill>
          <a:ln/>
        </p:spPr>
      </p:sp>
      <p:sp>
        <p:nvSpPr>
          <p:cNvPr id="58" name="Text 51"/>
          <p:cNvSpPr/>
          <p:nvPr/>
        </p:nvSpPr>
        <p:spPr>
          <a:xfrm>
            <a:off x="7918704" y="560527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700" dirty="0"/>
          </a:p>
        </p:txBody>
      </p:sp>
      <p:sp>
        <p:nvSpPr>
          <p:cNvPr id="59" name="Text 52"/>
          <p:cNvSpPr/>
          <p:nvPr/>
        </p:nvSpPr>
        <p:spPr>
          <a:xfrm>
            <a:off x="8394192" y="558698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許願新增站點/設站建議</a:t>
            </a:r>
            <a:endParaRPr lang="en-US" sz="1250" dirty="0"/>
          </a:p>
        </p:txBody>
      </p:sp>
      <p:sp>
        <p:nvSpPr>
          <p:cNvPr id="60" name="Text 53"/>
          <p:cNvSpPr/>
          <p:nvPr/>
        </p:nvSpPr>
        <p:spPr>
          <a:xfrm>
            <a:off x="8394192" y="597103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4件</a:t>
            </a:r>
            <a:pPr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6.6%</a:t>
            </a:r>
            <a:endParaRPr lang="en-US" sz="1700" dirty="0"/>
          </a:p>
        </p:txBody>
      </p:sp>
      <p:sp>
        <p:nvSpPr>
          <p:cNvPr id="61" name="Shape 54"/>
          <p:cNvSpPr/>
          <p:nvPr/>
        </p:nvSpPr>
        <p:spPr>
          <a:xfrm>
            <a:off x="8394192" y="6483096"/>
            <a:ext cx="3200400" cy="64008"/>
          </a:xfrm>
          <a:prstGeom prst="rect">
            <a:avLst/>
          </a:prstGeom>
          <a:solidFill>
            <a:srgbClr val="E8E8E8"/>
          </a:solidFill>
          <a:ln/>
        </p:spPr>
      </p:sp>
      <p:sp>
        <p:nvSpPr>
          <p:cNvPr id="62" name="Shape 55"/>
          <p:cNvSpPr/>
          <p:nvPr/>
        </p:nvSpPr>
        <p:spPr>
          <a:xfrm>
            <a:off x="8394192" y="6483096"/>
            <a:ext cx="1828800" cy="64008"/>
          </a:xfrm>
          <a:prstGeom prst="rect">
            <a:avLst/>
          </a:prstGeom>
          <a:solidFill>
            <a:srgbClr val="060E9F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0076A9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客訴機台類型與高頻站點分析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9326880" y="164592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060E9F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0" y="1645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第34週（08/17 ~ 08/23）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6576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7" name="Image 0" descr="/home/claude/work/icons/recycle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06984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6070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收瓶機 ／ 方舟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09194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5000"/>
          </a:solidFill>
          <a:ln/>
        </p:spPr>
      </p:sp>
      <p:sp>
        <p:nvSpPr>
          <p:cNvPr id="10" name="Text 7"/>
          <p:cNvSpPr/>
          <p:nvPr/>
        </p:nvSpPr>
        <p:spPr>
          <a:xfrm>
            <a:off x="409194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42件 (87.5%)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14300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滿艙問題（回收箱／寶特瓶）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38.1% (16件)</a:t>
            </a:r>
            <a:endParaRPr lang="en-US" sz="1600" dirty="0"/>
          </a:p>
        </p:txBody>
      </p:sp>
      <p:pic>
        <p:nvPicPr>
          <p:cNvPr id="14" name="Image 1" descr="/home/claude/work/icons/pin_gr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2103120"/>
            <a:ext cx="137160" cy="1371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最高回報站點：A｜桃園/全聯福利中心大溪員林店站（2件）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8521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17" name="Text 13"/>
          <p:cNvSpPr/>
          <p:nvPr/>
        </p:nvSpPr>
        <p:spPr>
          <a:xfrm>
            <a:off x="69494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114300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其他建議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11.9% (5件)</a:t>
            </a:r>
            <a:endParaRPr lang="en-US" sz="1600" dirty="0"/>
          </a:p>
        </p:txBody>
      </p:sp>
      <p:pic>
        <p:nvPicPr>
          <p:cNvPr id="19" name="Image 2" descr="/home/claude/work/icons/pin_gra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261360"/>
            <a:ext cx="137160" cy="1371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32588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最高回報站點：D｜臺南/全聯福利中心仁德德安店站（2件）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8521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22" name="Text 17"/>
          <p:cNvSpPr/>
          <p:nvPr/>
        </p:nvSpPr>
        <p:spPr>
          <a:xfrm>
            <a:off x="69494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114300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7.1% (3件)</a:t>
            </a:r>
            <a:endParaRPr lang="en-US" sz="1600" dirty="0"/>
          </a:p>
        </p:txBody>
      </p:sp>
      <p:pic>
        <p:nvPicPr>
          <p:cNvPr id="24" name="Image 3" descr="/home/claude/work/icons/pin_gra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4419600"/>
            <a:ext cx="137160" cy="1371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2588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最高回報站點：A｜桃園/全聯福利中心平鎮新富店站（1件）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6240780" y="868680"/>
            <a:ext cx="555498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pic>
        <p:nvPicPr>
          <p:cNvPr id="27" name="Image 4" descr="/home/claude/work/icons/battery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6812" y="1069848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935724" y="10241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二代電池機</a:t>
            </a:r>
            <a:endParaRPr lang="en-US" sz="1800" dirty="0"/>
          </a:p>
        </p:txBody>
      </p:sp>
      <p:sp>
        <p:nvSpPr>
          <p:cNvPr id="29" name="Shape 22"/>
          <p:cNvSpPr/>
          <p:nvPr/>
        </p:nvSpPr>
        <p:spPr>
          <a:xfrm>
            <a:off x="9966960" y="106984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FCE00"/>
          </a:solidFill>
          <a:ln/>
        </p:spPr>
      </p:sp>
      <p:sp>
        <p:nvSpPr>
          <p:cNvPr id="30" name="Text 23"/>
          <p:cNvSpPr/>
          <p:nvPr/>
        </p:nvSpPr>
        <p:spPr>
          <a:xfrm>
            <a:off x="9966960" y="106984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6件 (12.5%)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6460236" y="155448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2" name="Text 25"/>
          <p:cNvSpPr/>
          <p:nvPr/>
        </p:nvSpPr>
        <p:spPr>
          <a:xfrm>
            <a:off x="6569964" y="1655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000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6"/>
          <p:cNvSpPr/>
          <p:nvPr/>
        </p:nvSpPr>
        <p:spPr>
          <a:xfrm>
            <a:off x="7018020" y="160934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辨識失敗異常或錯誤</a:t>
            </a:r>
            <a:pPr indent="0" marL="0">
              <a:buNone/>
            </a:pPr>
            <a:r>
              <a:rPr lang="en-US" sz="14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33.3% (2件)</a:t>
            </a:r>
            <a:endParaRPr lang="en-US" sz="1600" dirty="0"/>
          </a:p>
        </p:txBody>
      </p:sp>
      <p:pic>
        <p:nvPicPr>
          <p:cNvPr id="34" name="Image 5" descr="/home/claude/work/icons/pin_gra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18020" y="2103120"/>
            <a:ext cx="137160" cy="13716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7200900" y="205740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最高回報站點：E｜臺南/全家台南萬年店站（2件）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6460236" y="271272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37" name="Text 29"/>
          <p:cNvSpPr/>
          <p:nvPr/>
        </p:nvSpPr>
        <p:spPr>
          <a:xfrm>
            <a:off x="6569964" y="2813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60E9F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2</a:t>
            </a:r>
            <a:endParaRPr lang="en-US" sz="1800" dirty="0"/>
          </a:p>
        </p:txBody>
      </p:sp>
      <p:sp>
        <p:nvSpPr>
          <p:cNvPr id="38" name="Text 30"/>
          <p:cNvSpPr/>
          <p:nvPr/>
        </p:nvSpPr>
        <p:spPr>
          <a:xfrm>
            <a:off x="7018020" y="276758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點數未入帳號</a:t>
            </a:r>
            <a:pPr indent="0" marL="0">
              <a:buNone/>
            </a:pPr>
            <a:r>
              <a:rPr lang="en-US" sz="14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16.7% (1件)</a:t>
            </a:r>
            <a:endParaRPr lang="en-US" sz="1600" dirty="0"/>
          </a:p>
        </p:txBody>
      </p:sp>
      <p:pic>
        <p:nvPicPr>
          <p:cNvPr id="39" name="Image 6" descr="/home/claude/work/icons/pin_gra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8020" y="3261360"/>
            <a:ext cx="137160" cy="13716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7200900" y="321564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最高回報站點：D｜臺中/全聯福利中心台中中平店站（1件）</a:t>
            </a:r>
            <a:endParaRPr lang="en-US" sz="1050" dirty="0"/>
          </a:p>
        </p:txBody>
      </p:sp>
      <p:sp>
        <p:nvSpPr>
          <p:cNvPr id="41" name="Shape 32"/>
          <p:cNvSpPr/>
          <p:nvPr/>
        </p:nvSpPr>
        <p:spPr>
          <a:xfrm>
            <a:off x="6460236" y="3870960"/>
            <a:ext cx="5116068" cy="1057656"/>
          </a:xfrm>
          <a:prstGeom prst="roundRect">
            <a:avLst>
              <a:gd name="adj" fmla="val 5187"/>
            </a:avLst>
          </a:prstGeom>
          <a:solidFill>
            <a:srgbClr val="F8F9FB"/>
          </a:solidFill>
          <a:ln/>
        </p:spPr>
      </p:sp>
      <p:sp>
        <p:nvSpPr>
          <p:cNvPr id="42" name="Text 33"/>
          <p:cNvSpPr/>
          <p:nvPr/>
        </p:nvSpPr>
        <p:spPr>
          <a:xfrm>
            <a:off x="6569964" y="3971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6A9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3</a:t>
            </a:r>
            <a:endParaRPr lang="en-US" sz="1800" dirty="0"/>
          </a:p>
        </p:txBody>
      </p:sp>
      <p:sp>
        <p:nvSpPr>
          <p:cNvPr id="43" name="Text 34"/>
          <p:cNvSpPr/>
          <p:nvPr/>
        </p:nvSpPr>
        <p:spPr>
          <a:xfrm>
            <a:off x="7018020" y="3925824"/>
            <a:ext cx="45034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螢幕異常顯示/畫面異常</a:t>
            </a:r>
            <a:pPr indent="0" marL="0">
              <a:buNone/>
            </a:pPr>
            <a:r>
              <a:rPr lang="en-US" sz="14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　合計 16.7% (1件)</a:t>
            </a:r>
            <a:endParaRPr lang="en-US" sz="1600" dirty="0"/>
          </a:p>
        </p:txBody>
      </p:sp>
      <p:pic>
        <p:nvPicPr>
          <p:cNvPr id="44" name="Image 7" descr="/home/claude/work/icons/pin_gra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18020" y="4419600"/>
            <a:ext cx="137160" cy="13716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7200900" y="4373880"/>
            <a:ext cx="43205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最高回報站點：C｜高雄/億進寢具鳳屏店站（1件）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365760" y="5257800"/>
            <a:ext cx="11430000" cy="777240"/>
          </a:xfrm>
          <a:prstGeom prst="roundRect">
            <a:avLst>
              <a:gd name="adj" fmla="val 9412"/>
            </a:avLst>
          </a:prstGeom>
          <a:solidFill>
            <a:srgbClr val="FAE0B8"/>
          </a:solidFill>
          <a:ln w="15875">
            <a:solidFill>
              <a:srgbClr val="FFCE00"/>
            </a:solidFill>
            <a:prstDash val="solid"/>
          </a:ln>
        </p:spPr>
      </p:sp>
      <p:pic>
        <p:nvPicPr>
          <p:cNvPr id="47" name="Image 8" descr="/home/claude/work/icons/war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5477256"/>
            <a:ext cx="310896" cy="310896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005840" y="534924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4800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【本週融合洞察】收瓶機客訴集中於「滿艙問題（回收箱／寶特瓶）」（38.1%，16件），最高回報站點為 A｜桃園/全聯福利中心大溪員林店站（2件），建議優先派工檢修；電池機客訴則集中於「辨識失敗異常或錯誤」（33.3%，2件），建議持續追蹤。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01168"/>
            <a:ext cx="73152" cy="329184"/>
          </a:xfrm>
          <a:prstGeom prst="rect">
            <a:avLst/>
          </a:prstGeom>
          <a:solidFill>
            <a:srgbClr val="FF50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6304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33333"/>
                </a:solidFill>
                <a:latin typeface="Noto Sans TC Black" pitchFamily="34" charset="0"/>
                <a:ea typeface="Noto Sans TC Black" pitchFamily="34" charset="-122"/>
                <a:cs typeface="Noto Sans TC Black" pitchFamily="34" charset="-120"/>
              </a:rPr>
              <a:t>月低回收量站點改善清單 Top 10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675120" y="2560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資料更新日期：2026/08/26（區間2026/07/27-08/26）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77240"/>
          <a:ext cx="114300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1371600"/>
                <a:gridCol w="914400"/>
                <a:gridCol w="2423160"/>
                <a:gridCol w="1371600"/>
                <a:gridCol w="1554480"/>
                <a:gridCol w="164592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等級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Hive排名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（總542）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縣市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站點名稱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機型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租賃/買斷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近30日合計（瓶）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月增減率</a:t>
                      </a:r>
                      <a:endParaRPr lang="en-US" sz="105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0E9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530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衛生福利部雙和醫院第一醫療大樓站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531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新北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南山高中大中一樓站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516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成功大學光復第二宿舍站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934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515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屏東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全聯福利中心屏東瑞民店站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1,075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514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全聯福利中心總部大樓站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1,600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513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健美洋行南一中體育館站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1,622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512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臺南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成功大學學生活動中心(一)站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1,729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511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全聯福利中心右昌店站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1,753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510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彰化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全聯福利中心彰化田中店站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1,766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88888"/>
                          </a:solidFill>
                          <a:latin typeface="Noto Sans TC Black" pitchFamily="34" charset="0"/>
                          <a:ea typeface="Noto Sans TC Black" pitchFamily="34" charset="-122"/>
                          <a:cs typeface="Noto Sans TC Black" pitchFamily="34" charset="-120"/>
                        </a:rPr>
                        <a:t>F</a:t>
                      </a:r>
                      <a:endParaRPr lang="en-US" sz="1300" dirty="0">
                        <a:latin typeface="Noto Sans TC Black" charset="0"/>
                        <a:ea typeface="Noto Sans TC Black" charset="0"/>
                        <a:cs typeface="Noto Sans TC Black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第 509 名</a:t>
                      </a:r>
                      <a:endParaRPr lang="en-US" sz="10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高雄</a:t>
                      </a:r>
                      <a:endParaRPr lang="en-US" sz="110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333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全聯福利中心三民十全三店站</a:t>
                      </a:r>
                      <a:endParaRPr lang="en-US" sz="11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76A9"/>
                          </a:solidFill>
                          <a:latin typeface="Noto Sans TC Bold" pitchFamily="34" charset="0"/>
                          <a:ea typeface="Noto Sans TC Bold" pitchFamily="34" charset="-122"/>
                          <a:cs typeface="Noto Sans TC Bold" pitchFamily="34" charset="-120"/>
                        </a:rPr>
                        <a:t>1,852</a:t>
                      </a:r>
                      <a:endParaRPr lang="en-US" sz="1200" dirty="0">
                        <a:latin typeface="Noto Sans TC Bold" charset="0"/>
                        <a:ea typeface="Noto Sans TC Bold" charset="0"/>
                        <a:cs typeface="Noto Sans TC Bold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888888"/>
                          </a:solidFill>
                          <a:latin typeface="Noto Sans TC Medium" pitchFamily="34" charset="0"/>
                          <a:ea typeface="Noto Sans TC Medium" pitchFamily="34" charset="-122"/>
                          <a:cs typeface="Noto Sans TC Medium" pitchFamily="34" charset="-120"/>
                        </a:rPr>
                        <a:t>－（首次記錄）</a:t>
                      </a:r>
                      <a:endParaRPr lang="en-US" sz="950" dirty="0">
                        <a:latin typeface="Noto Sans TC Medium" charset="0"/>
                        <a:ea typeface="Noto Sans TC Medium" charset="0"/>
                        <a:cs typeface="Noto Sans TC Medium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66460" y="129844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66460" y="129844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0" y="1298448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9" name="Image 0" descr="/home/claude/work/icons/key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3216" y="1353312"/>
            <a:ext cx="146304" cy="14630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607808" y="1298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966460" y="168249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12700">
            <a:solidFill>
              <a:srgbClr val="FF50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966460" y="168249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H30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966460" y="206654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66460" y="206654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7315200" y="2066544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16" name="Image 1" descr="/home/claude/work/icons/key_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216" y="2121408"/>
            <a:ext cx="146304" cy="1463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607808" y="206654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5966460" y="245059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966460" y="245059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5966460" y="283464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66460" y="283464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966460" y="3218688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5966460" y="321868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5966460" y="3602736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966460" y="360273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7315200" y="3602736"/>
            <a:ext cx="118872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60E9F"/>
            </a:solidFill>
            <a:prstDash val="solid"/>
          </a:ln>
        </p:spPr>
      </p:sp>
      <p:pic>
        <p:nvPicPr>
          <p:cNvPr id="27" name="Image 2" descr="/home/claude/work/icons/key_blu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3216" y="3657600"/>
            <a:ext cx="146304" cy="14630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607808" y="3602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租賃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5966460" y="3986784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12700">
            <a:solidFill>
              <a:srgbClr val="060E9F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966460" y="398678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AI-4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5966460" y="4370832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5966460" y="4370832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5966460" y="475488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12700">
            <a:solidFill>
              <a:srgbClr val="0076A9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66460" y="475488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AI-HD</a:t>
            </a:r>
            <a:endParaRPr lang="en-US" sz="1000" dirty="0"/>
          </a:p>
        </p:txBody>
      </p:sp>
      <p:sp>
        <p:nvSpPr>
          <p:cNvPr id="35" name="Shape 29"/>
          <p:cNvSpPr/>
          <p:nvPr/>
        </p:nvSpPr>
        <p:spPr>
          <a:xfrm>
            <a:off x="365760" y="5276088"/>
            <a:ext cx="11430000" cy="960120"/>
          </a:xfrm>
          <a:prstGeom prst="roundRect">
            <a:avLst>
              <a:gd name="adj" fmla="val 5714"/>
            </a:avLst>
          </a:prstGeom>
          <a:solidFill>
            <a:srgbClr val="F5F7FF"/>
          </a:solidFill>
          <a:ln w="9525">
            <a:solidFill>
              <a:srgbClr val="8EB9C9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594360" y="5367528"/>
            <a:ext cx="10972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資料來源：Hive，一般站依近 30 個台灣日曆日實際清運的塑膠＋鋁罐瓶數分 S～F；三台以上有效收瓶機獨立列為 ARK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594360" y="5678424"/>
            <a:ext cx="292608" cy="219456"/>
          </a:xfrm>
          <a:prstGeom prst="roundRect">
            <a:avLst>
              <a:gd name="adj" fmla="val 50000"/>
            </a:avLst>
          </a:prstGeom>
          <a:solidFill>
            <a:srgbClr val="FF5000">
              <a:alpha val="15000"/>
            </a:srgbClr>
          </a:solidFill>
          <a:ln w="9525">
            <a:solidFill>
              <a:srgbClr val="FF50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94360" y="567842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500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932688" y="5678424"/>
            <a:ext cx="12017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17,000瓶以上</a:t>
            </a:r>
            <a:endParaRPr lang="en-US" sz="750" dirty="0"/>
          </a:p>
        </p:txBody>
      </p:sp>
      <p:sp>
        <p:nvSpPr>
          <p:cNvPr id="40" name="Shape 34"/>
          <p:cNvSpPr/>
          <p:nvPr/>
        </p:nvSpPr>
        <p:spPr>
          <a:xfrm>
            <a:off x="2161903" y="5678424"/>
            <a:ext cx="292608" cy="219456"/>
          </a:xfrm>
          <a:prstGeom prst="roundRect">
            <a:avLst>
              <a:gd name="adj" fmla="val 50000"/>
            </a:avLst>
          </a:prstGeom>
          <a:solidFill>
            <a:srgbClr val="0076A9">
              <a:alpha val="15000"/>
            </a:srgbClr>
          </a:solidFill>
          <a:ln w="9525">
            <a:solidFill>
              <a:srgbClr val="0076A9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161903" y="567842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76A9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Text 36"/>
          <p:cNvSpPr/>
          <p:nvPr/>
        </p:nvSpPr>
        <p:spPr>
          <a:xfrm>
            <a:off x="2500231" y="5678424"/>
            <a:ext cx="12017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13,300～16,999瓶</a:t>
            </a:r>
            <a:endParaRPr lang="en-US" sz="750" dirty="0"/>
          </a:p>
        </p:txBody>
      </p:sp>
      <p:sp>
        <p:nvSpPr>
          <p:cNvPr id="43" name="Shape 37"/>
          <p:cNvSpPr/>
          <p:nvPr/>
        </p:nvSpPr>
        <p:spPr>
          <a:xfrm>
            <a:off x="3729446" y="5678424"/>
            <a:ext cx="292608" cy="219456"/>
          </a:xfrm>
          <a:prstGeom prst="roundRect">
            <a:avLst>
              <a:gd name="adj" fmla="val 50000"/>
            </a:avLst>
          </a:prstGeom>
          <a:solidFill>
            <a:srgbClr val="060E9F">
              <a:alpha val="15000"/>
            </a:srgbClr>
          </a:solidFill>
          <a:ln w="9525">
            <a:solidFill>
              <a:srgbClr val="060E9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3729446" y="567842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0E9F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Text 39"/>
          <p:cNvSpPr/>
          <p:nvPr/>
        </p:nvSpPr>
        <p:spPr>
          <a:xfrm>
            <a:off x="4067774" y="5678424"/>
            <a:ext cx="12017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11,100～13,299瓶</a:t>
            </a:r>
            <a:endParaRPr lang="en-US" sz="750" dirty="0"/>
          </a:p>
        </p:txBody>
      </p:sp>
      <p:sp>
        <p:nvSpPr>
          <p:cNvPr id="46" name="Shape 40"/>
          <p:cNvSpPr/>
          <p:nvPr/>
        </p:nvSpPr>
        <p:spPr>
          <a:xfrm>
            <a:off x="5296989" y="5678424"/>
            <a:ext cx="292608" cy="219456"/>
          </a:xfrm>
          <a:prstGeom prst="roundRect">
            <a:avLst>
              <a:gd name="adj" fmla="val 50000"/>
            </a:avLst>
          </a:prstGeom>
          <a:solidFill>
            <a:srgbClr val="4F86A0">
              <a:alpha val="15000"/>
            </a:srgbClr>
          </a:solidFill>
          <a:ln w="9525">
            <a:solidFill>
              <a:srgbClr val="4F86A0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5296989" y="567842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F86A0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2"/>
          <p:cNvSpPr/>
          <p:nvPr/>
        </p:nvSpPr>
        <p:spPr>
          <a:xfrm>
            <a:off x="5635317" y="5678424"/>
            <a:ext cx="12017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9,000～11,099瓶</a:t>
            </a:r>
            <a:endParaRPr lang="en-US" sz="750" dirty="0"/>
          </a:p>
        </p:txBody>
      </p:sp>
      <p:sp>
        <p:nvSpPr>
          <p:cNvPr id="49" name="Shape 43"/>
          <p:cNvSpPr/>
          <p:nvPr/>
        </p:nvSpPr>
        <p:spPr>
          <a:xfrm>
            <a:off x="6864531" y="5678424"/>
            <a:ext cx="292608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0" name="Text 44"/>
          <p:cNvSpPr/>
          <p:nvPr/>
        </p:nvSpPr>
        <p:spPr>
          <a:xfrm>
            <a:off x="6864531" y="567842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D</a:t>
            </a:r>
            <a:endParaRPr lang="en-US" sz="900" dirty="0"/>
          </a:p>
        </p:txBody>
      </p:sp>
      <p:sp>
        <p:nvSpPr>
          <p:cNvPr id="51" name="Text 45"/>
          <p:cNvSpPr/>
          <p:nvPr/>
        </p:nvSpPr>
        <p:spPr>
          <a:xfrm>
            <a:off x="7202859" y="5678424"/>
            <a:ext cx="12017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6,900～8,999瓶</a:t>
            </a:r>
            <a:endParaRPr lang="en-US" sz="750" dirty="0"/>
          </a:p>
        </p:txBody>
      </p:sp>
      <p:sp>
        <p:nvSpPr>
          <p:cNvPr id="52" name="Shape 46"/>
          <p:cNvSpPr/>
          <p:nvPr/>
        </p:nvSpPr>
        <p:spPr>
          <a:xfrm>
            <a:off x="8432074" y="5678424"/>
            <a:ext cx="292608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3" name="Text 47"/>
          <p:cNvSpPr/>
          <p:nvPr/>
        </p:nvSpPr>
        <p:spPr>
          <a:xfrm>
            <a:off x="8432074" y="567842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Text 48"/>
          <p:cNvSpPr/>
          <p:nvPr/>
        </p:nvSpPr>
        <p:spPr>
          <a:xfrm>
            <a:off x="8770402" y="5678424"/>
            <a:ext cx="12017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4,100～6,899瓶</a:t>
            </a:r>
            <a:endParaRPr lang="en-US" sz="750" dirty="0"/>
          </a:p>
        </p:txBody>
      </p:sp>
      <p:sp>
        <p:nvSpPr>
          <p:cNvPr id="55" name="Shape 49"/>
          <p:cNvSpPr/>
          <p:nvPr/>
        </p:nvSpPr>
        <p:spPr>
          <a:xfrm>
            <a:off x="9999617" y="5678424"/>
            <a:ext cx="292608" cy="219456"/>
          </a:xfrm>
          <a:prstGeom prst="roundRect">
            <a:avLst>
              <a:gd name="adj" fmla="val 50000"/>
            </a:avLst>
          </a:prstGeom>
          <a:solidFill>
            <a:srgbClr val="888888">
              <a:alpha val="15000"/>
            </a:srgbClr>
          </a:solidFill>
          <a:ln w="9525">
            <a:solidFill>
              <a:srgbClr val="888888"/>
            </a:solidFill>
            <a:prstDash val="solid"/>
          </a:ln>
        </p:spPr>
      </p:sp>
      <p:sp>
        <p:nvSpPr>
          <p:cNvPr id="56" name="Text 50"/>
          <p:cNvSpPr/>
          <p:nvPr/>
        </p:nvSpPr>
        <p:spPr>
          <a:xfrm>
            <a:off x="9999617" y="5678424"/>
            <a:ext cx="292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Noto Sans TC Bold" pitchFamily="34" charset="0"/>
                <a:ea typeface="Noto Sans TC Bold" pitchFamily="34" charset="-122"/>
                <a:cs typeface="Noto Sans TC Bold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Text 51"/>
          <p:cNvSpPr/>
          <p:nvPr/>
        </p:nvSpPr>
        <p:spPr>
          <a:xfrm>
            <a:off x="10337945" y="5678424"/>
            <a:ext cx="12017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4,100瓶以下</a:t>
            </a:r>
            <a:endParaRPr lang="en-US" sz="750" dirty="0"/>
          </a:p>
        </p:txBody>
      </p:sp>
      <p:sp>
        <p:nvSpPr>
          <p:cNvPr id="58" name="Text 52"/>
          <p:cNvSpPr/>
          <p:nvPr/>
        </p:nvSpPr>
        <p:spPr>
          <a:xfrm>
            <a:off x="594360" y="5971032"/>
            <a:ext cx="10972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Noto Sans TC Medium" pitchFamily="34" charset="0"/>
                <a:ea typeface="Noto Sans TC Medium" pitchFamily="34" charset="-122"/>
                <a:cs typeface="Noto Sans TC Medium" pitchFamily="34" charset="-120"/>
              </a:rPr>
              <a:t>※ ARK/3台有效收瓶機/+8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2026-08-26T08:45:29Z</dcterms:created>
  <dcterms:modified xsi:type="dcterms:W3CDTF">2026-08-26T08:45:29Z</dcterms:modified>
</cp:coreProperties>
</file>