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2.png"/><Relationship Id="rId4" Type="http://schemas.openxmlformats.org/officeDocument/2006/relationships/image" Target="../media/image-2-2.png"/><Relationship Id="rId5" Type="http://schemas.openxmlformats.org/officeDocument/2006/relationships/image" Target="../media/image-2-5.png"/><Relationship Id="rId6" Type="http://schemas.openxmlformats.org/officeDocument/2006/relationships/image" Target="../media/image-2-2.png"/><Relationship Id="rId7" Type="http://schemas.openxmlformats.org/officeDocument/2006/relationships/image" Target="../media/image-2-2.png"/><Relationship Id="rId8" Type="http://schemas.openxmlformats.org/officeDocument/2006/relationships/image" Target="../media/image-2-2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1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463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ecoco 客服週報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326880" y="164592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060E9F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0" y="1645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第34週（08/17 ~ 08/23）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65760" y="685800"/>
            <a:ext cx="2720340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9050" dir="5400000">
              <a:srgbClr val="999999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685800"/>
            <a:ext cx="2720340" cy="64008"/>
          </a:xfrm>
          <a:prstGeom prst="roundRect">
            <a:avLst>
              <a:gd name="adj" fmla="val 42857"/>
            </a:avLst>
          </a:prstGeom>
          <a:solidFill>
            <a:srgbClr val="060E9F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832104"/>
            <a:ext cx="20802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本週客訴總件數 (第34週)</a:t>
            </a:r>
            <a:endParaRPr lang="en-US" sz="1200" dirty="0"/>
          </a:p>
        </p:txBody>
      </p:sp>
      <p:pic>
        <p:nvPicPr>
          <p:cNvPr id="8" name="Image 0" descr="D:\info\0507_Weekly-Report\Operations-Weekly-Report\automation\icons\headset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47188" y="850392"/>
            <a:ext cx="256032" cy="2560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8640" y="11795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61 </a:t>
            </a:r>
            <a:pPr indent="0" marL="0">
              <a:buNone/>
            </a:pPr>
            <a:r>
              <a:rPr lang="en-US" sz="135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件</a:t>
            </a:r>
            <a:endParaRPr lang="en-US" sz="2700" dirty="0"/>
          </a:p>
        </p:txBody>
      </p:sp>
      <p:sp>
        <p:nvSpPr>
          <p:cNvPr id="10" name="Text 7"/>
          <p:cNvSpPr/>
          <p:nvPr/>
        </p:nvSpPr>
        <p:spPr>
          <a:xfrm>
            <a:off x="548640" y="1691640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較上週 (165件) 減少 104 件</a:t>
            </a:r>
            <a:endParaRPr lang="en-US" sz="920" dirty="0"/>
          </a:p>
        </p:txBody>
      </p:sp>
      <p:sp>
        <p:nvSpPr>
          <p:cNvPr id="11" name="Shape 8"/>
          <p:cNvSpPr/>
          <p:nvPr/>
        </p:nvSpPr>
        <p:spPr>
          <a:xfrm>
            <a:off x="2153412" y="16916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DDEAF5"/>
          </a:solidFill>
          <a:ln/>
        </p:spPr>
      </p:sp>
      <p:sp>
        <p:nvSpPr>
          <p:cNvPr id="12" name="Text 9"/>
          <p:cNvSpPr/>
          <p:nvPr/>
        </p:nvSpPr>
        <p:spPr>
          <a:xfrm>
            <a:off x="2153412" y="1691640"/>
            <a:ext cx="768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▼63%</a:t>
            </a:r>
            <a:endParaRPr lang="en-US" sz="1020" dirty="0"/>
          </a:p>
        </p:txBody>
      </p:sp>
      <p:sp>
        <p:nvSpPr>
          <p:cNvPr id="13" name="Shape 10"/>
          <p:cNvSpPr/>
          <p:nvPr/>
        </p:nvSpPr>
        <p:spPr>
          <a:xfrm>
            <a:off x="3268980" y="685800"/>
            <a:ext cx="2720340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9050" dir="5400000">
              <a:srgbClr val="999999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268980" y="685800"/>
            <a:ext cx="2720340" cy="64008"/>
          </a:xfrm>
          <a:prstGeom prst="roundRect">
            <a:avLst>
              <a:gd name="adj" fmla="val 42857"/>
            </a:avLst>
          </a:prstGeom>
          <a:solidFill>
            <a:srgbClr val="FF5000"/>
          </a:solidFill>
          <a:ln/>
        </p:spPr>
      </p:sp>
      <p:sp>
        <p:nvSpPr>
          <p:cNvPr id="15" name="Text 12"/>
          <p:cNvSpPr/>
          <p:nvPr/>
        </p:nvSpPr>
        <p:spPr>
          <a:xfrm>
            <a:off x="3451860" y="832104"/>
            <a:ext cx="20802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回報最高主題</a:t>
            </a:r>
            <a:endParaRPr lang="en-US" sz="1200" dirty="0"/>
          </a:p>
        </p:txBody>
      </p:sp>
      <p:pic>
        <p:nvPicPr>
          <p:cNvPr id="16" name="Image 1" descr="D:\info\0507_Weekly-Report\Operations-Weekly-Report\automation\icons\warn_oran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0408" y="850392"/>
            <a:ext cx="256032" cy="25603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451860" y="11795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寶特瓶滿艙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3451860" y="1691640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佔比 16.4%（共 10 件）</a:t>
            </a:r>
            <a:endParaRPr lang="en-US" sz="920" dirty="0"/>
          </a:p>
        </p:txBody>
      </p:sp>
      <p:sp>
        <p:nvSpPr>
          <p:cNvPr id="19" name="Shape 15"/>
          <p:cNvSpPr/>
          <p:nvPr/>
        </p:nvSpPr>
        <p:spPr>
          <a:xfrm>
            <a:off x="5056632" y="16916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FE9DC"/>
          </a:solidFill>
          <a:ln/>
        </p:spPr>
      </p:sp>
      <p:sp>
        <p:nvSpPr>
          <p:cNvPr id="20" name="Text 16"/>
          <p:cNvSpPr/>
          <p:nvPr/>
        </p:nvSpPr>
        <p:spPr>
          <a:xfrm>
            <a:off x="5056632" y="1691640"/>
            <a:ext cx="768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▲7.3%</a:t>
            </a:r>
            <a:endParaRPr lang="en-US" sz="1020" dirty="0"/>
          </a:p>
        </p:txBody>
      </p:sp>
      <p:sp>
        <p:nvSpPr>
          <p:cNvPr id="21" name="Shape 17"/>
          <p:cNvSpPr/>
          <p:nvPr/>
        </p:nvSpPr>
        <p:spPr>
          <a:xfrm>
            <a:off x="6172200" y="685800"/>
            <a:ext cx="2720340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9050" dir="5400000">
              <a:srgbClr val="999999">
                <a:alpha val="20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172200" y="685800"/>
            <a:ext cx="2720340" cy="64008"/>
          </a:xfrm>
          <a:prstGeom prst="roundRect">
            <a:avLst>
              <a:gd name="adj" fmla="val 42857"/>
            </a:avLst>
          </a:prstGeom>
          <a:solidFill>
            <a:srgbClr val="0076A9"/>
          </a:solidFill>
          <a:ln/>
        </p:spPr>
      </p:sp>
      <p:sp>
        <p:nvSpPr>
          <p:cNvPr id="23" name="Text 19"/>
          <p:cNvSpPr/>
          <p:nvPr/>
        </p:nvSpPr>
        <p:spPr>
          <a:xfrm>
            <a:off x="6355080" y="832104"/>
            <a:ext cx="20802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客訴量最高站點</a:t>
            </a:r>
            <a:endParaRPr lang="en-US" sz="1200" dirty="0"/>
          </a:p>
        </p:txBody>
      </p:sp>
      <p:pic>
        <p:nvPicPr>
          <p:cNvPr id="24" name="Image 2" descr="D:\info\0507_Weekly-Report\Operations-Weekly-Report\automation\icons\pin_dark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3628" y="850392"/>
            <a:ext cx="256032" cy="25603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355080" y="11795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76A9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全家台南萬年店</a:t>
            </a:r>
            <a:endParaRPr lang="en-US" sz="1550" dirty="0"/>
          </a:p>
        </p:txBody>
      </p:sp>
      <p:sp>
        <p:nvSpPr>
          <p:cNvPr id="26" name="Text 21"/>
          <p:cNvSpPr/>
          <p:nvPr/>
        </p:nvSpPr>
        <p:spPr>
          <a:xfrm>
            <a:off x="6355080" y="1691640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臺南市（本週 2 件）</a:t>
            </a:r>
            <a:endParaRPr lang="en-US" sz="920" dirty="0"/>
          </a:p>
        </p:txBody>
      </p:sp>
      <p:sp>
        <p:nvSpPr>
          <p:cNvPr id="27" name="Shape 22"/>
          <p:cNvSpPr/>
          <p:nvPr/>
        </p:nvSpPr>
        <p:spPr>
          <a:xfrm>
            <a:off x="7959852" y="16916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FE9DC"/>
          </a:solidFill>
          <a:ln/>
        </p:spPr>
      </p:sp>
      <p:sp>
        <p:nvSpPr>
          <p:cNvPr id="28" name="Text 23"/>
          <p:cNvSpPr/>
          <p:nvPr/>
        </p:nvSpPr>
        <p:spPr>
          <a:xfrm>
            <a:off x="7959852" y="1691640"/>
            <a:ext cx="768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▲2件</a:t>
            </a:r>
            <a:endParaRPr lang="en-US" sz="1020" dirty="0"/>
          </a:p>
        </p:txBody>
      </p:sp>
      <p:sp>
        <p:nvSpPr>
          <p:cNvPr id="29" name="Shape 24"/>
          <p:cNvSpPr/>
          <p:nvPr/>
        </p:nvSpPr>
        <p:spPr>
          <a:xfrm>
            <a:off x="9075420" y="685800"/>
            <a:ext cx="2720340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9050" dir="5400000">
              <a:srgbClr val="999999">
                <a:alpha val="20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9075420" y="685800"/>
            <a:ext cx="2720340" cy="64008"/>
          </a:xfrm>
          <a:prstGeom prst="roundRect">
            <a:avLst>
              <a:gd name="adj" fmla="val 42857"/>
            </a:avLst>
          </a:prstGeom>
          <a:solidFill>
            <a:srgbClr val="FFCE00"/>
          </a:solidFill>
          <a:ln/>
        </p:spPr>
      </p:sp>
      <p:sp>
        <p:nvSpPr>
          <p:cNvPr id="31" name="Text 26"/>
          <p:cNvSpPr/>
          <p:nvPr/>
        </p:nvSpPr>
        <p:spPr>
          <a:xfrm>
            <a:off x="9258300" y="832104"/>
            <a:ext cx="20802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非機台問題佔比</a:t>
            </a:r>
            <a:endParaRPr lang="en-US" sz="1200" dirty="0"/>
          </a:p>
        </p:txBody>
      </p:sp>
      <p:pic>
        <p:nvPicPr>
          <p:cNvPr id="32" name="Image 3" descr="D:\info\0507_Weekly-Report\Operations-Weekly-Report\automation\icons\usercog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850392"/>
            <a:ext cx="256032" cy="256032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9258300" y="11795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C7A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44.3</a:t>
            </a:r>
            <a:pPr indent="0" marL="0">
              <a:buNone/>
            </a:pPr>
            <a:r>
              <a:rPr lang="en-US" sz="1350" b="1" dirty="0">
                <a:solidFill>
                  <a:srgbClr val="9C7A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%</a:t>
            </a:r>
            <a:endParaRPr lang="en-US" sz="2700" dirty="0"/>
          </a:p>
        </p:txBody>
      </p:sp>
      <p:sp>
        <p:nvSpPr>
          <p:cNvPr id="34" name="Text 28"/>
          <p:cNvSpPr/>
          <p:nvPr/>
        </p:nvSpPr>
        <p:spPr>
          <a:xfrm>
            <a:off x="9258300" y="1691640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代表案例類型：忘記密碼/無法重設密碼</a:t>
            </a:r>
            <a:endParaRPr lang="en-US" sz="920" dirty="0"/>
          </a:p>
        </p:txBody>
      </p:sp>
      <p:sp>
        <p:nvSpPr>
          <p:cNvPr id="35" name="Shape 29"/>
          <p:cNvSpPr/>
          <p:nvPr/>
        </p:nvSpPr>
        <p:spPr>
          <a:xfrm>
            <a:off x="10863072" y="16916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FE9DC"/>
          </a:solidFill>
          <a:ln/>
        </p:spPr>
      </p:sp>
      <p:sp>
        <p:nvSpPr>
          <p:cNvPr id="36" name="Text 30"/>
          <p:cNvSpPr/>
          <p:nvPr/>
        </p:nvSpPr>
        <p:spPr>
          <a:xfrm>
            <a:off x="10863072" y="1691640"/>
            <a:ext cx="768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▲4.9%</a:t>
            </a:r>
            <a:endParaRPr lang="en-US" sz="1020" dirty="0"/>
          </a:p>
        </p:txBody>
      </p:sp>
      <p:sp>
        <p:nvSpPr>
          <p:cNvPr id="37" name="Shape 31"/>
          <p:cNvSpPr/>
          <p:nvPr/>
        </p:nvSpPr>
        <p:spPr>
          <a:xfrm>
            <a:off x="365760" y="2459736"/>
            <a:ext cx="64008" cy="256032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38" name="Text 32"/>
          <p:cNvSpPr/>
          <p:nvPr/>
        </p:nvSpPr>
        <p:spPr>
          <a:xfrm>
            <a:off x="502920" y="2432304"/>
            <a:ext cx="6995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客訴趨勢分析（近4週）　單位：件數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807208"/>
          <a:ext cx="7132320" cy="3017520"/>
        </p:xfrm>
        <a:graphic>
          <a:graphicData uri="http://schemas.openxmlformats.org/drawingml/2006/table">
            <a:tbl>
              <a:tblPr/>
              <a:tblGrid>
                <a:gridCol w="1024128"/>
                <a:gridCol w="868680"/>
                <a:gridCol w="868680"/>
                <a:gridCol w="868680"/>
                <a:gridCol w="868680"/>
                <a:gridCol w="868680"/>
                <a:gridCol w="868680"/>
                <a:gridCol w="905256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週次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機台問題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APP帳號設定問題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回收點數問題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顧客關係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優惠券問題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APP使用問題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加總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第31週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106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3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11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11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8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159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第32週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106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3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13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19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157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第33週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100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33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▲14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165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第34週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34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▼66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4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▼16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▼17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3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61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▼104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</a:tbl>
          </a:graphicData>
        </a:graphic>
      </p:graphicFrame>
      <p:sp>
        <p:nvSpPr>
          <p:cNvPr id="40" name="Shape 33"/>
          <p:cNvSpPr/>
          <p:nvPr/>
        </p:nvSpPr>
        <p:spPr>
          <a:xfrm>
            <a:off x="7772400" y="2459736"/>
            <a:ext cx="64008" cy="256032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1" name="Text 34"/>
          <p:cNvSpPr/>
          <p:nvPr/>
        </p:nvSpPr>
        <p:spPr>
          <a:xfrm>
            <a:off x="7909560" y="2432304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非機台問題 Top 3</a:t>
            </a:r>
            <a:endParaRPr lang="en-US" sz="1300" dirty="0"/>
          </a:p>
        </p:txBody>
      </p:sp>
      <p:sp>
        <p:nvSpPr>
          <p:cNvPr id="42" name="Shape 35"/>
          <p:cNvSpPr/>
          <p:nvPr/>
        </p:nvSpPr>
        <p:spPr>
          <a:xfrm>
            <a:off x="7772400" y="2807208"/>
            <a:ext cx="4023360" cy="1188720"/>
          </a:xfrm>
          <a:prstGeom prst="roundRect">
            <a:avLst>
              <a:gd name="adj" fmla="val 6154"/>
            </a:avLst>
          </a:prstGeom>
          <a:solidFill>
            <a:srgbClr val="FFF4EF"/>
          </a:solidFill>
          <a:ln w="12700">
            <a:solidFill>
              <a:srgbClr val="FF5000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7772400" y="2807208"/>
            <a:ext cx="54864" cy="118872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4" name="Text 37"/>
          <p:cNvSpPr/>
          <p:nvPr/>
        </p:nvSpPr>
        <p:spPr>
          <a:xfrm>
            <a:off x="7918704" y="291693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1</a:t>
            </a:r>
            <a:endParaRPr lang="en-US" sz="1700" dirty="0"/>
          </a:p>
        </p:txBody>
      </p:sp>
      <p:sp>
        <p:nvSpPr>
          <p:cNvPr id="45" name="Text 38"/>
          <p:cNvSpPr/>
          <p:nvPr/>
        </p:nvSpPr>
        <p:spPr>
          <a:xfrm>
            <a:off x="8394192" y="289864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其他建議</a:t>
            </a:r>
            <a:endParaRPr lang="en-US" sz="1250" dirty="0"/>
          </a:p>
        </p:txBody>
      </p:sp>
      <p:sp>
        <p:nvSpPr>
          <p:cNvPr id="46" name="Text 39"/>
          <p:cNvSpPr/>
          <p:nvPr/>
        </p:nvSpPr>
        <p:spPr>
          <a:xfrm>
            <a:off x="8394192" y="328269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7件</a:t>
            </a:r>
            <a:pPr indent="0" marL="0">
              <a:buNone/>
            </a:pPr>
            <a:r>
              <a:rPr lang="en-US" sz="115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11.5%</a:t>
            </a:r>
            <a:endParaRPr lang="en-US" sz="1700" dirty="0"/>
          </a:p>
        </p:txBody>
      </p:sp>
      <p:sp>
        <p:nvSpPr>
          <p:cNvPr id="47" name="Shape 40"/>
          <p:cNvSpPr/>
          <p:nvPr/>
        </p:nvSpPr>
        <p:spPr>
          <a:xfrm>
            <a:off x="8394192" y="3794760"/>
            <a:ext cx="3200400" cy="6400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48" name="Shape 41"/>
          <p:cNvSpPr/>
          <p:nvPr/>
        </p:nvSpPr>
        <p:spPr>
          <a:xfrm>
            <a:off x="8394192" y="3794760"/>
            <a:ext cx="3200400" cy="6400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9" name="Shape 42"/>
          <p:cNvSpPr/>
          <p:nvPr/>
        </p:nvSpPr>
        <p:spPr>
          <a:xfrm>
            <a:off x="7772400" y="4151376"/>
            <a:ext cx="4023360" cy="1188720"/>
          </a:xfrm>
          <a:prstGeom prst="roundRect">
            <a:avLst>
              <a:gd name="adj" fmla="val 6154"/>
            </a:avLst>
          </a:prstGeom>
          <a:solidFill>
            <a:srgbClr val="EEF6FB"/>
          </a:solidFill>
          <a:ln w="12700">
            <a:solidFill>
              <a:srgbClr val="0076A9"/>
            </a:solidFill>
            <a:prstDash val="solid"/>
          </a:ln>
        </p:spPr>
      </p:sp>
      <p:sp>
        <p:nvSpPr>
          <p:cNvPr id="50" name="Shape 43"/>
          <p:cNvSpPr/>
          <p:nvPr/>
        </p:nvSpPr>
        <p:spPr>
          <a:xfrm>
            <a:off x="7772400" y="4151376"/>
            <a:ext cx="54864" cy="118872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51" name="Text 44"/>
          <p:cNvSpPr/>
          <p:nvPr/>
        </p:nvSpPr>
        <p:spPr>
          <a:xfrm>
            <a:off x="7918704" y="4261104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6A9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2</a:t>
            </a:r>
            <a:endParaRPr lang="en-US" sz="1700" dirty="0"/>
          </a:p>
        </p:txBody>
      </p:sp>
      <p:sp>
        <p:nvSpPr>
          <p:cNvPr id="52" name="Text 45"/>
          <p:cNvSpPr/>
          <p:nvPr/>
        </p:nvSpPr>
        <p:spPr>
          <a:xfrm>
            <a:off x="8394192" y="424281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許願新增站點/設站建議</a:t>
            </a:r>
            <a:endParaRPr lang="en-US" sz="1250" dirty="0"/>
          </a:p>
        </p:txBody>
      </p:sp>
      <p:sp>
        <p:nvSpPr>
          <p:cNvPr id="53" name="Text 46"/>
          <p:cNvSpPr/>
          <p:nvPr/>
        </p:nvSpPr>
        <p:spPr>
          <a:xfrm>
            <a:off x="8394192" y="46268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6A9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4件</a:t>
            </a:r>
            <a:pPr indent="0" marL="0">
              <a:buNone/>
            </a:pPr>
            <a:r>
              <a:rPr lang="en-US" sz="115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6.6%</a:t>
            </a:r>
            <a:endParaRPr lang="en-US" sz="1700" dirty="0"/>
          </a:p>
        </p:txBody>
      </p:sp>
      <p:sp>
        <p:nvSpPr>
          <p:cNvPr id="54" name="Shape 47"/>
          <p:cNvSpPr/>
          <p:nvPr/>
        </p:nvSpPr>
        <p:spPr>
          <a:xfrm>
            <a:off x="8394192" y="5138928"/>
            <a:ext cx="3200400" cy="6400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5" name="Shape 48"/>
          <p:cNvSpPr/>
          <p:nvPr/>
        </p:nvSpPr>
        <p:spPr>
          <a:xfrm>
            <a:off x="8394192" y="5138928"/>
            <a:ext cx="1828800" cy="64008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56" name="Shape 49"/>
          <p:cNvSpPr/>
          <p:nvPr/>
        </p:nvSpPr>
        <p:spPr>
          <a:xfrm>
            <a:off x="7772400" y="5495544"/>
            <a:ext cx="4023360" cy="1188720"/>
          </a:xfrm>
          <a:prstGeom prst="roundRect">
            <a:avLst>
              <a:gd name="adj" fmla="val 6154"/>
            </a:avLst>
          </a:prstGeom>
          <a:solidFill>
            <a:srgbClr val="F5F7FF"/>
          </a:solidFill>
          <a:ln w="12700">
            <a:solidFill>
              <a:srgbClr val="060E9F"/>
            </a:solidFill>
            <a:prstDash val="solid"/>
          </a:ln>
        </p:spPr>
      </p:sp>
      <p:sp>
        <p:nvSpPr>
          <p:cNvPr id="57" name="Shape 50"/>
          <p:cNvSpPr/>
          <p:nvPr/>
        </p:nvSpPr>
        <p:spPr>
          <a:xfrm>
            <a:off x="7772400" y="5495544"/>
            <a:ext cx="54864" cy="1188720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58" name="Text 51"/>
          <p:cNvSpPr/>
          <p:nvPr/>
        </p:nvSpPr>
        <p:spPr>
          <a:xfrm>
            <a:off x="7918704" y="5605272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3</a:t>
            </a:r>
            <a:endParaRPr lang="en-US" sz="1700" dirty="0"/>
          </a:p>
        </p:txBody>
      </p:sp>
      <p:sp>
        <p:nvSpPr>
          <p:cNvPr id="59" name="Text 52"/>
          <p:cNvSpPr/>
          <p:nvPr/>
        </p:nvSpPr>
        <p:spPr>
          <a:xfrm>
            <a:off x="8394192" y="558698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點數未入帳號</a:t>
            </a:r>
            <a:endParaRPr lang="en-US" sz="1250" dirty="0"/>
          </a:p>
        </p:txBody>
      </p:sp>
      <p:sp>
        <p:nvSpPr>
          <p:cNvPr id="60" name="Text 53"/>
          <p:cNvSpPr/>
          <p:nvPr/>
        </p:nvSpPr>
        <p:spPr>
          <a:xfrm>
            <a:off x="8394192" y="59710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4件</a:t>
            </a:r>
            <a:pPr indent="0" marL="0">
              <a:buNone/>
            </a:pPr>
            <a:r>
              <a:rPr lang="en-US" sz="115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6.6%</a:t>
            </a:r>
            <a:endParaRPr lang="en-US" sz="1700" dirty="0"/>
          </a:p>
        </p:txBody>
      </p:sp>
      <p:sp>
        <p:nvSpPr>
          <p:cNvPr id="61" name="Shape 54"/>
          <p:cNvSpPr/>
          <p:nvPr/>
        </p:nvSpPr>
        <p:spPr>
          <a:xfrm>
            <a:off x="8394192" y="6483096"/>
            <a:ext cx="3200400" cy="6400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62" name="Shape 55"/>
          <p:cNvSpPr/>
          <p:nvPr/>
        </p:nvSpPr>
        <p:spPr>
          <a:xfrm>
            <a:off x="8394192" y="6483096"/>
            <a:ext cx="1828800" cy="64008"/>
          </a:xfrm>
          <a:prstGeom prst="rect">
            <a:avLst/>
          </a:prstGeom>
          <a:solidFill>
            <a:srgbClr val="060E9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73152" cy="329184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630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33333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客訴機台類型與高頻站點分析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9326880" y="164592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060E9F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0" y="1645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第34週（08/17 ~ 08/23）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65760" y="868680"/>
            <a:ext cx="555498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25000"/>
              </a:srgbClr>
            </a:outerShdw>
          </a:effectLst>
        </p:spPr>
      </p:sp>
      <p:pic>
        <p:nvPicPr>
          <p:cNvPr id="7" name="Image 0" descr="D:\info\0507_Weekly-Report\Operations-Weekly-Report\automation\icons\recycle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069848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60704" y="102412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收瓶機 ／ 方舟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091940" y="1069848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F5000"/>
          </a:solidFill>
          <a:ln/>
        </p:spPr>
      </p:sp>
      <p:sp>
        <p:nvSpPr>
          <p:cNvPr id="10" name="Text 7"/>
          <p:cNvSpPr/>
          <p:nvPr/>
        </p:nvSpPr>
        <p:spPr>
          <a:xfrm>
            <a:off x="4091940" y="10698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42件 (87.5%)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85216" y="155448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12" name="Text 9"/>
          <p:cNvSpPr/>
          <p:nvPr/>
        </p:nvSpPr>
        <p:spPr>
          <a:xfrm>
            <a:off x="694944" y="1655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1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143000" y="160934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滿艙問題（回收箱／寶特瓶）</a:t>
            </a:r>
            <a:pPr indent="0" marL="0">
              <a:buNone/>
            </a:pPr>
            <a:r>
              <a:rPr lang="en-US" sz="140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38.1% (16件)</a:t>
            </a:r>
            <a:endParaRPr lang="en-US" sz="1600" dirty="0"/>
          </a:p>
        </p:txBody>
      </p:sp>
      <p:pic>
        <p:nvPicPr>
          <p:cNvPr id="14" name="Image 1" descr="D:\info\0507_Weekly-Report\Operations-Weekly-Report\automation\icons\pin_gr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103120"/>
            <a:ext cx="137160" cy="1371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325880" y="205740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最高回報站點：A｜桃園/全聯福利中心大溪員林店站（2件）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85216" y="271272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17" name="Text 13"/>
          <p:cNvSpPr/>
          <p:nvPr/>
        </p:nvSpPr>
        <p:spPr>
          <a:xfrm>
            <a:off x="694944" y="2813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2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1143000" y="276758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其他建議</a:t>
            </a:r>
            <a:pPr indent="0" marL="0">
              <a:buNone/>
            </a:pPr>
            <a:r>
              <a:rPr lang="en-US" sz="14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11.9% (5件)</a:t>
            </a:r>
            <a:endParaRPr lang="en-US" sz="1600" dirty="0"/>
          </a:p>
        </p:txBody>
      </p:sp>
      <p:pic>
        <p:nvPicPr>
          <p:cNvPr id="19" name="Image 2" descr="D:\info\0507_Weekly-Report\Operations-Weekly-Report\automation\icons\pin_gra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3261360"/>
            <a:ext cx="137160" cy="1371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325880" y="321564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最高回報站點：D｜臺南/全聯福利中心仁德德安店站（2件）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85216" y="387096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22" name="Text 17"/>
          <p:cNvSpPr/>
          <p:nvPr/>
        </p:nvSpPr>
        <p:spPr>
          <a:xfrm>
            <a:off x="694944" y="3971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6A9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1143000" y="392582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點數未入帳號</a:t>
            </a:r>
            <a:pPr indent="0" marL="0">
              <a:buNone/>
            </a:pPr>
            <a:r>
              <a:rPr lang="en-US" sz="140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7.1% (3件)</a:t>
            </a:r>
            <a:endParaRPr lang="en-US" sz="1600" dirty="0"/>
          </a:p>
        </p:txBody>
      </p:sp>
      <p:pic>
        <p:nvPicPr>
          <p:cNvPr id="24" name="Image 3" descr="D:\info\0507_Weekly-Report\Operations-Weekly-Report\automation\icons\pin_gra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4419600"/>
            <a:ext cx="137160" cy="1371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325880" y="437388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最高回報站點：A｜桃園/全聯福利中心平鎮新富店站（1件）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6240780" y="868680"/>
            <a:ext cx="555498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25000"/>
              </a:srgbClr>
            </a:outerShdw>
          </a:effectLst>
        </p:spPr>
      </p:sp>
      <p:pic>
        <p:nvPicPr>
          <p:cNvPr id="27" name="Image 4" descr="D:\info\0507_Weekly-Report\Operations-Weekly-Report\automation\icons\battery_oran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6812" y="1069848"/>
            <a:ext cx="347472" cy="34747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935724" y="102412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二代電池機</a:t>
            </a:r>
            <a:endParaRPr lang="en-US" sz="1800" dirty="0"/>
          </a:p>
        </p:txBody>
      </p:sp>
      <p:sp>
        <p:nvSpPr>
          <p:cNvPr id="29" name="Shape 22"/>
          <p:cNvSpPr/>
          <p:nvPr/>
        </p:nvSpPr>
        <p:spPr>
          <a:xfrm>
            <a:off x="9966960" y="1069848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FCE00"/>
          </a:solidFill>
          <a:ln/>
        </p:spPr>
      </p:sp>
      <p:sp>
        <p:nvSpPr>
          <p:cNvPr id="30" name="Text 23"/>
          <p:cNvSpPr/>
          <p:nvPr/>
        </p:nvSpPr>
        <p:spPr>
          <a:xfrm>
            <a:off x="9966960" y="10698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6件 (12.5%)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6460236" y="155448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32" name="Text 25"/>
          <p:cNvSpPr/>
          <p:nvPr/>
        </p:nvSpPr>
        <p:spPr>
          <a:xfrm>
            <a:off x="6569964" y="1655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1</a:t>
            </a:r>
            <a:endParaRPr lang="en-US" sz="1800" dirty="0"/>
          </a:p>
        </p:txBody>
      </p:sp>
      <p:sp>
        <p:nvSpPr>
          <p:cNvPr id="33" name="Text 26"/>
          <p:cNvSpPr/>
          <p:nvPr/>
        </p:nvSpPr>
        <p:spPr>
          <a:xfrm>
            <a:off x="7018020" y="160934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辨識失敗異常或錯誤</a:t>
            </a:r>
            <a:pPr indent="0" marL="0">
              <a:buNone/>
            </a:pPr>
            <a:r>
              <a:rPr lang="en-US" sz="140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33.3% (2件)</a:t>
            </a:r>
            <a:endParaRPr lang="en-US" sz="1600" dirty="0"/>
          </a:p>
        </p:txBody>
      </p:sp>
      <p:pic>
        <p:nvPicPr>
          <p:cNvPr id="34" name="Image 5" descr="D:\info\0507_Weekly-Report\Operations-Weekly-Report\automation\icons\pin_gra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18020" y="2103120"/>
            <a:ext cx="137160" cy="13716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7200900" y="205740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最高回報站點：E｜臺南/全家台南萬年店站（2件）</a:t>
            </a:r>
            <a:endParaRPr lang="en-US" sz="1050" dirty="0"/>
          </a:p>
        </p:txBody>
      </p:sp>
      <p:sp>
        <p:nvSpPr>
          <p:cNvPr id="36" name="Shape 28"/>
          <p:cNvSpPr/>
          <p:nvPr/>
        </p:nvSpPr>
        <p:spPr>
          <a:xfrm>
            <a:off x="6460236" y="271272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37" name="Text 29"/>
          <p:cNvSpPr/>
          <p:nvPr/>
        </p:nvSpPr>
        <p:spPr>
          <a:xfrm>
            <a:off x="6569964" y="2813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2</a:t>
            </a:r>
            <a:endParaRPr lang="en-US" sz="1800" dirty="0"/>
          </a:p>
        </p:txBody>
      </p:sp>
      <p:sp>
        <p:nvSpPr>
          <p:cNvPr id="38" name="Text 30"/>
          <p:cNvSpPr/>
          <p:nvPr/>
        </p:nvSpPr>
        <p:spPr>
          <a:xfrm>
            <a:off x="7018020" y="276758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點數未入帳號</a:t>
            </a:r>
            <a:pPr indent="0" marL="0">
              <a:buNone/>
            </a:pPr>
            <a:r>
              <a:rPr lang="en-US" sz="14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16.7% (1件)</a:t>
            </a:r>
            <a:endParaRPr lang="en-US" sz="1600" dirty="0"/>
          </a:p>
        </p:txBody>
      </p:sp>
      <p:pic>
        <p:nvPicPr>
          <p:cNvPr id="39" name="Image 6" descr="D:\info\0507_Weekly-Report\Operations-Weekly-Report\automation\icons\pin_gra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18020" y="3261360"/>
            <a:ext cx="137160" cy="13716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7200900" y="321564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最高回報站點：D｜臺中/全聯福利中心台中中平店站（1件）</a:t>
            </a:r>
            <a:endParaRPr lang="en-US" sz="1050" dirty="0"/>
          </a:p>
        </p:txBody>
      </p:sp>
      <p:sp>
        <p:nvSpPr>
          <p:cNvPr id="41" name="Shape 32"/>
          <p:cNvSpPr/>
          <p:nvPr/>
        </p:nvSpPr>
        <p:spPr>
          <a:xfrm>
            <a:off x="6460236" y="387096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42" name="Text 33"/>
          <p:cNvSpPr/>
          <p:nvPr/>
        </p:nvSpPr>
        <p:spPr>
          <a:xfrm>
            <a:off x="6569964" y="3971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6A9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3</a:t>
            </a:r>
            <a:endParaRPr lang="en-US" sz="1800" dirty="0"/>
          </a:p>
        </p:txBody>
      </p:sp>
      <p:sp>
        <p:nvSpPr>
          <p:cNvPr id="43" name="Text 34"/>
          <p:cNvSpPr/>
          <p:nvPr/>
        </p:nvSpPr>
        <p:spPr>
          <a:xfrm>
            <a:off x="7018020" y="392582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螢幕異常顯示/畫面異常</a:t>
            </a:r>
            <a:pPr indent="0" marL="0">
              <a:buNone/>
            </a:pPr>
            <a:r>
              <a:rPr lang="en-US" sz="140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16.7% (1件)</a:t>
            </a:r>
            <a:endParaRPr lang="en-US" sz="1600" dirty="0"/>
          </a:p>
        </p:txBody>
      </p:sp>
      <p:pic>
        <p:nvPicPr>
          <p:cNvPr id="44" name="Image 7" descr="D:\info\0507_Weekly-Report\Operations-Weekly-Report\automation\icons\pin_gra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18020" y="4419600"/>
            <a:ext cx="137160" cy="13716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7200900" y="437388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最高回報站點：C｜高雄/億進寢具鳳屏店站（1件）</a:t>
            </a:r>
            <a:endParaRPr lang="en-US" sz="1050" dirty="0"/>
          </a:p>
        </p:txBody>
      </p:sp>
      <p:sp>
        <p:nvSpPr>
          <p:cNvPr id="46" name="Shape 36"/>
          <p:cNvSpPr/>
          <p:nvPr/>
        </p:nvSpPr>
        <p:spPr>
          <a:xfrm>
            <a:off x="365760" y="5257800"/>
            <a:ext cx="11430000" cy="777240"/>
          </a:xfrm>
          <a:prstGeom prst="roundRect">
            <a:avLst>
              <a:gd name="adj" fmla="val 9412"/>
            </a:avLst>
          </a:prstGeom>
          <a:solidFill>
            <a:srgbClr val="FAE0B8"/>
          </a:solidFill>
          <a:ln w="15875">
            <a:solidFill>
              <a:srgbClr val="FFCE00"/>
            </a:solidFill>
            <a:prstDash val="solid"/>
          </a:ln>
        </p:spPr>
      </p:sp>
      <p:pic>
        <p:nvPicPr>
          <p:cNvPr id="47" name="Image 8" descr="D:\info\0507_Weekly-Report\Operations-Weekly-Report\automation\icons\war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928" y="5477256"/>
            <a:ext cx="310896" cy="310896"/>
          </a:xfrm>
          <a:prstGeom prst="rect">
            <a:avLst/>
          </a:prstGeom>
        </p:spPr>
      </p:pic>
      <p:sp>
        <p:nvSpPr>
          <p:cNvPr id="48" name="Text 37"/>
          <p:cNvSpPr/>
          <p:nvPr/>
        </p:nvSpPr>
        <p:spPr>
          <a:xfrm>
            <a:off x="1005840" y="534924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4800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【本週融合洞察】收瓶機客訴集中於「滿艙問題（回收箱／寶特瓶）」（38.1%，16件），最高回報站點為 A｜桃園/全聯福利中心大溪員林店站（2件），建議優先派工檢修；電池機客訴則集中於「辨識失敗異常或錯誤」（33.3%，2件），建議持續追蹤。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73152" cy="329184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630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33333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月低回收量站點改善清單 Top 10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675120" y="2560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資料更新日期：2026/08/27（區間2026/07/28-08/27）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77240"/>
          <a:ext cx="1143000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371600"/>
                <a:gridCol w="914400"/>
                <a:gridCol w="2423160"/>
                <a:gridCol w="1371600"/>
                <a:gridCol w="1554480"/>
                <a:gridCol w="164592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等級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Hive排名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（總542）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縣市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站點名稱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機型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租賃/買斷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近30日合計（瓶）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月增減率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530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新北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衛生福利部雙和醫院第一醫療大樓站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0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531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新北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南山高中大中一樓站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0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516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臺南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成功大學光復第二宿舍站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934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515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屏東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全聯福利中心屏東瑞民店站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1,075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514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臺北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全聯福利中心總部大樓站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1,600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513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臺南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健美洋行南一中體育館站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1,622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512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臺南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成功大學學生活動中心(一)站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1,729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511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高雄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全聯福利中心右昌店站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1,753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510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彰化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全聯福利中心彰化田中店站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1,766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509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高雄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全聯福利中心三民十全三店站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1,852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66460" y="1298448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FF5000">
              <a:alpha val="15000"/>
            </a:srgbClr>
          </a:solidFill>
          <a:ln w="12700">
            <a:solidFill>
              <a:srgbClr val="FF50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66460" y="129844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H30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315200" y="1298448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60E9F"/>
            </a:solidFill>
            <a:prstDash val="solid"/>
          </a:ln>
        </p:spPr>
      </p:sp>
      <p:pic>
        <p:nvPicPr>
          <p:cNvPr id="9" name="Image 0" descr="D:\info\0507_Weekly-Report\Operations-Weekly-Report\automation\icons\key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43216" y="1353312"/>
            <a:ext cx="146304" cy="14630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607808" y="12984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租賃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5966460" y="1682496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FF5000">
              <a:alpha val="15000"/>
            </a:srgbClr>
          </a:solidFill>
          <a:ln w="12700">
            <a:solidFill>
              <a:srgbClr val="FF500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966460" y="168249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H30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966460" y="2066544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60E9F">
              <a:alpha val="15000"/>
            </a:srgbClr>
          </a:solidFill>
          <a:ln w="12700">
            <a:solidFill>
              <a:srgbClr val="060E9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966460" y="206654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AI-4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315200" y="2066544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60E9F"/>
            </a:solidFill>
            <a:prstDash val="solid"/>
          </a:ln>
        </p:spPr>
      </p:sp>
      <p:pic>
        <p:nvPicPr>
          <p:cNvPr id="16" name="Image 1" descr="D:\info\0507_Weekly-Report\Operations-Weekly-Report\automation\icons\key_bl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3216" y="2121408"/>
            <a:ext cx="146304" cy="14630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607808" y="206654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租賃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66460" y="2450592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60E9F">
              <a:alpha val="15000"/>
            </a:srgbClr>
          </a:solidFill>
          <a:ln w="12700">
            <a:solidFill>
              <a:srgbClr val="060E9F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5966460" y="245059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AI-4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5966460" y="283464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60E9F">
              <a:alpha val="15000"/>
            </a:srgbClr>
          </a:solidFill>
          <a:ln w="12700">
            <a:solidFill>
              <a:srgbClr val="060E9F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966460" y="283464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AI-4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5966460" y="3218688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076A9">
              <a:alpha val="15000"/>
            </a:srgbClr>
          </a:solidFill>
          <a:ln w="12700">
            <a:solidFill>
              <a:srgbClr val="0076A9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5966460" y="321868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AI-HD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5966460" y="3602736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60E9F">
              <a:alpha val="15000"/>
            </a:srgbClr>
          </a:solidFill>
          <a:ln w="12700">
            <a:solidFill>
              <a:srgbClr val="060E9F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5966460" y="360273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AI-4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7315200" y="3602736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60E9F"/>
            </a:solidFill>
            <a:prstDash val="solid"/>
          </a:ln>
        </p:spPr>
      </p:sp>
      <p:pic>
        <p:nvPicPr>
          <p:cNvPr id="27" name="Image 2" descr="D:\info\0507_Weekly-Report\Operations-Weekly-Report\automation\icons\key_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3216" y="3657600"/>
            <a:ext cx="146304" cy="146304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607808" y="3602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租賃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5966460" y="3986784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60E9F">
              <a:alpha val="15000"/>
            </a:srgbClr>
          </a:solidFill>
          <a:ln w="12700">
            <a:solidFill>
              <a:srgbClr val="060E9F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5966460" y="398678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AI-4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5966460" y="4370832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076A9">
              <a:alpha val="15000"/>
            </a:srgbClr>
          </a:solidFill>
          <a:ln w="12700">
            <a:solidFill>
              <a:srgbClr val="0076A9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5966460" y="437083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AI-HD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5966460" y="475488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076A9">
              <a:alpha val="15000"/>
            </a:srgbClr>
          </a:solidFill>
          <a:ln w="12700">
            <a:solidFill>
              <a:srgbClr val="0076A9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5966460" y="475488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AI-HD</a:t>
            </a:r>
            <a:endParaRPr lang="en-US" sz="1000" dirty="0"/>
          </a:p>
        </p:txBody>
      </p:sp>
      <p:sp>
        <p:nvSpPr>
          <p:cNvPr id="35" name="Shape 29"/>
          <p:cNvSpPr/>
          <p:nvPr/>
        </p:nvSpPr>
        <p:spPr>
          <a:xfrm>
            <a:off x="365760" y="5276088"/>
            <a:ext cx="11430000" cy="960120"/>
          </a:xfrm>
          <a:prstGeom prst="roundRect">
            <a:avLst>
              <a:gd name="adj" fmla="val 5714"/>
            </a:avLst>
          </a:prstGeom>
          <a:solidFill>
            <a:srgbClr val="F5F7FF"/>
          </a:solidFill>
          <a:ln w="9525">
            <a:solidFill>
              <a:srgbClr val="8EB9C9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594360" y="534924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資料來源：Hive，一般站依近 30 個台灣日曆日實際清運的塑膠＋鋁罐瓶數分 S～F；三台以上有效收瓶機獨立列為 ARK</a:t>
            </a:r>
            <a:endParaRPr lang="en-US" sz="950" dirty="0"/>
          </a:p>
        </p:txBody>
      </p:sp>
      <p:sp>
        <p:nvSpPr>
          <p:cNvPr id="37" name="Text 31"/>
          <p:cNvSpPr/>
          <p:nvPr/>
        </p:nvSpPr>
        <p:spPr>
          <a:xfrm>
            <a:off x="594360" y="55961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等級+加分/瓶量：</a:t>
            </a:r>
            <a:endParaRPr lang="en-US" sz="900" dirty="0"/>
          </a:p>
        </p:txBody>
      </p:sp>
      <p:sp>
        <p:nvSpPr>
          <p:cNvPr id="38" name="Shape 32"/>
          <p:cNvSpPr/>
          <p:nvPr/>
        </p:nvSpPr>
        <p:spPr>
          <a:xfrm>
            <a:off x="594360" y="5824728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FF5000">
              <a:alpha val="15000"/>
            </a:srgbClr>
          </a:solidFill>
          <a:ln w="9525">
            <a:solidFill>
              <a:srgbClr val="FF5000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594360" y="582472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S+18</a:t>
            </a:r>
            <a:endParaRPr lang="en-US" sz="850" dirty="0"/>
          </a:p>
        </p:txBody>
      </p:sp>
      <p:sp>
        <p:nvSpPr>
          <p:cNvPr id="40" name="Text 34"/>
          <p:cNvSpPr/>
          <p:nvPr/>
        </p:nvSpPr>
        <p:spPr>
          <a:xfrm>
            <a:off x="1133856" y="582472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17,000瓶以上</a:t>
            </a:r>
            <a:endParaRPr lang="en-US" sz="700" dirty="0"/>
          </a:p>
        </p:txBody>
      </p:sp>
      <p:sp>
        <p:nvSpPr>
          <p:cNvPr id="41" name="Shape 35"/>
          <p:cNvSpPr/>
          <p:nvPr/>
        </p:nvSpPr>
        <p:spPr>
          <a:xfrm>
            <a:off x="1965960" y="5824728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0076A9">
              <a:alpha val="15000"/>
            </a:srgbClr>
          </a:solidFill>
          <a:ln w="9525">
            <a:solidFill>
              <a:srgbClr val="0076A9"/>
            </a:solidFill>
            <a:prstDash val="solid"/>
          </a:ln>
        </p:spPr>
      </p:sp>
      <p:sp>
        <p:nvSpPr>
          <p:cNvPr id="42" name="Text 36"/>
          <p:cNvSpPr/>
          <p:nvPr/>
        </p:nvSpPr>
        <p:spPr>
          <a:xfrm>
            <a:off x="1965960" y="582472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A+12</a:t>
            </a:r>
            <a:endParaRPr lang="en-US" sz="850" dirty="0"/>
          </a:p>
        </p:txBody>
      </p:sp>
      <p:sp>
        <p:nvSpPr>
          <p:cNvPr id="43" name="Text 37"/>
          <p:cNvSpPr/>
          <p:nvPr/>
        </p:nvSpPr>
        <p:spPr>
          <a:xfrm>
            <a:off x="2505456" y="582472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13,300～16,999瓶</a:t>
            </a:r>
            <a:endParaRPr lang="en-US" sz="700" dirty="0"/>
          </a:p>
        </p:txBody>
      </p:sp>
      <p:sp>
        <p:nvSpPr>
          <p:cNvPr id="44" name="Shape 38"/>
          <p:cNvSpPr/>
          <p:nvPr/>
        </p:nvSpPr>
        <p:spPr>
          <a:xfrm>
            <a:off x="3337560" y="5824728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060E9F">
              <a:alpha val="15000"/>
            </a:srgbClr>
          </a:solidFill>
          <a:ln w="9525">
            <a:solidFill>
              <a:srgbClr val="060E9F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3337560" y="582472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B+8</a:t>
            </a:r>
            <a:endParaRPr lang="en-US" sz="850" dirty="0"/>
          </a:p>
        </p:txBody>
      </p:sp>
      <p:sp>
        <p:nvSpPr>
          <p:cNvPr id="46" name="Text 40"/>
          <p:cNvSpPr/>
          <p:nvPr/>
        </p:nvSpPr>
        <p:spPr>
          <a:xfrm>
            <a:off x="3877056" y="582472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11,100～13,299瓶</a:t>
            </a:r>
            <a:endParaRPr lang="en-US" sz="700" dirty="0"/>
          </a:p>
        </p:txBody>
      </p:sp>
      <p:sp>
        <p:nvSpPr>
          <p:cNvPr id="47" name="Shape 41"/>
          <p:cNvSpPr/>
          <p:nvPr/>
        </p:nvSpPr>
        <p:spPr>
          <a:xfrm>
            <a:off x="4709160" y="5824728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4F86A0">
              <a:alpha val="15000"/>
            </a:srgbClr>
          </a:solidFill>
          <a:ln w="9525">
            <a:solidFill>
              <a:srgbClr val="4F86A0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4709160" y="582472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F86A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C+4</a:t>
            </a:r>
            <a:endParaRPr lang="en-US" sz="850" dirty="0"/>
          </a:p>
        </p:txBody>
      </p:sp>
      <p:sp>
        <p:nvSpPr>
          <p:cNvPr id="49" name="Text 43"/>
          <p:cNvSpPr/>
          <p:nvPr/>
        </p:nvSpPr>
        <p:spPr>
          <a:xfrm>
            <a:off x="5248656" y="582472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9,000～11,099瓶</a:t>
            </a:r>
            <a:endParaRPr lang="en-US" sz="700" dirty="0"/>
          </a:p>
        </p:txBody>
      </p:sp>
      <p:sp>
        <p:nvSpPr>
          <p:cNvPr id="50" name="Shape 44"/>
          <p:cNvSpPr/>
          <p:nvPr/>
        </p:nvSpPr>
        <p:spPr>
          <a:xfrm>
            <a:off x="6080760" y="5824728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888888">
              <a:alpha val="15000"/>
            </a:srgbClr>
          </a:solidFill>
          <a:ln w="9525">
            <a:solidFill>
              <a:srgbClr val="888888"/>
            </a:solidFill>
            <a:prstDash val="solid"/>
          </a:ln>
        </p:spPr>
      </p:sp>
      <p:sp>
        <p:nvSpPr>
          <p:cNvPr id="51" name="Text 45"/>
          <p:cNvSpPr/>
          <p:nvPr/>
        </p:nvSpPr>
        <p:spPr>
          <a:xfrm>
            <a:off x="6080760" y="582472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88888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D+2</a:t>
            </a:r>
            <a:endParaRPr lang="en-US" sz="850" dirty="0"/>
          </a:p>
        </p:txBody>
      </p:sp>
      <p:sp>
        <p:nvSpPr>
          <p:cNvPr id="52" name="Text 46"/>
          <p:cNvSpPr/>
          <p:nvPr/>
        </p:nvSpPr>
        <p:spPr>
          <a:xfrm>
            <a:off x="6620256" y="582472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6,900～8,999瓶</a:t>
            </a:r>
            <a:endParaRPr lang="en-US" sz="700" dirty="0"/>
          </a:p>
        </p:txBody>
      </p:sp>
      <p:sp>
        <p:nvSpPr>
          <p:cNvPr id="53" name="Shape 47"/>
          <p:cNvSpPr/>
          <p:nvPr/>
        </p:nvSpPr>
        <p:spPr>
          <a:xfrm>
            <a:off x="7452360" y="5824728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888888">
              <a:alpha val="15000"/>
            </a:srgbClr>
          </a:solidFill>
          <a:ln w="9525">
            <a:solidFill>
              <a:srgbClr val="888888"/>
            </a:solidFill>
            <a:prstDash val="solid"/>
          </a:ln>
        </p:spPr>
      </p:sp>
      <p:sp>
        <p:nvSpPr>
          <p:cNvPr id="54" name="Text 48"/>
          <p:cNvSpPr/>
          <p:nvPr/>
        </p:nvSpPr>
        <p:spPr>
          <a:xfrm>
            <a:off x="7452360" y="582472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88888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E+1</a:t>
            </a:r>
            <a:endParaRPr lang="en-US" sz="850" dirty="0"/>
          </a:p>
        </p:txBody>
      </p:sp>
      <p:sp>
        <p:nvSpPr>
          <p:cNvPr id="55" name="Text 49"/>
          <p:cNvSpPr/>
          <p:nvPr/>
        </p:nvSpPr>
        <p:spPr>
          <a:xfrm>
            <a:off x="7991856" y="582472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4,100～6,899瓶</a:t>
            </a:r>
            <a:endParaRPr lang="en-US" sz="700" dirty="0"/>
          </a:p>
        </p:txBody>
      </p:sp>
      <p:sp>
        <p:nvSpPr>
          <p:cNvPr id="56" name="Shape 50"/>
          <p:cNvSpPr/>
          <p:nvPr/>
        </p:nvSpPr>
        <p:spPr>
          <a:xfrm>
            <a:off x="8823960" y="5824728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888888">
              <a:alpha val="15000"/>
            </a:srgbClr>
          </a:solidFill>
          <a:ln w="9525">
            <a:solidFill>
              <a:srgbClr val="888888"/>
            </a:solidFill>
            <a:prstDash val="solid"/>
          </a:ln>
        </p:spPr>
      </p:sp>
      <p:sp>
        <p:nvSpPr>
          <p:cNvPr id="57" name="Text 51"/>
          <p:cNvSpPr/>
          <p:nvPr/>
        </p:nvSpPr>
        <p:spPr>
          <a:xfrm>
            <a:off x="8823960" y="582472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88888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F+0</a:t>
            </a:r>
            <a:endParaRPr lang="en-US" sz="850" dirty="0"/>
          </a:p>
        </p:txBody>
      </p:sp>
      <p:sp>
        <p:nvSpPr>
          <p:cNvPr id="58" name="Text 52"/>
          <p:cNvSpPr/>
          <p:nvPr/>
        </p:nvSpPr>
        <p:spPr>
          <a:xfrm>
            <a:off x="9363456" y="582472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4,100瓶以下</a:t>
            </a:r>
            <a:endParaRPr lang="en-US" sz="700" dirty="0"/>
          </a:p>
        </p:txBody>
      </p:sp>
      <p:sp>
        <p:nvSpPr>
          <p:cNvPr id="59" name="Shape 53"/>
          <p:cNvSpPr/>
          <p:nvPr/>
        </p:nvSpPr>
        <p:spPr>
          <a:xfrm>
            <a:off x="10195560" y="5824728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9C7A00">
              <a:alpha val="15000"/>
            </a:srgbClr>
          </a:solidFill>
          <a:ln w="9525">
            <a:solidFill>
              <a:srgbClr val="9C7A00"/>
            </a:solidFill>
            <a:prstDash val="solid"/>
          </a:ln>
        </p:spPr>
      </p:sp>
      <p:sp>
        <p:nvSpPr>
          <p:cNvPr id="60" name="Text 54"/>
          <p:cNvSpPr/>
          <p:nvPr/>
        </p:nvSpPr>
        <p:spPr>
          <a:xfrm>
            <a:off x="10195560" y="582472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C7A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ARK+8</a:t>
            </a:r>
            <a:endParaRPr lang="en-US" sz="850" dirty="0"/>
          </a:p>
        </p:txBody>
      </p:sp>
      <p:sp>
        <p:nvSpPr>
          <p:cNvPr id="61" name="Text 55"/>
          <p:cNvSpPr/>
          <p:nvPr/>
        </p:nvSpPr>
        <p:spPr>
          <a:xfrm>
            <a:off x="10735056" y="582472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3台有效收瓶機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2026-08-27T04:11:52Z</dcterms:created>
  <dcterms:modified xsi:type="dcterms:W3CDTF">2026-08-27T04:11:52Z</dcterms:modified>
</cp:coreProperties>
</file>