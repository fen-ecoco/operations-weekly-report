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0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佔比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0E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2B5-4000-9075-DDE1E55D9F55}"/>
              </c:ext>
            </c:extLst>
          </c:dPt>
          <c:dPt>
            <c:idx val="1"/>
            <c:bubble3D val="0"/>
            <c:spPr>
              <a:solidFill>
                <a:srgbClr val="FF5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2B5-4000-9075-DDE1E55D9F55}"/>
              </c:ext>
            </c:extLst>
          </c:dPt>
          <c:dPt>
            <c:idx val="2"/>
            <c:bubble3D val="0"/>
            <c:spPr>
              <a:solidFill>
                <a:srgbClr val="0076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2B5-4000-9075-DDE1E55D9F55}"/>
              </c:ext>
            </c:extLst>
          </c:dPt>
          <c:dPt>
            <c:idx val="3"/>
            <c:bubble3D val="0"/>
            <c:spPr>
              <a:solidFill>
                <a:srgbClr val="FFCE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2B5-4000-9075-DDE1E55D9F55}"/>
              </c:ext>
            </c:extLst>
          </c:dPt>
          <c:dPt>
            <c:idx val="4"/>
            <c:bubble3D val="0"/>
            <c:spPr>
              <a:solidFill>
                <a:srgbClr val="8EB8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2B5-4000-9075-DDE1E55D9F55}"/>
              </c:ext>
            </c:extLst>
          </c:dPt>
          <c:dPt>
            <c:idx val="5"/>
            <c:bubble3D val="0"/>
            <c:spPr>
              <a:solidFill>
                <a:srgbClr val="FAE0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2B5-4000-9075-DDE1E55D9F5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2B5-4000-9075-DDE1E55D9F5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2B5-4000-9075-DDE1E55D9F5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2B5-4000-9075-DDE1E55D9F55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2B5-4000-9075-DDE1E55D9F55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2B5-4000-9075-DDE1E55D9F55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2B5-4000-9075-DDE1E55D9F5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zh-TW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APP帳號設定問題</c:v>
                </c:pt>
                <c:pt idx="1">
                  <c:v>機台問題</c:v>
                </c:pt>
                <c:pt idx="2">
                  <c:v>回收點數問題</c:v>
                </c:pt>
                <c:pt idx="3">
                  <c:v>顧客關係</c:v>
                </c:pt>
                <c:pt idx="4">
                  <c:v>優惠券問題</c:v>
                </c:pt>
                <c:pt idx="5">
                  <c:v>APP使用問題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100</c:v>
                </c:pt>
                <c:pt idx="2">
                  <c:v>20</c:v>
                </c:pt>
                <c:pt idx="3">
                  <c:v>33</c:v>
                </c:pt>
                <c:pt idx="4">
                  <c:v>10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2B5-4000-9075-DDE1E55D9F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機台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5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684-4EE2-BBC5-5B956EDCC480}"/>
              </c:ext>
            </c:extLst>
          </c:dPt>
          <c:dPt>
            <c:idx val="1"/>
            <c:bubble3D val="0"/>
            <c:spPr>
              <a:solidFill>
                <a:srgbClr val="060E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684-4EE2-BBC5-5B956EDCC480}"/>
              </c:ext>
            </c:extLst>
          </c:dPt>
          <c:dPt>
            <c:idx val="2"/>
            <c:bubble3D val="0"/>
            <c:spPr>
              <a:solidFill>
                <a:srgbClr val="0076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684-4EE2-BBC5-5B956EDCC480}"/>
              </c:ext>
            </c:extLst>
          </c:dPt>
          <c:dPt>
            <c:idx val="3"/>
            <c:bubble3D val="0"/>
            <c:spPr>
              <a:solidFill>
                <a:srgbClr val="FFCE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684-4EE2-BBC5-5B956EDCC480}"/>
              </c:ext>
            </c:extLst>
          </c:dPt>
          <c:dPt>
            <c:idx val="4"/>
            <c:bubble3D val="0"/>
            <c:spPr>
              <a:solidFill>
                <a:srgbClr val="8EB8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684-4EE2-BBC5-5B956EDCC480}"/>
              </c:ext>
            </c:extLst>
          </c:dPt>
          <c:dPt>
            <c:idx val="5"/>
            <c:bubble3D val="0"/>
            <c:spPr>
              <a:solidFill>
                <a:srgbClr val="B8BE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684-4EE2-BBC5-5B956EDCC48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684-4EE2-BBC5-5B956EDCC48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684-4EE2-BBC5-5B956EDCC48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684-4EE2-BBC5-5B956EDCC48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684-4EE2-BBC5-5B956EDCC480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684-4EE2-BBC5-5B956EDCC480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684-4EE2-BBC5-5B956EDCC48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zh-TW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回收箱滿艙</c:v>
                </c:pt>
                <c:pt idx="1">
                  <c:v>機台操作畫面無法登入</c:v>
                </c:pt>
                <c:pt idx="2">
                  <c:v>寶特瓶滿艙</c:v>
                </c:pt>
                <c:pt idx="3">
                  <c:v>機台需維護/故障提醒</c:v>
                </c:pt>
                <c:pt idx="4">
                  <c:v>螢幕異常顯示/畫面異常</c:v>
                </c:pt>
                <c:pt idx="5">
                  <c:v>其他機台問題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</c:v>
                </c:pt>
                <c:pt idx="1">
                  <c:v>16</c:v>
                </c:pt>
                <c:pt idx="2">
                  <c:v>15</c:v>
                </c:pt>
                <c:pt idx="3">
                  <c:v>9</c:v>
                </c:pt>
                <c:pt idx="4">
                  <c:v>8</c:v>
                </c:pt>
                <c:pt idx="5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684-4EE2-BBC5-5B956EDCC4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6123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54864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客服課　08/10 ~ 08/16　客訴問題分析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64592" y="329184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246888" y="33832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客訴趨勢分析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004837"/>
              </p:ext>
            </p:extLst>
          </p:nvPr>
        </p:nvGraphicFramePr>
        <p:xfrm>
          <a:off x="350082" y="553864"/>
          <a:ext cx="8592748" cy="1718420"/>
        </p:xfrm>
        <a:graphic>
          <a:graphicData uri="http://schemas.openxmlformats.org/drawingml/2006/table">
            <a:tbl>
              <a:tblPr/>
              <a:tblGrid>
                <a:gridCol w="100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4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25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25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25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20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20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20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377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36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週次/期間</a:t>
                      </a:r>
                      <a:endParaRPr lang="en-US" sz="85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收瓶機/方舟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二代電池機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註冊帳號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回收點數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優惠券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APP使用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顧客關係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加總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6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30週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07/20-07/26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20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186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6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31週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07/27-08/02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116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▼16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12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11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▼9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11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▼1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20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159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▼27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6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32週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08/03-08/09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101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▼15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17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10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19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▼1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157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6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33週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08/10-08/16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108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23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20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10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33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▲14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165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64592" y="2404872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246888" y="241401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當週客訴佔比 + 主分類佔比（08/10 ~ 08/16）</a:t>
            </a:r>
            <a:endParaRPr lang="en-US" sz="10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4008" y="2642616"/>
          <a:ext cx="3529584" cy="2340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5"/>
          <p:cNvSpPr/>
          <p:nvPr/>
        </p:nvSpPr>
        <p:spPr>
          <a:xfrm>
            <a:off x="3703320" y="2706624"/>
            <a:ext cx="182880" cy="18288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6"/>
          <p:cNvSpPr/>
          <p:nvPr/>
        </p:nvSpPr>
        <p:spPr>
          <a:xfrm>
            <a:off x="3941064" y="26700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APP帳號設定問題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941064" y="28620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0件　0%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703320" y="3095244"/>
            <a:ext cx="182880" cy="18288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9"/>
          <p:cNvSpPr/>
          <p:nvPr/>
        </p:nvSpPr>
        <p:spPr>
          <a:xfrm>
            <a:off x="3941064" y="305866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機台問題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941064" y="325069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100件　60.6%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3703320" y="3483864"/>
            <a:ext cx="182880" cy="18288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2"/>
          <p:cNvSpPr/>
          <p:nvPr/>
        </p:nvSpPr>
        <p:spPr>
          <a:xfrm>
            <a:off x="3941064" y="344728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回收點數問題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941064" y="363931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20件　12.1%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3703320" y="3872484"/>
            <a:ext cx="182880" cy="182880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5"/>
          <p:cNvSpPr/>
          <p:nvPr/>
        </p:nvSpPr>
        <p:spPr>
          <a:xfrm>
            <a:off x="3941064" y="383590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顧客關係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941064" y="402793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33件　20%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3703320" y="4261104"/>
            <a:ext cx="182880" cy="182880"/>
          </a:xfrm>
          <a:prstGeom prst="rect">
            <a:avLst/>
          </a:prstGeom>
          <a:solidFill>
            <a:srgbClr val="8EB8C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8"/>
          <p:cNvSpPr/>
          <p:nvPr/>
        </p:nvSpPr>
        <p:spPr>
          <a:xfrm>
            <a:off x="3941064" y="422452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優惠券問題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941064" y="441655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10件　6.1%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3703320" y="4649724"/>
            <a:ext cx="182880" cy="182880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1"/>
          <p:cNvSpPr/>
          <p:nvPr/>
        </p:nvSpPr>
        <p:spPr>
          <a:xfrm>
            <a:off x="3941064" y="46131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APP使用問題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3941064" y="48051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2件　1.2%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5788152" y="2642616"/>
            <a:ext cx="3264408" cy="800100"/>
          </a:xfrm>
          <a:prstGeom prst="rect">
            <a:avLst/>
          </a:prstGeom>
          <a:solidFill>
            <a:srgbClr val="FFF4E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4"/>
          <p:cNvSpPr/>
          <p:nvPr/>
        </p:nvSpPr>
        <p:spPr>
          <a:xfrm>
            <a:off x="5788152" y="2642616"/>
            <a:ext cx="45720" cy="80010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5"/>
          <p:cNvSpPr/>
          <p:nvPr/>
        </p:nvSpPr>
        <p:spPr>
          <a:xfrm>
            <a:off x="5879592" y="269748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089904" y="26974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點數未入帳號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6089904" y="291693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20件・12.1%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8348472" y="271576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33" name="Shape 29"/>
          <p:cNvSpPr/>
          <p:nvPr/>
        </p:nvSpPr>
        <p:spPr>
          <a:xfrm>
            <a:off x="5833872" y="338785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0"/>
          <p:cNvSpPr/>
          <p:nvPr/>
        </p:nvSpPr>
        <p:spPr>
          <a:xfrm>
            <a:off x="5833872" y="3387852"/>
            <a:ext cx="389461" cy="4572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1"/>
          <p:cNvSpPr/>
          <p:nvPr/>
        </p:nvSpPr>
        <p:spPr>
          <a:xfrm>
            <a:off x="5788152" y="3465576"/>
            <a:ext cx="3264408" cy="800100"/>
          </a:xfrm>
          <a:prstGeom prst="rect">
            <a:avLst/>
          </a:prstGeom>
          <a:solidFill>
            <a:srgbClr val="EEF6FB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2"/>
          <p:cNvSpPr/>
          <p:nvPr/>
        </p:nvSpPr>
        <p:spPr>
          <a:xfrm>
            <a:off x="5788152" y="3465576"/>
            <a:ext cx="45720" cy="80010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3"/>
          <p:cNvSpPr/>
          <p:nvPr/>
        </p:nvSpPr>
        <p:spPr>
          <a:xfrm>
            <a:off x="5879592" y="352044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6089904" y="35204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許願新增站點/設站建議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089904" y="373989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13件・7.9%</a:t>
            </a:r>
            <a:endParaRPr lang="en-US" sz="1800" dirty="0"/>
          </a:p>
        </p:txBody>
      </p:sp>
      <p:sp>
        <p:nvSpPr>
          <p:cNvPr id="40" name="Text 36"/>
          <p:cNvSpPr/>
          <p:nvPr/>
        </p:nvSpPr>
        <p:spPr>
          <a:xfrm>
            <a:off x="8348472" y="353872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41" name="Shape 37"/>
          <p:cNvSpPr/>
          <p:nvPr/>
        </p:nvSpPr>
        <p:spPr>
          <a:xfrm>
            <a:off x="5833872" y="421081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38"/>
          <p:cNvSpPr/>
          <p:nvPr/>
        </p:nvSpPr>
        <p:spPr>
          <a:xfrm>
            <a:off x="5833872" y="4210812"/>
            <a:ext cx="254276" cy="4572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39"/>
          <p:cNvSpPr/>
          <p:nvPr/>
        </p:nvSpPr>
        <p:spPr>
          <a:xfrm>
            <a:off x="5788152" y="4288536"/>
            <a:ext cx="3264408" cy="800100"/>
          </a:xfrm>
          <a:prstGeom prst="rect">
            <a:avLst/>
          </a:prstGeom>
          <a:solidFill>
            <a:srgbClr val="F5F7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0"/>
          <p:cNvSpPr/>
          <p:nvPr/>
        </p:nvSpPr>
        <p:spPr>
          <a:xfrm>
            <a:off x="5788152" y="4288536"/>
            <a:ext cx="45720" cy="80010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1"/>
          <p:cNvSpPr/>
          <p:nvPr/>
        </p:nvSpPr>
        <p:spPr>
          <a:xfrm>
            <a:off x="5879592" y="434340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6089904" y="43434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更換帳號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6089904" y="456285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7件・4.2%</a:t>
            </a:r>
            <a:endParaRPr lang="en-US" sz="1800" dirty="0"/>
          </a:p>
        </p:txBody>
      </p:sp>
      <p:sp>
        <p:nvSpPr>
          <p:cNvPr id="48" name="Text 44"/>
          <p:cNvSpPr/>
          <p:nvPr/>
        </p:nvSpPr>
        <p:spPr>
          <a:xfrm>
            <a:off x="8348472" y="436168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49" name="Shape 45"/>
          <p:cNvSpPr/>
          <p:nvPr/>
        </p:nvSpPr>
        <p:spPr>
          <a:xfrm>
            <a:off x="5833872" y="503377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6"/>
          <p:cNvSpPr/>
          <p:nvPr/>
        </p:nvSpPr>
        <p:spPr>
          <a:xfrm>
            <a:off x="5833872" y="5033772"/>
            <a:ext cx="135185" cy="4572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14B25B17-AE05-5F2F-9392-ED0D7CFD460F}"/>
              </a:ext>
            </a:extLst>
          </p:cNvPr>
          <p:cNvSpPr txBox="1"/>
          <p:nvPr/>
        </p:nvSpPr>
        <p:spPr>
          <a:xfrm>
            <a:off x="7575804" y="2958417"/>
            <a:ext cx="1600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收瓶機*</a:t>
            </a:r>
            <a:r>
              <a:rPr lang="en-US" altLang="zh-TW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9 &amp; </a:t>
            </a:r>
            <a:r>
              <a:rPr lang="zh-TW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電池機*</a:t>
            </a:r>
            <a:r>
              <a:rPr lang="en-US" altLang="zh-TW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9</a:t>
            </a:r>
            <a:endParaRPr lang="en-US" altLang="zh-TW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54864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客服課　08/10 ~ 08/16　機台問題佔比 與 熱門站點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64592" y="329184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246888" y="33832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客訴詳情與分類佔比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" y="475488"/>
          <a:ext cx="278892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2907792" y="530352"/>
            <a:ext cx="137160" cy="13716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3090672" y="49377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回收箱滿艙　16件（16%）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907792" y="754380"/>
            <a:ext cx="137160" cy="13716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3090672" y="7178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機台操作畫面無法登入　16件（16%）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907792" y="978408"/>
            <a:ext cx="137160" cy="13716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/>
          <p:nvPr/>
        </p:nvSpPr>
        <p:spPr>
          <a:xfrm>
            <a:off x="3090672" y="94183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寶特瓶滿艙　15件（15%）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907792" y="1202436"/>
            <a:ext cx="137160" cy="137160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3090672" y="1165860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機台需維護/故障提醒　9件（9%）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907792" y="1426464"/>
            <a:ext cx="137160" cy="137160"/>
          </a:xfrm>
          <a:prstGeom prst="rect">
            <a:avLst/>
          </a:prstGeom>
          <a:solidFill>
            <a:srgbClr val="8EB8C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3090672" y="138988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螢幕異常顯示/畫面異常　8件（8%）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907792" y="1650492"/>
            <a:ext cx="137160" cy="137160"/>
          </a:xfrm>
          <a:prstGeom prst="rect">
            <a:avLst/>
          </a:prstGeom>
          <a:solidFill>
            <a:srgbClr val="B8BEC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/>
          <p:nvPr/>
        </p:nvSpPr>
        <p:spPr>
          <a:xfrm>
            <a:off x="3090672" y="161391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其他機台問題　36件（36%）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879592" y="475488"/>
            <a:ext cx="1005840" cy="1554480"/>
          </a:xfrm>
          <a:prstGeom prst="rect">
            <a:avLst/>
          </a:prstGeom>
          <a:solidFill>
            <a:srgbClr val="FFF3EC"/>
          </a:solidFill>
          <a:ln w="12700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6"/>
          <p:cNvSpPr/>
          <p:nvPr/>
        </p:nvSpPr>
        <p:spPr>
          <a:xfrm>
            <a:off x="5879592" y="5303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收瓶機/方舟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879592" y="73152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5879592" y="16093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（108件）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976872" y="475488"/>
            <a:ext cx="1005840" cy="1554480"/>
          </a:xfrm>
          <a:prstGeom prst="rect">
            <a:avLst/>
          </a:prstGeom>
          <a:solidFill>
            <a:srgbClr val="EDF5FB"/>
          </a:solidFill>
          <a:ln w="12700">
            <a:solidFill>
              <a:srgbClr val="8EB8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0"/>
          <p:cNvSpPr/>
          <p:nvPr/>
        </p:nvSpPr>
        <p:spPr>
          <a:xfrm>
            <a:off x="6976872" y="5303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電池機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976872" y="73152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6976872" y="16093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（23件）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164592" y="2121408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4"/>
          <p:cNvSpPr/>
          <p:nvPr/>
        </p:nvSpPr>
        <p:spPr>
          <a:xfrm>
            <a:off x="246888" y="21305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收瓶機、電池機客訴 Top 3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669280" y="2121408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6"/>
          <p:cNvSpPr/>
          <p:nvPr/>
        </p:nvSpPr>
        <p:spPr>
          <a:xfrm>
            <a:off x="5751576" y="21305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1050" b="1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高頻客訴站點</a:t>
            </a:r>
            <a:r>
              <a:rPr lang="en-US" sz="1050" b="1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</a:t>
            </a:r>
            <a:r>
              <a:rPr lang="en-US" sz="105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第33週：08/10 ~ 08/16）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164592" y="2304288"/>
            <a:ext cx="658368" cy="1078992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8"/>
          <p:cNvSpPr/>
          <p:nvPr/>
        </p:nvSpPr>
        <p:spPr>
          <a:xfrm>
            <a:off x="164592" y="2304288"/>
            <a:ext cx="6583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41248" y="2322576"/>
            <a:ext cx="4736592" cy="333756"/>
          </a:xfrm>
          <a:prstGeom prst="rect">
            <a:avLst/>
          </a:prstGeom>
          <a:solidFill>
            <a:srgbClr val="EDF3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0"/>
          <p:cNvSpPr/>
          <p:nvPr/>
        </p:nvSpPr>
        <p:spPr>
          <a:xfrm>
            <a:off x="896112" y="2386584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33856" y="238658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回收箱滿艙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809744" y="2359152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1133856" y="2610612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4"/>
          <p:cNvSpPr/>
          <p:nvPr/>
        </p:nvSpPr>
        <p:spPr>
          <a:xfrm>
            <a:off x="1133856" y="2610612"/>
            <a:ext cx="454457" cy="34747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5"/>
          <p:cNvSpPr/>
          <p:nvPr/>
        </p:nvSpPr>
        <p:spPr>
          <a:xfrm>
            <a:off x="841248" y="2674620"/>
            <a:ext cx="4736592" cy="333756"/>
          </a:xfrm>
          <a:prstGeom prst="rect">
            <a:avLst/>
          </a:prstGeom>
          <a:solidFill>
            <a:srgbClr val="F4F8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6"/>
          <p:cNvSpPr/>
          <p:nvPr/>
        </p:nvSpPr>
        <p:spPr>
          <a:xfrm>
            <a:off x="896112" y="273862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1133856" y="273862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機台操作畫面無法登入</a:t>
            </a:r>
            <a:endParaRPr lang="en-US" sz="950" b="1" dirty="0">
              <a:solidFill>
                <a:srgbClr val="FF0000"/>
              </a:solidFill>
            </a:endParaRPr>
          </a:p>
        </p:txBody>
      </p:sp>
      <p:sp>
        <p:nvSpPr>
          <p:cNvPr id="41" name="Text 38"/>
          <p:cNvSpPr/>
          <p:nvPr/>
        </p:nvSpPr>
        <p:spPr>
          <a:xfrm>
            <a:off x="4809744" y="2711196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60E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2000" dirty="0"/>
          </a:p>
        </p:txBody>
      </p:sp>
      <p:sp>
        <p:nvSpPr>
          <p:cNvPr id="42" name="Shape 39"/>
          <p:cNvSpPr/>
          <p:nvPr/>
        </p:nvSpPr>
        <p:spPr>
          <a:xfrm>
            <a:off x="1133856" y="2962656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40"/>
          <p:cNvSpPr/>
          <p:nvPr/>
        </p:nvSpPr>
        <p:spPr>
          <a:xfrm>
            <a:off x="1133856" y="2962656"/>
            <a:ext cx="454457" cy="34747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1"/>
          <p:cNvSpPr/>
          <p:nvPr/>
        </p:nvSpPr>
        <p:spPr>
          <a:xfrm>
            <a:off x="841248" y="3026664"/>
            <a:ext cx="4736592" cy="333756"/>
          </a:xfrm>
          <a:prstGeom prst="rect">
            <a:avLst/>
          </a:prstGeom>
          <a:solidFill>
            <a:srgbClr val="F9FB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2"/>
          <p:cNvSpPr/>
          <p:nvPr/>
        </p:nvSpPr>
        <p:spPr>
          <a:xfrm>
            <a:off x="896112" y="309067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1133856" y="309067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寶特瓶滿艙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4809744" y="306324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2000" dirty="0"/>
          </a:p>
        </p:txBody>
      </p:sp>
      <p:sp>
        <p:nvSpPr>
          <p:cNvPr id="48" name="Shape 45"/>
          <p:cNvSpPr/>
          <p:nvPr/>
        </p:nvSpPr>
        <p:spPr>
          <a:xfrm>
            <a:off x="1133856" y="3314700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46"/>
          <p:cNvSpPr/>
          <p:nvPr/>
        </p:nvSpPr>
        <p:spPr>
          <a:xfrm>
            <a:off x="1133856" y="3314700"/>
            <a:ext cx="421996" cy="34747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7"/>
          <p:cNvSpPr/>
          <p:nvPr/>
        </p:nvSpPr>
        <p:spPr>
          <a:xfrm>
            <a:off x="164592" y="3396996"/>
            <a:ext cx="658368" cy="73152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8"/>
          <p:cNvSpPr/>
          <p:nvPr/>
        </p:nvSpPr>
        <p:spPr>
          <a:xfrm>
            <a:off x="164592" y="3396996"/>
            <a:ext cx="658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池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841248" y="3415284"/>
            <a:ext cx="4736592" cy="327355"/>
          </a:xfrm>
          <a:prstGeom prst="rect">
            <a:avLst/>
          </a:prstGeom>
          <a:solidFill>
            <a:srgbClr val="F0FDF7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Text 50"/>
          <p:cNvSpPr/>
          <p:nvPr/>
        </p:nvSpPr>
        <p:spPr>
          <a:xfrm>
            <a:off x="896112" y="347929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1133856" y="34792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點數未入帳號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4809744" y="345186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000" dirty="0"/>
          </a:p>
        </p:txBody>
      </p:sp>
      <p:sp>
        <p:nvSpPr>
          <p:cNvPr id="56" name="Shape 53"/>
          <p:cNvSpPr/>
          <p:nvPr/>
        </p:nvSpPr>
        <p:spPr>
          <a:xfrm>
            <a:off x="1133856" y="3694176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7" name="Shape 54"/>
          <p:cNvSpPr/>
          <p:nvPr/>
        </p:nvSpPr>
        <p:spPr>
          <a:xfrm>
            <a:off x="1133856" y="3694176"/>
            <a:ext cx="1395832" cy="34747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8" name="Shape 55"/>
          <p:cNvSpPr/>
          <p:nvPr/>
        </p:nvSpPr>
        <p:spPr>
          <a:xfrm>
            <a:off x="841248" y="3760927"/>
            <a:ext cx="4736592" cy="327355"/>
          </a:xfrm>
          <a:prstGeom prst="rect">
            <a:avLst/>
          </a:prstGeom>
          <a:solidFill>
            <a:srgbClr val="F7FAFE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Text 56"/>
          <p:cNvSpPr/>
          <p:nvPr/>
        </p:nvSpPr>
        <p:spPr>
          <a:xfrm>
            <a:off x="896112" y="3824935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B8C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1133856" y="3824935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螢幕異常顯示/畫面異常</a:t>
            </a:r>
            <a:endParaRPr lang="en-US" sz="950" dirty="0">
              <a:solidFill>
                <a:srgbClr val="FF0000"/>
              </a:solidFill>
            </a:endParaRPr>
          </a:p>
        </p:txBody>
      </p:sp>
      <p:sp>
        <p:nvSpPr>
          <p:cNvPr id="61" name="Text 58"/>
          <p:cNvSpPr/>
          <p:nvPr/>
        </p:nvSpPr>
        <p:spPr>
          <a:xfrm>
            <a:off x="4809744" y="3797503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EB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2000" dirty="0"/>
          </a:p>
        </p:txBody>
      </p:sp>
      <p:sp>
        <p:nvSpPr>
          <p:cNvPr id="62" name="Shape 59"/>
          <p:cNvSpPr/>
          <p:nvPr/>
        </p:nvSpPr>
        <p:spPr>
          <a:xfrm>
            <a:off x="1133856" y="4039819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3" name="Shape 60"/>
          <p:cNvSpPr/>
          <p:nvPr/>
        </p:nvSpPr>
        <p:spPr>
          <a:xfrm>
            <a:off x="1133856" y="4039819"/>
            <a:ext cx="843991" cy="34747"/>
          </a:xfrm>
          <a:prstGeom prst="rect">
            <a:avLst/>
          </a:prstGeom>
          <a:solidFill>
            <a:srgbClr val="8EB8C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4" name="Shape 61"/>
          <p:cNvSpPr/>
          <p:nvPr/>
        </p:nvSpPr>
        <p:spPr>
          <a:xfrm>
            <a:off x="164592" y="4151376"/>
            <a:ext cx="5376672" cy="548640"/>
          </a:xfrm>
          <a:prstGeom prst="rect">
            <a:avLst/>
          </a:prstGeom>
          <a:solidFill>
            <a:srgbClr val="FAE0B8"/>
          </a:solidFill>
          <a:ln w="12700">
            <a:solidFill>
              <a:srgbClr val="FFCE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Text 62"/>
          <p:cNvSpPr/>
          <p:nvPr/>
        </p:nvSpPr>
        <p:spPr>
          <a:xfrm>
            <a:off x="256032" y="4169664"/>
            <a:ext cx="523036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48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【注意】點數未入帳號 持續高位｜本週20件（12.1%）。</a:t>
            </a:r>
            <a:endParaRPr lang="en-US" sz="1200" dirty="0"/>
          </a:p>
        </p:txBody>
      </p:sp>
      <p:sp>
        <p:nvSpPr>
          <p:cNvPr id="66" name="Shape 63"/>
          <p:cNvSpPr/>
          <p:nvPr/>
        </p:nvSpPr>
        <p:spPr>
          <a:xfrm>
            <a:off x="5669280" y="2304288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7" name="Text 64"/>
          <p:cNvSpPr/>
          <p:nvPr/>
        </p:nvSpPr>
        <p:spPr>
          <a:xfrm>
            <a:off x="5724144" y="230428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臺中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8412480" y="230428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300" dirty="0"/>
          </a:p>
        </p:txBody>
      </p:sp>
      <p:sp>
        <p:nvSpPr>
          <p:cNvPr id="69" name="Text 66"/>
          <p:cNvSpPr/>
          <p:nvPr/>
        </p:nvSpPr>
        <p:spPr>
          <a:xfrm>
            <a:off x="5833872" y="2551176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r>
              <a:rPr lang="en-US" sz="850" b="1" dirty="0">
                <a:solidFill>
                  <a:srgbClr val="FF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全聯福利中心台中大昌店站</a:t>
            </a:r>
            <a:endParaRPr lang="en-US" sz="900" b="1" dirty="0">
              <a:solidFill>
                <a:srgbClr val="FF0000"/>
              </a:solidFill>
            </a:endParaRPr>
          </a:p>
        </p:txBody>
      </p:sp>
      <p:sp>
        <p:nvSpPr>
          <p:cNvPr id="70" name="Text 67"/>
          <p:cNvSpPr/>
          <p:nvPr/>
        </p:nvSpPr>
        <p:spPr>
          <a:xfrm>
            <a:off x="8412480" y="255117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5833872" y="2756916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億進寢具南屯東興店站</a:t>
            </a:r>
            <a:endParaRPr lang="en-US" sz="900" dirty="0"/>
          </a:p>
        </p:txBody>
      </p:sp>
      <p:sp>
        <p:nvSpPr>
          <p:cNvPr id="72" name="Text 69"/>
          <p:cNvSpPr/>
          <p:nvPr/>
        </p:nvSpPr>
        <p:spPr>
          <a:xfrm>
            <a:off x="8412480" y="275691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5833872" y="2962656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</a:t>
            </a:r>
            <a:r>
              <a:rPr lang="en-US" sz="85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全聯福利中心烏日環河店站</a:t>
            </a:r>
            <a:endParaRPr lang="en-US" sz="900" b="1" dirty="0"/>
          </a:p>
        </p:txBody>
      </p:sp>
      <p:sp>
        <p:nvSpPr>
          <p:cNvPr id="74" name="Text 71"/>
          <p:cNvSpPr/>
          <p:nvPr/>
        </p:nvSpPr>
        <p:spPr>
          <a:xfrm>
            <a:off x="8412480" y="296265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5669280" y="3186684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6" name="Text 73"/>
          <p:cNvSpPr/>
          <p:nvPr/>
        </p:nvSpPr>
        <p:spPr>
          <a:xfrm>
            <a:off x="5724144" y="31866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高雄</a:t>
            </a:r>
            <a:endParaRPr lang="en-US" sz="1200" dirty="0"/>
          </a:p>
        </p:txBody>
      </p:sp>
      <p:sp>
        <p:nvSpPr>
          <p:cNvPr id="77" name="Text 74"/>
          <p:cNvSpPr/>
          <p:nvPr/>
        </p:nvSpPr>
        <p:spPr>
          <a:xfrm>
            <a:off x="8412480" y="318668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00" dirty="0"/>
          </a:p>
        </p:txBody>
      </p:sp>
      <p:sp>
        <p:nvSpPr>
          <p:cNvPr id="78" name="Text 75"/>
          <p:cNvSpPr/>
          <p:nvPr/>
        </p:nvSpPr>
        <p:spPr>
          <a:xfrm>
            <a:off x="5833872" y="3433572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</a:t>
            </a:r>
            <a:r>
              <a:rPr lang="en-US" sz="85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Q哥手機館高雄鳳山店站</a:t>
            </a:r>
            <a:endParaRPr lang="en-US" sz="900" b="1" dirty="0"/>
          </a:p>
        </p:txBody>
      </p:sp>
      <p:sp>
        <p:nvSpPr>
          <p:cNvPr id="79" name="Text 76"/>
          <p:cNvSpPr/>
          <p:nvPr/>
        </p:nvSpPr>
        <p:spPr>
          <a:xfrm>
            <a:off x="8412480" y="34335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5833872" y="3639312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r>
              <a:rPr lang="en-US" sz="850" b="1" dirty="0" err="1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特力屋大順店站</a:t>
            </a:r>
            <a:endParaRPr lang="en-US" sz="900" b="1" dirty="0"/>
          </a:p>
        </p:txBody>
      </p:sp>
      <p:sp>
        <p:nvSpPr>
          <p:cNvPr id="81" name="Text 78"/>
          <p:cNvSpPr/>
          <p:nvPr/>
        </p:nvSpPr>
        <p:spPr>
          <a:xfrm>
            <a:off x="8412480" y="36393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5833872" y="3845052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r>
              <a:rPr lang="en-US" sz="850" b="1" dirty="0" err="1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全聯福利中心小港平和店站</a:t>
            </a:r>
            <a:endParaRPr lang="en-US" sz="900" b="1" dirty="0"/>
          </a:p>
        </p:txBody>
      </p:sp>
      <p:sp>
        <p:nvSpPr>
          <p:cNvPr id="83" name="Text 80"/>
          <p:cNvSpPr/>
          <p:nvPr/>
        </p:nvSpPr>
        <p:spPr>
          <a:xfrm>
            <a:off x="8412480" y="38450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5669280" y="4069080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5" name="Text 82"/>
          <p:cNvSpPr/>
          <p:nvPr/>
        </p:nvSpPr>
        <p:spPr>
          <a:xfrm>
            <a:off x="5724144" y="406908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桃園</a:t>
            </a:r>
            <a:endParaRPr lang="en-US" sz="1200" dirty="0"/>
          </a:p>
        </p:txBody>
      </p:sp>
      <p:sp>
        <p:nvSpPr>
          <p:cNvPr id="86" name="Text 83"/>
          <p:cNvSpPr/>
          <p:nvPr/>
        </p:nvSpPr>
        <p:spPr>
          <a:xfrm>
            <a:off x="8412480" y="406908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87" name="Text 84"/>
          <p:cNvSpPr/>
          <p:nvPr/>
        </p:nvSpPr>
        <p:spPr>
          <a:xfrm>
            <a:off x="5833872" y="4315968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r>
              <a:rPr lang="en-US" sz="850" dirty="0">
                <a:solidFill>
                  <a:srgbClr val="FF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全聯福利中心大溪僑愛店站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88" name="Text 85"/>
          <p:cNvSpPr/>
          <p:nvPr/>
        </p:nvSpPr>
        <p:spPr>
          <a:xfrm>
            <a:off x="8412480" y="4315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89" name="Text 86"/>
          <p:cNvSpPr/>
          <p:nvPr/>
        </p:nvSpPr>
        <p:spPr>
          <a:xfrm>
            <a:off x="5833872" y="4521708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全聯福利中心中壢中北店站</a:t>
            </a:r>
            <a:endParaRPr lang="en-US" sz="900" dirty="0"/>
          </a:p>
        </p:txBody>
      </p:sp>
      <p:sp>
        <p:nvSpPr>
          <p:cNvPr id="90" name="Text 87"/>
          <p:cNvSpPr/>
          <p:nvPr/>
        </p:nvSpPr>
        <p:spPr>
          <a:xfrm>
            <a:off x="8412480" y="45217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91" name="Text 88"/>
          <p:cNvSpPr/>
          <p:nvPr/>
        </p:nvSpPr>
        <p:spPr>
          <a:xfrm>
            <a:off x="5833872" y="4727448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全聯福利中心龜山文德店站</a:t>
            </a:r>
            <a:endParaRPr lang="en-US" sz="900" dirty="0"/>
          </a:p>
        </p:txBody>
      </p:sp>
      <p:sp>
        <p:nvSpPr>
          <p:cNvPr id="92" name="Text 89"/>
          <p:cNvSpPr/>
          <p:nvPr/>
        </p:nvSpPr>
        <p:spPr>
          <a:xfrm>
            <a:off x="8412480" y="47274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354</Words>
  <Application>Microsoft Office PowerPoint</Application>
  <PresentationFormat>如螢幕大小 (16:9)</PresentationFormat>
  <Paragraphs>150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5" baseType="lpstr">
      <vt:lpstr>Noto Sans TC</vt:lpstr>
      <vt:lpstr>Arial</vt:lpstr>
      <vt:lpstr>Office Theme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王茗芬</cp:lastModifiedBy>
  <cp:revision>3</cp:revision>
  <dcterms:created xsi:type="dcterms:W3CDTF">2026-08-17T03:00:08Z</dcterms:created>
  <dcterms:modified xsi:type="dcterms:W3CDTF">2026-08-18T02:56:17Z</dcterms:modified>
</cp:coreProperties>
</file>