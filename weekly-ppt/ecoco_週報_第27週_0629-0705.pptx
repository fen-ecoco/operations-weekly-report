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3B8-49D4-B7DB-25F14CB6E679}"/>
              </c:ext>
            </c:extLst>
          </c:dPt>
          <c:dPt>
            <c:idx val="1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B8-49D4-B7DB-25F14CB6E679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3B8-49D4-B7DB-25F14CB6E679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3B8-49D4-B7DB-25F14CB6E679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3B8-49D4-B7DB-25F14CB6E679}"/>
              </c:ext>
            </c:extLst>
          </c:dPt>
          <c:dPt>
            <c:idx val="5"/>
            <c:bubble3D val="0"/>
            <c:spPr>
              <a:solidFill>
                <a:srgbClr val="FAE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3B8-49D4-B7DB-25F14CB6E67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B8-49D4-B7DB-25F14CB6E67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B8-49D4-B7DB-25F14CB6E67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B8-49D4-B7DB-25F14CB6E67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B8-49D4-B7DB-25F14CB6E67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3B8-49D4-B7DB-25F14CB6E679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3B8-49D4-B7DB-25F14CB6E67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89</c:v>
                </c:pt>
                <c:pt idx="2">
                  <c:v>7</c:v>
                </c:pt>
                <c:pt idx="3">
                  <c:v>24</c:v>
                </c:pt>
                <c:pt idx="4">
                  <c:v>14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3B8-49D4-B7DB-25F14CB6E6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E22-4D5F-8D32-1543A1547F9C}"/>
              </c:ext>
            </c:extLst>
          </c:dPt>
          <c:dPt>
            <c:idx val="1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22-4D5F-8D32-1543A1547F9C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22-4D5F-8D32-1543A1547F9C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E22-4D5F-8D32-1543A1547F9C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E22-4D5F-8D32-1543A1547F9C}"/>
              </c:ext>
            </c:extLst>
          </c:dPt>
          <c:dPt>
            <c:idx val="5"/>
            <c:bubble3D val="0"/>
            <c:spPr>
              <a:solidFill>
                <a:srgbClr val="B8BE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E22-4D5F-8D32-1543A1547F9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E22-4D5F-8D32-1543A1547F9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E22-4D5F-8D32-1543A1547F9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E22-4D5F-8D32-1543A1547F9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E22-4D5F-8D32-1543A1547F9C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E22-4D5F-8D32-1543A1547F9C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E22-4D5F-8D32-1543A1547F9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瓶蓋桶已滿</c:v>
                </c:pt>
                <c:pt idx="1">
                  <c:v>機台需維護/故障提醒</c:v>
                </c:pt>
                <c:pt idx="2">
                  <c:v>機台關閉/無法啟動</c:v>
                </c:pt>
                <c:pt idx="3">
                  <c:v>機台運作中斷/重啟</c:v>
                </c:pt>
                <c:pt idx="4">
                  <c:v>履帶未作動或異常抖動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9</c:v>
                </c:pt>
                <c:pt idx="2">
                  <c:v>8</c:v>
                </c:pt>
                <c:pt idx="3">
                  <c:v>7</c:v>
                </c:pt>
                <c:pt idx="4">
                  <c:v>5</c:v>
                </c:pt>
                <c:pt idx="5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E22-4D5F-8D32-1543A1547F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38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06/29 ~ 07/05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3"/>
            <a:ext cx="49284" cy="206605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7"/>
            <a:ext cx="8673970" cy="2066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客訴趨勢分析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353300"/>
              </p:ext>
            </p:extLst>
          </p:nvPr>
        </p:nvGraphicFramePr>
        <p:xfrm>
          <a:off x="164592" y="548640"/>
          <a:ext cx="8851391" cy="1737360"/>
        </p:xfrm>
        <a:graphic>
          <a:graphicData uri="http://schemas.openxmlformats.org/drawingml/2006/table">
            <a:tbl>
              <a:tblPr/>
              <a:tblGrid>
                <a:gridCol w="1034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7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7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73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79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85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24週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06/08-06/14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25週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06/15-06/21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93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26週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06/22-06/28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77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21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32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▲65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27週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06/29-07/05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103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14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24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主分類佔比（06/29 ~ 07/05）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" y="2642616"/>
          <a:ext cx="3529584" cy="2340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9件　5.9%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89件　58.6%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7件　4.6%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24件　15.8%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14件　9.2%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8件　5.3%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12件・7.9%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0"/>
          <p:cNvSpPr/>
          <p:nvPr/>
        </p:nvSpPr>
        <p:spPr>
          <a:xfrm>
            <a:off x="5833872" y="3387852"/>
            <a:ext cx="254276" cy="457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無法接收簡訊驗證碼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9件・5.9%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38"/>
          <p:cNvSpPr/>
          <p:nvPr/>
        </p:nvSpPr>
        <p:spPr>
          <a:xfrm>
            <a:off x="5833872" y="4210812"/>
            <a:ext cx="189903" cy="4572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7件・4.6%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6"/>
          <p:cNvSpPr/>
          <p:nvPr/>
        </p:nvSpPr>
        <p:spPr>
          <a:xfrm>
            <a:off x="5833872" y="5033772"/>
            <a:ext cx="148060" cy="4572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96971D7B-8B4E-6944-1491-23710BED2F7B}"/>
              </a:ext>
            </a:extLst>
          </p:cNvPr>
          <p:cNvSpPr txBox="1"/>
          <p:nvPr/>
        </p:nvSpPr>
        <p:spPr>
          <a:xfrm>
            <a:off x="7415783" y="4604671"/>
            <a:ext cx="16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收瓶機*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5</a:t>
            </a:r>
            <a:endParaRPr lang="en-US" altLang="zh-TW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06/29 ~ 07/05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客訴詳情與分類佔比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" y="475488"/>
          <a:ext cx="27889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　31件（34.8%）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　9件（10.1%）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機台關閉/無法啟動　8件（9%）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機台運作中斷/重啟　7件（7.9%）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　5件（5.6%）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29件（32.6%）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559612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9612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9612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（103件）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93408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669340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9340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9340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（6件）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本週熱點站點（第27週：06/29 ~ 07/05）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1133856" y="2610612"/>
            <a:ext cx="973836" cy="34747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1133856" y="2962656"/>
            <a:ext cx="259690" cy="34747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1133856" y="3314700"/>
            <a:ext cx="259690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</a:t>
            </a:r>
            <a:endParaRPr lang="en-US" sz="950" b="1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1133856" y="3694176"/>
            <a:ext cx="1623060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投入物卡住_瓶罐/電池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0"/>
          <p:cNvSpPr/>
          <p:nvPr/>
        </p:nvSpPr>
        <p:spPr>
          <a:xfrm>
            <a:off x="1133856" y="4039819"/>
            <a:ext cx="1071220" cy="34747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4" name="Shape 61"/>
          <p:cNvSpPr/>
          <p:nvPr/>
        </p:nvSpPr>
        <p:spPr>
          <a:xfrm>
            <a:off x="164592" y="4151376"/>
            <a:ext cx="5376672" cy="548640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 瓶蓋桶已滿 31件（30.0%）居首，請確認清空頻率。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833872" y="255117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r>
              <a:rPr lang="en-US" sz="8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全聯福利中心苓雅三多店站</a:t>
            </a:r>
            <a:endParaRPr lang="en-US" sz="900" b="1" dirty="0"/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833872" y="275691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康達盛通五甲店站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833872" y="296265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全聯福利中心大寮三隆店站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833872" y="343357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億進寢具文賢店站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833872" y="363931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全家台南育安店站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833872" y="384505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康達盛通仁德店方舟站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桃園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833872" y="431596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全聯福利中心龜山長慶店站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833872" y="452170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全聯福利中心龜山華亞三店站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833872" y="472744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全聯福利中心桃園國際店站</a:t>
            </a:r>
            <a:endParaRPr lang="en-US" sz="900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351</Words>
  <Application>Microsoft Office PowerPoint</Application>
  <PresentationFormat>如螢幕大小 (16:9)</PresentationFormat>
  <Paragraphs>150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Noto Sans TC</vt:lpstr>
      <vt:lpstr>Arial</vt:lpstr>
      <vt:lpstr>Office Theme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3</cp:revision>
  <dcterms:created xsi:type="dcterms:W3CDTF">2026-07-06T03:06:24Z</dcterms:created>
  <dcterms:modified xsi:type="dcterms:W3CDTF">2026-07-06T04:21:40Z</dcterms:modified>
</cp:coreProperties>
</file>