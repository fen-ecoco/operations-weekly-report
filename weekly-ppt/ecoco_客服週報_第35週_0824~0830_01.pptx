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644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ecoco 客服週報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第35週（08/24 ~ 08/30）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4864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本週客訴總件數 (第35週)</a:t>
            </a:r>
            <a:endParaRPr lang="en-US" sz="1200" dirty="0"/>
          </a:p>
        </p:txBody>
      </p:sp>
      <p:pic>
        <p:nvPicPr>
          <p:cNvPr id="8" name="Image 0" descr="D:\info\0507_Weekly-Report\Operations-Weekly-Report\automation\icons\headse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188" y="8503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76 </a:t>
            </a:r>
            <a:r>
              <a:rPr lang="en-US" sz="13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4864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較上週 (61件) 增加 15 件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15341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215341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▲24.6%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326898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1"/>
          <p:cNvSpPr/>
          <p:nvPr/>
        </p:nvSpPr>
        <p:spPr>
          <a:xfrm>
            <a:off x="326898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45186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回報最高主題</a:t>
            </a:r>
            <a:endParaRPr lang="en-US" sz="1200" dirty="0"/>
          </a:p>
        </p:txBody>
      </p:sp>
      <p:pic>
        <p:nvPicPr>
          <p:cNvPr id="16" name="Image 1" descr="D:\info\0507_Weekly-Report\Operations-Weekly-Report\automation\icons\warn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85039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186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其他建議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45186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佔比 14.5%（共 11 件</a:t>
            </a:r>
            <a:r>
              <a:rPr lang="en-US" altLang="zh-TW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zh-TW" alt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</a:rPr>
              <a:t>案例：商城退貨、使用狀態</a:t>
            </a:r>
            <a:r>
              <a:rPr lang="en-US" altLang="zh-TW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</a:rPr>
              <a:t>	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505663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6"/>
          <p:cNvSpPr/>
          <p:nvPr/>
        </p:nvSpPr>
        <p:spPr>
          <a:xfrm>
            <a:off x="505663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▲3%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617220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8"/>
          <p:cNvSpPr/>
          <p:nvPr/>
        </p:nvSpPr>
        <p:spPr>
          <a:xfrm>
            <a:off x="617220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9"/>
          <p:cNvSpPr/>
          <p:nvPr/>
        </p:nvSpPr>
        <p:spPr>
          <a:xfrm>
            <a:off x="635508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客訴量最高站點</a:t>
            </a:r>
            <a:endParaRPr lang="en-US" sz="1200" dirty="0"/>
          </a:p>
        </p:txBody>
      </p:sp>
      <p:pic>
        <p:nvPicPr>
          <p:cNvPr id="24" name="Image 2" descr="D:\info\0507_Weekly-Report\Operations-Weekly-Report\automation\icons\pin_dark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628" y="85039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萬家福中壢店方舟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35508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桃園市（本週 5 件）</a:t>
            </a:r>
            <a:endParaRPr lang="en-US" sz="920" dirty="0"/>
          </a:p>
        </p:txBody>
      </p:sp>
      <p:sp>
        <p:nvSpPr>
          <p:cNvPr id="27" name="Shape 22"/>
          <p:cNvSpPr/>
          <p:nvPr/>
        </p:nvSpPr>
        <p:spPr>
          <a:xfrm>
            <a:off x="795985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3"/>
          <p:cNvSpPr/>
          <p:nvPr/>
        </p:nvSpPr>
        <p:spPr>
          <a:xfrm>
            <a:off x="795985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▲5件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907542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5"/>
          <p:cNvSpPr/>
          <p:nvPr/>
        </p:nvSpPr>
        <p:spPr>
          <a:xfrm>
            <a:off x="907542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6"/>
          <p:cNvSpPr/>
          <p:nvPr/>
        </p:nvSpPr>
        <p:spPr>
          <a:xfrm>
            <a:off x="925830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非機台問題佔比</a:t>
            </a:r>
            <a:endParaRPr lang="en-US" sz="1200" dirty="0"/>
          </a:p>
        </p:txBody>
      </p:sp>
      <p:pic>
        <p:nvPicPr>
          <p:cNvPr id="32" name="Image 3" descr="D:\info\0507_Weekly-Report\Operations-Weekly-Report\automation\icons\usercog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6848" y="85039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5830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44.7</a:t>
            </a:r>
            <a:r>
              <a:rPr lang="en-US" sz="13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700" dirty="0"/>
          </a:p>
        </p:txBody>
      </p:sp>
      <p:sp>
        <p:nvSpPr>
          <p:cNvPr id="34" name="Text 28"/>
          <p:cNvSpPr/>
          <p:nvPr/>
        </p:nvSpPr>
        <p:spPr>
          <a:xfrm>
            <a:off x="925830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代表案例類型：其他建議</a:t>
            </a:r>
            <a:endParaRPr lang="en-US" sz="920" dirty="0"/>
          </a:p>
        </p:txBody>
      </p:sp>
      <p:sp>
        <p:nvSpPr>
          <p:cNvPr id="35" name="Shape 29"/>
          <p:cNvSpPr/>
          <p:nvPr/>
        </p:nvSpPr>
        <p:spPr>
          <a:xfrm>
            <a:off x="1086307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0"/>
          <p:cNvSpPr/>
          <p:nvPr/>
        </p:nvSpPr>
        <p:spPr>
          <a:xfrm>
            <a:off x="1086307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▲0.4%</a:t>
            </a:r>
            <a:endParaRPr lang="en-US" sz="1020" dirty="0"/>
          </a:p>
        </p:txBody>
      </p:sp>
      <p:sp>
        <p:nvSpPr>
          <p:cNvPr id="37" name="Shape 31"/>
          <p:cNvSpPr/>
          <p:nvPr/>
        </p:nvSpPr>
        <p:spPr>
          <a:xfrm>
            <a:off x="365760" y="2459736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2"/>
          <p:cNvSpPr/>
          <p:nvPr/>
        </p:nvSpPr>
        <p:spPr>
          <a:xfrm>
            <a:off x="502920" y="2432304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客訴趨勢分析（近4週）　單位：件數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07208"/>
          <a:ext cx="7141464" cy="3017520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週次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機台問題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APP帳號設定問題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回收點數問題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顧客關係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優惠券問題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APP使用問題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加總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第32週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157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第33週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100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20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33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165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第34週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34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▼66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61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▼104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第35週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42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17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76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Shape 33"/>
          <p:cNvSpPr/>
          <p:nvPr/>
        </p:nvSpPr>
        <p:spPr>
          <a:xfrm>
            <a:off x="7772400" y="2459736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4"/>
          <p:cNvSpPr/>
          <p:nvPr/>
        </p:nvSpPr>
        <p:spPr>
          <a:xfrm>
            <a:off x="7909560" y="243230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非機台問題 Top 3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7772400" y="2807208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4EF"/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6"/>
          <p:cNvSpPr/>
          <p:nvPr/>
        </p:nvSpPr>
        <p:spPr>
          <a:xfrm>
            <a:off x="7772400" y="2807208"/>
            <a:ext cx="54864" cy="11887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Text 37"/>
          <p:cNvSpPr/>
          <p:nvPr/>
        </p:nvSpPr>
        <p:spPr>
          <a:xfrm>
            <a:off x="7918704" y="29169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700" dirty="0"/>
          </a:p>
        </p:txBody>
      </p:sp>
      <p:sp>
        <p:nvSpPr>
          <p:cNvPr id="45" name="Text 38"/>
          <p:cNvSpPr/>
          <p:nvPr/>
        </p:nvSpPr>
        <p:spPr>
          <a:xfrm>
            <a:off x="8394192" y="2898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其他建議</a:t>
            </a:r>
            <a:r>
              <a:rPr lang="zh-TW" alt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 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8394192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11件</a:t>
            </a:r>
            <a:r>
              <a:rPr lang="en-US" sz="11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14.5%</a:t>
            </a:r>
            <a:endParaRPr lang="en-US" sz="1700" dirty="0"/>
          </a:p>
        </p:txBody>
      </p:sp>
      <p:sp>
        <p:nvSpPr>
          <p:cNvPr id="47" name="Shape 40"/>
          <p:cNvSpPr/>
          <p:nvPr/>
        </p:nvSpPr>
        <p:spPr>
          <a:xfrm>
            <a:off x="8394192" y="3794760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1"/>
          <p:cNvSpPr/>
          <p:nvPr/>
        </p:nvSpPr>
        <p:spPr>
          <a:xfrm>
            <a:off x="8394192" y="3794760"/>
            <a:ext cx="3200400" cy="6400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2"/>
          <p:cNvSpPr/>
          <p:nvPr/>
        </p:nvSpPr>
        <p:spPr>
          <a:xfrm>
            <a:off x="7772400" y="4151376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6FB"/>
          </a:solidFill>
          <a:ln w="12700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3"/>
          <p:cNvSpPr/>
          <p:nvPr/>
        </p:nvSpPr>
        <p:spPr>
          <a:xfrm>
            <a:off x="7772400" y="4151376"/>
            <a:ext cx="54864" cy="118872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4"/>
          <p:cNvSpPr/>
          <p:nvPr/>
        </p:nvSpPr>
        <p:spPr>
          <a:xfrm>
            <a:off x="7918704" y="42611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700" dirty="0"/>
          </a:p>
        </p:txBody>
      </p:sp>
      <p:sp>
        <p:nvSpPr>
          <p:cNvPr id="52" name="Text 45"/>
          <p:cNvSpPr/>
          <p:nvPr/>
        </p:nvSpPr>
        <p:spPr>
          <a:xfrm>
            <a:off x="8394192" y="4242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endParaRPr lang="en-US" sz="1250" dirty="0"/>
          </a:p>
        </p:txBody>
      </p:sp>
      <p:sp>
        <p:nvSpPr>
          <p:cNvPr id="53" name="Text 46"/>
          <p:cNvSpPr/>
          <p:nvPr/>
        </p:nvSpPr>
        <p:spPr>
          <a:xfrm>
            <a:off x="8394192" y="46268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8件</a:t>
            </a:r>
            <a:r>
              <a:rPr lang="en-US" sz="11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10.5%</a:t>
            </a:r>
            <a:endParaRPr lang="en-US" sz="1700" dirty="0"/>
          </a:p>
        </p:txBody>
      </p:sp>
      <p:sp>
        <p:nvSpPr>
          <p:cNvPr id="54" name="Shape 47"/>
          <p:cNvSpPr/>
          <p:nvPr/>
        </p:nvSpPr>
        <p:spPr>
          <a:xfrm>
            <a:off x="8394192" y="5138928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48"/>
          <p:cNvSpPr/>
          <p:nvPr/>
        </p:nvSpPr>
        <p:spPr>
          <a:xfrm>
            <a:off x="8394192" y="5138928"/>
            <a:ext cx="2327564" cy="64008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49"/>
          <p:cNvSpPr/>
          <p:nvPr/>
        </p:nvSpPr>
        <p:spPr>
          <a:xfrm>
            <a:off x="7772400" y="5495544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5F7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0"/>
          <p:cNvSpPr/>
          <p:nvPr/>
        </p:nvSpPr>
        <p:spPr>
          <a:xfrm>
            <a:off x="7772400" y="5495544"/>
            <a:ext cx="54864" cy="118872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1"/>
          <p:cNvSpPr/>
          <p:nvPr/>
        </p:nvSpPr>
        <p:spPr>
          <a:xfrm>
            <a:off x="7918704" y="56052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700" dirty="0"/>
          </a:p>
        </p:txBody>
      </p:sp>
      <p:sp>
        <p:nvSpPr>
          <p:cNvPr id="59" name="Text 52"/>
          <p:cNvSpPr/>
          <p:nvPr/>
        </p:nvSpPr>
        <p:spPr>
          <a:xfrm>
            <a:off x="8394192" y="5586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APP畫面顯示與機台狀態不符</a:t>
            </a:r>
            <a:endParaRPr lang="en-US" sz="1250" dirty="0"/>
          </a:p>
        </p:txBody>
      </p:sp>
      <p:sp>
        <p:nvSpPr>
          <p:cNvPr id="60" name="Text 53"/>
          <p:cNvSpPr/>
          <p:nvPr/>
        </p:nvSpPr>
        <p:spPr>
          <a:xfrm>
            <a:off x="8394192" y="5971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4件</a:t>
            </a: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5.3%</a:t>
            </a:r>
            <a:endParaRPr lang="en-US" sz="1700" dirty="0"/>
          </a:p>
        </p:txBody>
      </p:sp>
      <p:sp>
        <p:nvSpPr>
          <p:cNvPr id="61" name="Shape 54"/>
          <p:cNvSpPr/>
          <p:nvPr/>
        </p:nvSpPr>
        <p:spPr>
          <a:xfrm>
            <a:off x="8394192" y="6483096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Shape 55"/>
          <p:cNvSpPr/>
          <p:nvPr/>
        </p:nvSpPr>
        <p:spPr>
          <a:xfrm>
            <a:off x="8394192" y="6483096"/>
            <a:ext cx="1163782" cy="64008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客訴機台類型與高頻站點分析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第35週（08/24 ~ 08/30）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7" name="Image 0" descr="D:\info\0507_Weekly-Report\Operations-Weekly-Report\automation\icons\recycl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69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收瓶機 ／ 方舟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09194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409194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58件 (98.3%)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69494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滿艙問題（回收箱／寶特瓶）</a:t>
            </a: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29.3% (17件)</a:t>
            </a:r>
            <a:endParaRPr lang="en-US" sz="1600" dirty="0"/>
          </a:p>
        </p:txBody>
      </p:sp>
      <p:pic>
        <p:nvPicPr>
          <p:cNvPr id="14" name="Image 1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103120"/>
            <a:ext cx="137160" cy="137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最高回報站點：A｜桃園/全聯福利中心大溪員林店站（2件）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8521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3"/>
          <p:cNvSpPr/>
          <p:nvPr/>
        </p:nvSpPr>
        <p:spPr>
          <a:xfrm>
            <a:off x="69494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14300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機台當機/無回應</a:t>
            </a: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13.8% (8件)</a:t>
            </a:r>
            <a:endParaRPr lang="en-US" sz="1600" dirty="0"/>
          </a:p>
        </p:txBody>
      </p:sp>
      <p:pic>
        <p:nvPicPr>
          <p:cNvPr id="19" name="Image 2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61360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最高回報站點：D｜臺南/迷客夏臺南華平店站（4件）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8521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7"/>
          <p:cNvSpPr/>
          <p:nvPr/>
        </p:nvSpPr>
        <p:spPr>
          <a:xfrm>
            <a:off x="69494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4300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12.1% (7件)</a:t>
            </a:r>
            <a:endParaRPr lang="en-US" sz="1600" dirty="0"/>
          </a:p>
        </p:txBody>
      </p:sp>
      <p:pic>
        <p:nvPicPr>
          <p:cNvPr id="24" name="Image 3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19600"/>
            <a:ext cx="137160" cy="137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最高回報站點：D｜新竹/全家芎林飛鳳店站（1件）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4078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27" name="Image 4" descr="D:\info\0507_Weekly-Report\Operations-Weekly-Report\automation\icons\battery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0698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3572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二代電池機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996696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3"/>
          <p:cNvSpPr/>
          <p:nvPr/>
        </p:nvSpPr>
        <p:spPr>
          <a:xfrm>
            <a:off x="996696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1件 (1.7%)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6023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25"/>
          <p:cNvSpPr/>
          <p:nvPr/>
        </p:nvSpPr>
        <p:spPr>
          <a:xfrm>
            <a:off x="656996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701802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100% (1件)</a:t>
            </a:r>
            <a:endParaRPr lang="en-US" sz="1600" dirty="0"/>
          </a:p>
        </p:txBody>
      </p:sp>
      <p:pic>
        <p:nvPicPr>
          <p:cNvPr id="34" name="Image 5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2103120"/>
            <a:ext cx="137160" cy="1371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0090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最高回報站點：B｜桃園/小北百貨桃園大有店站（1件）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365760" y="5257800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FAE0B8"/>
          </a:solidFill>
          <a:ln w="15875">
            <a:solidFill>
              <a:srgbClr val="FFCE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7" name="Image 6" descr="D:\info\0507_Weekly-Report\Operations-Weekly-Report\automation\icons\wa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477256"/>
            <a:ext cx="310896" cy="31089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005840" y="5349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【本週融合洞察】收瓶機客訴集中於「滿艙問題（回收箱／寶特瓶）」（29.3%，17件），</a:t>
            </a:r>
            <a:r>
              <a:rPr lang="en-US" sz="1050" b="1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最高回報站點為 A｜桃園/全聯福利中心大溪員林店站（2件），</a:t>
            </a:r>
            <a:r>
              <a:rPr lang="en-US" sz="1050" dirty="0" err="1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建議優先派工檢修</a:t>
            </a: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；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zh-TW" alt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                                   </a:t>
            </a:r>
            <a:r>
              <a:rPr lang="en-US" sz="1050" dirty="0" err="1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電池機客訴則集中於「點數未入帳號</a:t>
            </a: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」（100.0%，1件），建議持續追蹤。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月低回收量站點改善清單 Top 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675120" y="2560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資料更新日期：2026/08/31（區間2026/08/01-08/31）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42976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等級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Hive排名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（總540）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縣市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站點名稱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機型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租賃/買斷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近30日合計（瓶）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月增減率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臺中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總太東光好室站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臺中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總太松竹好室站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苗栗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頭屋明德社區站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530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南投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南投東華醫院站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彰化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員林常春醫院站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彰化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員林宏仁醫院站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新竹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新東陽關西服務區站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523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成功大學光復第二宿舍站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Global Mall 環球南港車站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524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澎湖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澎湖車船處交通船馬公候船室站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66460" y="129844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5966460" y="12984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66460" y="16824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5966460" y="16824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66460" y="206654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5966460" y="20665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66460" y="245059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5966460" y="2450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66460" y="283464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5966460" y="28346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66460" y="321868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5966460" y="32186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66460" y="360273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5966460" y="36027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966460" y="398678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5966460" y="39867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315200" y="398678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3" name="Image 0" descr="D:\info\0507_Weekly-Report\Operations-Weekly-Report\automation\icons\key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4041648"/>
            <a:ext cx="146304" cy="14630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607808" y="39867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966460" y="437083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2"/>
          <p:cNvSpPr/>
          <p:nvPr/>
        </p:nvSpPr>
        <p:spPr>
          <a:xfrm>
            <a:off x="5966460" y="43708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966460" y="475488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4"/>
          <p:cNvSpPr/>
          <p:nvPr/>
        </p:nvSpPr>
        <p:spPr>
          <a:xfrm>
            <a:off x="5966460" y="4754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65760" y="5276088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5F7FF"/>
          </a:solidFill>
          <a:ln w="9525">
            <a:solidFill>
              <a:srgbClr val="8EB9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6"/>
          <p:cNvSpPr/>
          <p:nvPr/>
        </p:nvSpPr>
        <p:spPr>
          <a:xfrm>
            <a:off x="594360" y="53492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資料來源：Hive，一般站依近 30 個台灣日曆日實際清運的塑膠＋鋁罐瓶數分 S～F；三台以上有效收瓶機獨立列為 ARK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594360" y="5596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等級+加分/瓶量：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594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9525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29"/>
          <p:cNvSpPr/>
          <p:nvPr/>
        </p:nvSpPr>
        <p:spPr>
          <a:xfrm>
            <a:off x="594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S+18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1133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17,000瓶以上</a:t>
            </a:r>
            <a:endParaRPr lang="en-US" sz="700" dirty="0"/>
          </a:p>
        </p:txBody>
      </p:sp>
      <p:sp>
        <p:nvSpPr>
          <p:cNvPr id="35" name="Shape 31"/>
          <p:cNvSpPr/>
          <p:nvPr/>
        </p:nvSpPr>
        <p:spPr>
          <a:xfrm>
            <a:off x="1965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9525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2"/>
          <p:cNvSpPr/>
          <p:nvPr/>
        </p:nvSpPr>
        <p:spPr>
          <a:xfrm>
            <a:off x="1965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A+12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2505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13,300～16,999瓶</a:t>
            </a:r>
            <a:endParaRPr lang="en-US" sz="700" dirty="0"/>
          </a:p>
        </p:txBody>
      </p:sp>
      <p:sp>
        <p:nvSpPr>
          <p:cNvPr id="38" name="Shape 34"/>
          <p:cNvSpPr/>
          <p:nvPr/>
        </p:nvSpPr>
        <p:spPr>
          <a:xfrm>
            <a:off x="3337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9525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5"/>
          <p:cNvSpPr/>
          <p:nvPr/>
        </p:nvSpPr>
        <p:spPr>
          <a:xfrm>
            <a:off x="3337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B+8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3877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11,100～13,299瓶</a:t>
            </a:r>
            <a:endParaRPr lang="en-US" sz="700" dirty="0"/>
          </a:p>
        </p:txBody>
      </p:sp>
      <p:sp>
        <p:nvSpPr>
          <p:cNvPr id="41" name="Shape 37"/>
          <p:cNvSpPr/>
          <p:nvPr/>
        </p:nvSpPr>
        <p:spPr>
          <a:xfrm>
            <a:off x="47091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4F86A0">
              <a:alpha val="15000"/>
            </a:srgbClr>
          </a:solidFill>
          <a:ln w="9525">
            <a:solidFill>
              <a:srgbClr val="4F86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38"/>
          <p:cNvSpPr/>
          <p:nvPr/>
        </p:nvSpPr>
        <p:spPr>
          <a:xfrm>
            <a:off x="47091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86A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C+4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52486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9,000～11,099瓶</a:t>
            </a:r>
            <a:endParaRPr lang="en-US" sz="700" dirty="0"/>
          </a:p>
        </p:txBody>
      </p:sp>
      <p:sp>
        <p:nvSpPr>
          <p:cNvPr id="44" name="Shape 40"/>
          <p:cNvSpPr/>
          <p:nvPr/>
        </p:nvSpPr>
        <p:spPr>
          <a:xfrm>
            <a:off x="60807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1"/>
          <p:cNvSpPr/>
          <p:nvPr/>
        </p:nvSpPr>
        <p:spPr>
          <a:xfrm>
            <a:off x="60807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D+2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66202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6,900～8,999瓶</a:t>
            </a:r>
            <a:endParaRPr lang="en-US" sz="700" dirty="0"/>
          </a:p>
        </p:txBody>
      </p:sp>
      <p:sp>
        <p:nvSpPr>
          <p:cNvPr id="47" name="Shape 43"/>
          <p:cNvSpPr/>
          <p:nvPr/>
        </p:nvSpPr>
        <p:spPr>
          <a:xfrm>
            <a:off x="7452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4"/>
          <p:cNvSpPr/>
          <p:nvPr/>
        </p:nvSpPr>
        <p:spPr>
          <a:xfrm>
            <a:off x="7452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E+1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7991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4,100～6,899瓶</a:t>
            </a:r>
            <a:endParaRPr lang="en-US" sz="700" dirty="0"/>
          </a:p>
        </p:txBody>
      </p:sp>
      <p:sp>
        <p:nvSpPr>
          <p:cNvPr id="50" name="Shape 46"/>
          <p:cNvSpPr/>
          <p:nvPr/>
        </p:nvSpPr>
        <p:spPr>
          <a:xfrm>
            <a:off x="8823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7"/>
          <p:cNvSpPr/>
          <p:nvPr/>
        </p:nvSpPr>
        <p:spPr>
          <a:xfrm>
            <a:off x="8823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F+0</a:t>
            </a:r>
            <a:endParaRPr lang="en-US" sz="850" dirty="0"/>
          </a:p>
        </p:txBody>
      </p:sp>
      <p:sp>
        <p:nvSpPr>
          <p:cNvPr id="52" name="Text 48"/>
          <p:cNvSpPr/>
          <p:nvPr/>
        </p:nvSpPr>
        <p:spPr>
          <a:xfrm>
            <a:off x="9363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4,100瓶以下</a:t>
            </a:r>
            <a:endParaRPr lang="en-US" sz="700" dirty="0"/>
          </a:p>
        </p:txBody>
      </p:sp>
      <p:sp>
        <p:nvSpPr>
          <p:cNvPr id="53" name="Shape 49"/>
          <p:cNvSpPr/>
          <p:nvPr/>
        </p:nvSpPr>
        <p:spPr>
          <a:xfrm>
            <a:off x="10195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9C7A00">
              <a:alpha val="15000"/>
            </a:srgbClr>
          </a:solidFill>
          <a:ln w="9525">
            <a:solidFill>
              <a:srgbClr val="9C7A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0"/>
          <p:cNvSpPr/>
          <p:nvPr/>
        </p:nvSpPr>
        <p:spPr>
          <a:xfrm>
            <a:off x="10195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ARK+8</a:t>
            </a:r>
            <a:endParaRPr lang="en-US" sz="850" dirty="0"/>
          </a:p>
        </p:txBody>
      </p:sp>
      <p:sp>
        <p:nvSpPr>
          <p:cNvPr id="55" name="Text 51"/>
          <p:cNvSpPr/>
          <p:nvPr/>
        </p:nvSpPr>
        <p:spPr>
          <a:xfrm>
            <a:off x="10735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3台有效收瓶機</a:t>
            </a:r>
            <a:endParaRPr lang="en-US" sz="700" dirty="0"/>
          </a:p>
        </p:txBody>
      </p:sp>
      <p:sp>
        <p:nvSpPr>
          <p:cNvPr id="71" name="Shape 19">
            <a:extLst>
              <a:ext uri="{FF2B5EF4-FFF2-40B4-BE49-F238E27FC236}">
                <a16:creationId xmlns:a16="http://schemas.microsoft.com/office/drawing/2014/main" id="{0D8EC966-7FE6-EC4F-4E49-3338BC7988AB}"/>
              </a:ext>
            </a:extLst>
          </p:cNvPr>
          <p:cNvSpPr/>
          <p:nvPr/>
        </p:nvSpPr>
        <p:spPr>
          <a:xfrm>
            <a:off x="7328263" y="437997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73" name="Image 0" descr="D:\info\0507_Weekly-Report\Operations-Weekly-Report\automation\icons\key_blue.png">
            <a:extLst>
              <a:ext uri="{FF2B5EF4-FFF2-40B4-BE49-F238E27FC236}">
                <a16:creationId xmlns:a16="http://schemas.microsoft.com/office/drawing/2014/main" id="{B268269E-7599-DBA5-6F63-1A23965AD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279" y="4434840"/>
            <a:ext cx="146304" cy="146304"/>
          </a:xfrm>
          <a:prstGeom prst="rect">
            <a:avLst/>
          </a:prstGeom>
        </p:spPr>
      </p:pic>
      <p:sp>
        <p:nvSpPr>
          <p:cNvPr id="75" name="Text 20">
            <a:extLst>
              <a:ext uri="{FF2B5EF4-FFF2-40B4-BE49-F238E27FC236}">
                <a16:creationId xmlns:a16="http://schemas.microsoft.com/office/drawing/2014/main" id="{16EA0C18-8B2E-7BDC-999D-F5A6BEF2FC35}"/>
              </a:ext>
            </a:extLst>
          </p:cNvPr>
          <p:cNvSpPr/>
          <p:nvPr/>
        </p:nvSpPr>
        <p:spPr>
          <a:xfrm>
            <a:off x="7620871" y="43799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545</Words>
  <Application>Microsoft Office PowerPoint</Application>
  <PresentationFormat>寬螢幕</PresentationFormat>
  <Paragraphs>214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Noto Sans TC Black</vt:lpstr>
      <vt:lpstr>Noto Sans TC Bold</vt:lpstr>
      <vt:lpstr>Noto Sans TC Medium</vt:lpstr>
      <vt:lpstr>Arial</vt:lpstr>
      <vt:lpstr>Office Theme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王茗芬</cp:lastModifiedBy>
  <cp:revision>2</cp:revision>
  <dcterms:created xsi:type="dcterms:W3CDTF">2026-08-31T03:00:05Z</dcterms:created>
  <dcterms:modified xsi:type="dcterms:W3CDTF">2026-08-31T04:34:34Z</dcterms:modified>
</cp:coreProperties>
</file>