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客訴總量（件）</c:v>
                </c:pt>
              </c:strCache>
            </c:strRef>
          </c:tx>
          <c:spPr>
            <a:solidFill>
              <a:srgbClr val="060E9F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3月</c:v>
                </c:pt>
                <c:pt idx="1">
                  <c:v>4月</c:v>
                </c:pt>
                <c:pt idx="2">
                  <c:v>5月</c:v>
                </c:pt>
                <c:pt idx="3">
                  <c:v>6月</c:v>
                </c:pt>
                <c:pt idx="4">
                  <c:v>7月</c:v>
                </c:pt>
                <c:pt idx="5">
                  <c:v>8月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1045</c:v>
                </c:pt>
                <c:pt idx="1">
                  <c:v>600</c:v>
                </c:pt>
                <c:pt idx="2">
                  <c:v>880</c:v>
                </c:pt>
                <c:pt idx="3">
                  <c:v>598</c:v>
                </c:pt>
                <c:pt idx="4">
                  <c:v>678</c:v>
                </c:pt>
                <c:pt idx="5">
                  <c:v>513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300-4610-9827-527247D40B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客訴密度（件/站）</c:v>
                </c:pt>
              </c:strCache>
            </c:strRef>
          </c:tx>
          <c:spPr>
            <a:ln w="31750" cap="flat">
              <a:solidFill>
                <a:srgbClr val="FF500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F5000"/>
              </a:solidFill>
              <a:ln w="9525" cap="flat">
                <a:solidFill>
                  <a:srgbClr val="FF5000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3月</c:v>
                </c:pt>
                <c:pt idx="1">
                  <c:v>4月</c:v>
                </c:pt>
                <c:pt idx="2">
                  <c:v>5月</c:v>
                </c:pt>
                <c:pt idx="3">
                  <c:v>6月</c:v>
                </c:pt>
                <c:pt idx="4">
                  <c:v>7月</c:v>
                </c:pt>
                <c:pt idx="5">
                  <c:v>8月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1.85</c:v>
                </c:pt>
                <c:pt idx="1">
                  <c:v>1.06</c:v>
                </c:pt>
                <c:pt idx="2">
                  <c:v>1.56</c:v>
                </c:pt>
                <c:pt idx="3">
                  <c:v>1.06</c:v>
                </c:pt>
                <c:pt idx="4">
                  <c:v>1.2</c:v>
                </c:pt>
                <c:pt idx="5">
                  <c:v>0.91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300-4610-9827-527247D40B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5"/>
        <c:axId val="2094734553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  <c:min val="0"/>
        </c:scaling>
        <c:delete val="0"/>
        <c:axPos val="r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3"/>
        <c:crosses val="autoZero"/>
        <c:auto val="1"/>
        <c:lblAlgn val="ctr"/>
        <c:lblOffset val="100"/>
        <c:noMultiLvlLbl val="1"/>
      </c:cat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88888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1"/>
  <c:style val="2"/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APP帳號設定問題</c:v>
                </c:pt>
              </c:strCache>
            </c:strRef>
          </c:tx>
          <c:spPr>
            <a:solidFill>
              <a:srgbClr val="BA7517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50" b="0" i="0" u="none" strike="noStrike">
                    <a:solidFill>
                      <a:srgbClr val="FFFFFF"/>
                    </a:solidFill>
                    <a:latin typeface="Noto Sans TC Bold"/>
                  </a:defRPr>
                </a:pPr>
                <a:endParaRPr lang="zh-TW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26年Q1</c:v>
                </c:pt>
                <c:pt idx="1">
                  <c:v>26年Q2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</c:v>
                </c:pt>
                <c:pt idx="1">
                  <c:v>21.7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E9B-451E-87DF-EF1F472950B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機台問題</c:v>
                </c:pt>
              </c:strCache>
            </c:strRef>
          </c:tx>
          <c:spPr>
            <a:solidFill>
              <a:srgbClr val="060E9F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50" b="0" i="0" u="none" strike="noStrike">
                    <a:solidFill>
                      <a:srgbClr val="FFFFFF"/>
                    </a:solidFill>
                    <a:latin typeface="Noto Sans TC Bold"/>
                  </a:defRPr>
                </a:pPr>
                <a:endParaRPr lang="zh-TW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26年Q1</c:v>
                </c:pt>
                <c:pt idx="1">
                  <c:v>26年Q2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52.2</c:v>
                </c:pt>
                <c:pt idx="1">
                  <c:v>45.4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E9B-451E-87DF-EF1F472950B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回收點數問題</c:v>
                </c:pt>
              </c:strCache>
            </c:strRef>
          </c:tx>
          <c:spPr>
            <a:solidFill>
              <a:srgbClr val="0076A9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50" b="0" i="0" u="none" strike="noStrike">
                    <a:solidFill>
                      <a:srgbClr val="FFFFFF"/>
                    </a:solidFill>
                    <a:latin typeface="Noto Sans TC Bold"/>
                  </a:defRPr>
                </a:pPr>
                <a:endParaRPr lang="zh-TW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26年Q1</c:v>
                </c:pt>
                <c:pt idx="1">
                  <c:v>26年Q2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10</c:v>
                </c:pt>
                <c:pt idx="1">
                  <c:v>10.7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E9B-451E-87DF-EF1F472950BE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顧客關係</c:v>
                </c:pt>
              </c:strCache>
            </c:strRef>
          </c:tx>
          <c:spPr>
            <a:solidFill>
              <a:srgbClr val="7F77DD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50" b="0" i="0" u="none" strike="noStrike">
                    <a:solidFill>
                      <a:srgbClr val="FFFFFF"/>
                    </a:solidFill>
                    <a:latin typeface="Noto Sans TC Bold"/>
                  </a:defRPr>
                </a:pPr>
                <a:endParaRPr lang="zh-TW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26年Q1</c:v>
                </c:pt>
                <c:pt idx="1">
                  <c:v>26年Q2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11.8</c:v>
                </c:pt>
                <c:pt idx="1">
                  <c:v>10.6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E9B-451E-87DF-EF1F472950BE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優惠券問題</c:v>
                </c:pt>
              </c:strCache>
            </c:strRef>
          </c:tx>
          <c:spPr>
            <a:solidFill>
              <a:srgbClr val="E24B4A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50" b="0" i="0" u="none" strike="noStrike">
                    <a:solidFill>
                      <a:srgbClr val="FFFFFF"/>
                    </a:solidFill>
                    <a:latin typeface="Noto Sans TC Bold"/>
                  </a:defRPr>
                </a:pPr>
                <a:endParaRPr lang="zh-TW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26年Q1</c:v>
                </c:pt>
                <c:pt idx="1">
                  <c:v>26年Q2</c:v>
                </c:pt>
              </c:strCache>
            </c:strRef>
          </c:cat>
          <c:val>
            <c:numRef>
              <c:f>Sheet1!$F$2:$F$3</c:f>
              <c:numCache>
                <c:formatCode>General</c:formatCode>
                <c:ptCount val="2"/>
                <c:pt idx="0">
                  <c:v>11.3</c:v>
                </c:pt>
                <c:pt idx="1">
                  <c:v>6.3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E9B-451E-87DF-EF1F472950BE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APP使用問題</c:v>
                </c:pt>
              </c:strCache>
            </c:strRef>
          </c:tx>
          <c:spPr>
            <a:solidFill>
              <a:srgbClr val="D4537E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50" b="0" i="0" u="none" strike="noStrike">
                    <a:solidFill>
                      <a:srgbClr val="FFFFFF"/>
                    </a:solidFill>
                    <a:latin typeface="Noto Sans TC Bold"/>
                  </a:defRPr>
                </a:pPr>
                <a:endParaRPr lang="zh-TW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26年Q1</c:v>
                </c:pt>
                <c:pt idx="1">
                  <c:v>26年Q2</c:v>
                </c:pt>
              </c:strCache>
            </c:strRef>
          </c:cat>
          <c:val>
            <c:numRef>
              <c:f>Sheet1!$G$2:$G$3</c:f>
              <c:numCache>
                <c:formatCode>General</c:formatCode>
                <c:ptCount val="2"/>
                <c:pt idx="0">
                  <c:v>6.3</c:v>
                </c:pt>
                <c:pt idx="1">
                  <c:v>5.2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2E9B-451E-87DF-EF1F472950BE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888888"/>
                    </a:solidFill>
                    <a:latin typeface="Arial"/>
                  </a:defRPr>
                </a:pPr>
                <a:r>
                  <a:rPr lang="zh-TW" altLang="en-US" sz="900" b="0" i="0" u="none" strike="noStrike">
                    <a:solidFill>
                      <a:srgbClr val="888888"/>
                    </a:solidFill>
                    <a:latin typeface="Arial"/>
                  </a:rPr>
                  <a:t>客訴佔比</a:t>
                </a:r>
              </a:p>
            </c:rich>
          </c:tx>
          <c:overlay val="0"/>
        </c:title>
        <c:numFmt formatCode="0%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88888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33380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hart" Target="../charts/chart2.xml"/><Relationship Id="rId3" Type="http://schemas.openxmlformats.org/officeDocument/2006/relationships/image" Target="../media/image1.png"/><Relationship Id="rId7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5720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33333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客服課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9326880" y="475488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060E9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9326880" y="47548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第38週（09/14 ~ 09/20）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65760" y="1033272"/>
            <a:ext cx="2720340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63500" dist="19050" dir="5400000" algn="bl" rotWithShape="0">
              <a:srgbClr val="999999">
                <a:alpha val="2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365760" y="1033272"/>
            <a:ext cx="2720340" cy="64008"/>
          </a:xfrm>
          <a:prstGeom prst="roundRect">
            <a:avLst>
              <a:gd name="adj" fmla="val 42857"/>
            </a:avLst>
          </a:prstGeom>
          <a:solidFill>
            <a:srgbClr val="060E9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548640" y="1179576"/>
            <a:ext cx="20802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本週客訴總件數 (第38週)</a:t>
            </a:r>
            <a:endParaRPr lang="en-US" sz="1200" dirty="0"/>
          </a:p>
        </p:txBody>
      </p:sp>
      <p:pic>
        <p:nvPicPr>
          <p:cNvPr id="8" name="Image 0" descr="D:\info\0507_Weekly-Report\Operations-Weekly-Report\automation\icons\headset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7188" y="1197864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1527048"/>
            <a:ext cx="23545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60E9F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131 </a:t>
            </a:r>
            <a:r>
              <a:rPr lang="en-US" sz="135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件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548640" y="2039112"/>
            <a:ext cx="17145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92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較上週 (146件) 減少 15 件</a:t>
            </a:r>
            <a:endParaRPr lang="en-US" sz="920" dirty="0"/>
          </a:p>
        </p:txBody>
      </p:sp>
      <p:sp>
        <p:nvSpPr>
          <p:cNvPr id="11" name="Shape 8"/>
          <p:cNvSpPr/>
          <p:nvPr/>
        </p:nvSpPr>
        <p:spPr>
          <a:xfrm>
            <a:off x="2153412" y="2039112"/>
            <a:ext cx="768096" cy="292608"/>
          </a:xfrm>
          <a:prstGeom prst="roundRect">
            <a:avLst>
              <a:gd name="adj" fmla="val 50000"/>
            </a:avLst>
          </a:prstGeom>
          <a:solidFill>
            <a:srgbClr val="DDEAF5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9"/>
          <p:cNvSpPr/>
          <p:nvPr/>
        </p:nvSpPr>
        <p:spPr>
          <a:xfrm>
            <a:off x="2153412" y="2039112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0076A9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▼10.3%</a:t>
            </a:r>
            <a:endParaRPr lang="en-US" sz="1020" dirty="0"/>
          </a:p>
        </p:txBody>
      </p:sp>
      <p:sp>
        <p:nvSpPr>
          <p:cNvPr id="13" name="Shape 10"/>
          <p:cNvSpPr/>
          <p:nvPr/>
        </p:nvSpPr>
        <p:spPr>
          <a:xfrm>
            <a:off x="3268980" y="1033272"/>
            <a:ext cx="2720340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63500" dist="19050" dir="5400000" algn="bl" rotWithShape="0">
              <a:srgbClr val="999999">
                <a:alpha val="2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1"/>
          <p:cNvSpPr/>
          <p:nvPr/>
        </p:nvSpPr>
        <p:spPr>
          <a:xfrm>
            <a:off x="3268980" y="1033272"/>
            <a:ext cx="2720340" cy="64008"/>
          </a:xfrm>
          <a:prstGeom prst="roundRect">
            <a:avLst>
              <a:gd name="adj" fmla="val 42857"/>
            </a:avLst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2"/>
          <p:cNvSpPr/>
          <p:nvPr/>
        </p:nvSpPr>
        <p:spPr>
          <a:xfrm>
            <a:off x="3451860" y="1179576"/>
            <a:ext cx="20802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回報最高主題</a:t>
            </a:r>
            <a:endParaRPr lang="en-US" sz="1200" dirty="0"/>
          </a:p>
        </p:txBody>
      </p:sp>
      <p:pic>
        <p:nvPicPr>
          <p:cNvPr id="16" name="Image 1" descr="D:\info\0507_Weekly-Report\Operations-Weekly-Report\automation\icons\warn_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0408" y="1197864"/>
            <a:ext cx="256032" cy="25603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451860" y="1527048"/>
            <a:ext cx="23545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5000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回收箱滿艙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3451860" y="2039112"/>
            <a:ext cx="17145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92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佔比 13%（共 17 件）</a:t>
            </a:r>
            <a:endParaRPr lang="en-US" sz="920" dirty="0"/>
          </a:p>
        </p:txBody>
      </p:sp>
      <p:sp>
        <p:nvSpPr>
          <p:cNvPr id="19" name="Shape 15"/>
          <p:cNvSpPr/>
          <p:nvPr/>
        </p:nvSpPr>
        <p:spPr>
          <a:xfrm>
            <a:off x="5056632" y="2039112"/>
            <a:ext cx="768096" cy="292608"/>
          </a:xfrm>
          <a:prstGeom prst="roundRect">
            <a:avLst>
              <a:gd name="adj" fmla="val 50000"/>
            </a:avLst>
          </a:prstGeom>
          <a:solidFill>
            <a:srgbClr val="DDEAF5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6"/>
          <p:cNvSpPr/>
          <p:nvPr/>
        </p:nvSpPr>
        <p:spPr>
          <a:xfrm>
            <a:off x="5056632" y="2039112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888888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—</a:t>
            </a:r>
            <a:endParaRPr lang="en-US" sz="1020" dirty="0"/>
          </a:p>
        </p:txBody>
      </p:sp>
      <p:sp>
        <p:nvSpPr>
          <p:cNvPr id="21" name="Shape 17"/>
          <p:cNvSpPr/>
          <p:nvPr/>
        </p:nvSpPr>
        <p:spPr>
          <a:xfrm>
            <a:off x="6172200" y="1033272"/>
            <a:ext cx="2720340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63500" dist="19050" dir="5400000" algn="bl" rotWithShape="0">
              <a:srgbClr val="999999">
                <a:alpha val="2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18"/>
          <p:cNvSpPr/>
          <p:nvPr/>
        </p:nvSpPr>
        <p:spPr>
          <a:xfrm>
            <a:off x="6172200" y="1033272"/>
            <a:ext cx="2720340" cy="64008"/>
          </a:xfrm>
          <a:prstGeom prst="roundRect">
            <a:avLst>
              <a:gd name="adj" fmla="val 42857"/>
            </a:avLst>
          </a:prstGeom>
          <a:solidFill>
            <a:srgbClr val="0076A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3" name="Text 19"/>
          <p:cNvSpPr/>
          <p:nvPr/>
        </p:nvSpPr>
        <p:spPr>
          <a:xfrm>
            <a:off x="6355080" y="1179576"/>
            <a:ext cx="20802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客訴量最高站點</a:t>
            </a:r>
            <a:endParaRPr lang="en-US" sz="1200" dirty="0"/>
          </a:p>
        </p:txBody>
      </p:sp>
      <p:pic>
        <p:nvPicPr>
          <p:cNvPr id="24" name="Image 2" descr="D:\info\0507_Weekly-Report\Operations-Weekly-Report\automation\icons\pin_dark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3628" y="1197864"/>
            <a:ext cx="256032" cy="25603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355080" y="1527048"/>
            <a:ext cx="23545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076A9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全聯福利中心台南仁和店</a:t>
            </a:r>
            <a:endParaRPr lang="en-US" sz="1550" dirty="0"/>
          </a:p>
        </p:txBody>
      </p:sp>
      <p:sp>
        <p:nvSpPr>
          <p:cNvPr id="26" name="Text 21"/>
          <p:cNvSpPr/>
          <p:nvPr/>
        </p:nvSpPr>
        <p:spPr>
          <a:xfrm>
            <a:off x="6355080" y="2039112"/>
            <a:ext cx="17145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92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臺南市（本週 3 件）</a:t>
            </a:r>
            <a:endParaRPr lang="en-US" sz="920" dirty="0"/>
          </a:p>
        </p:txBody>
      </p:sp>
      <p:sp>
        <p:nvSpPr>
          <p:cNvPr id="27" name="Shape 22"/>
          <p:cNvSpPr/>
          <p:nvPr/>
        </p:nvSpPr>
        <p:spPr>
          <a:xfrm>
            <a:off x="7959852" y="2039112"/>
            <a:ext cx="768096" cy="292608"/>
          </a:xfrm>
          <a:prstGeom prst="roundRect">
            <a:avLst>
              <a:gd name="adj" fmla="val 50000"/>
            </a:avLst>
          </a:prstGeom>
          <a:solidFill>
            <a:srgbClr val="FFE9D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3"/>
          <p:cNvSpPr/>
          <p:nvPr/>
        </p:nvSpPr>
        <p:spPr>
          <a:xfrm>
            <a:off x="7959852" y="2039112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▲0件</a:t>
            </a:r>
            <a:endParaRPr lang="en-US" sz="1020" dirty="0"/>
          </a:p>
        </p:txBody>
      </p:sp>
      <p:sp>
        <p:nvSpPr>
          <p:cNvPr id="29" name="Shape 24"/>
          <p:cNvSpPr/>
          <p:nvPr/>
        </p:nvSpPr>
        <p:spPr>
          <a:xfrm>
            <a:off x="9075420" y="1033272"/>
            <a:ext cx="2720340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63500" dist="19050" dir="5400000" algn="bl" rotWithShape="0">
              <a:srgbClr val="999999">
                <a:alpha val="2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0" name="Shape 25"/>
          <p:cNvSpPr/>
          <p:nvPr/>
        </p:nvSpPr>
        <p:spPr>
          <a:xfrm>
            <a:off x="9075420" y="1033272"/>
            <a:ext cx="2720340" cy="64008"/>
          </a:xfrm>
          <a:prstGeom prst="roundRect">
            <a:avLst>
              <a:gd name="adj" fmla="val 42857"/>
            </a:avLst>
          </a:prstGeom>
          <a:solidFill>
            <a:srgbClr val="FFCE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6"/>
          <p:cNvSpPr/>
          <p:nvPr/>
        </p:nvSpPr>
        <p:spPr>
          <a:xfrm>
            <a:off x="9258300" y="1179576"/>
            <a:ext cx="20802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非機台問題佔比</a:t>
            </a:r>
            <a:endParaRPr lang="en-US" sz="1200" dirty="0"/>
          </a:p>
        </p:txBody>
      </p:sp>
      <p:pic>
        <p:nvPicPr>
          <p:cNvPr id="32" name="Image 3" descr="D:\info\0507_Weekly-Report\Operations-Weekly-Report\automation\icons\usercog_go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56848" y="1197864"/>
            <a:ext cx="256032" cy="256032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9258300" y="1527048"/>
            <a:ext cx="23545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9C7A00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36.6</a:t>
            </a:r>
            <a:r>
              <a:rPr lang="en-US" sz="1350" b="1" dirty="0">
                <a:solidFill>
                  <a:srgbClr val="9C7A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%</a:t>
            </a:r>
            <a:endParaRPr lang="en-US" sz="2700" dirty="0"/>
          </a:p>
        </p:txBody>
      </p:sp>
      <p:sp>
        <p:nvSpPr>
          <p:cNvPr id="34" name="Text 28"/>
          <p:cNvSpPr/>
          <p:nvPr/>
        </p:nvSpPr>
        <p:spPr>
          <a:xfrm>
            <a:off x="9258300" y="2039112"/>
            <a:ext cx="17145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920" dirty="0" err="1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代表案例類型</a:t>
            </a:r>
            <a:r>
              <a:rPr lang="en-US" sz="92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：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920" dirty="0" err="1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兌換失敗</a:t>
            </a:r>
            <a:r>
              <a:rPr lang="en-US" sz="92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/顯示錯誤</a:t>
            </a:r>
            <a:endParaRPr lang="en-US" sz="920" dirty="0"/>
          </a:p>
        </p:txBody>
      </p:sp>
      <p:sp>
        <p:nvSpPr>
          <p:cNvPr id="35" name="Shape 29"/>
          <p:cNvSpPr/>
          <p:nvPr/>
        </p:nvSpPr>
        <p:spPr>
          <a:xfrm>
            <a:off x="10863072" y="2039112"/>
            <a:ext cx="768096" cy="292608"/>
          </a:xfrm>
          <a:prstGeom prst="roundRect">
            <a:avLst>
              <a:gd name="adj" fmla="val 50000"/>
            </a:avLst>
          </a:prstGeom>
          <a:solidFill>
            <a:srgbClr val="FFE9D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6" name="Text 30"/>
          <p:cNvSpPr/>
          <p:nvPr/>
        </p:nvSpPr>
        <p:spPr>
          <a:xfrm>
            <a:off x="10863072" y="2039112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▲1.7%</a:t>
            </a:r>
            <a:endParaRPr lang="en-US" sz="1020" dirty="0"/>
          </a:p>
        </p:txBody>
      </p:sp>
      <p:sp>
        <p:nvSpPr>
          <p:cNvPr id="37" name="Shape 31"/>
          <p:cNvSpPr/>
          <p:nvPr/>
        </p:nvSpPr>
        <p:spPr>
          <a:xfrm>
            <a:off x="365760" y="2697480"/>
            <a:ext cx="64008" cy="256032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8" name="Text 32"/>
          <p:cNvSpPr/>
          <p:nvPr/>
        </p:nvSpPr>
        <p:spPr>
          <a:xfrm>
            <a:off x="502920" y="2670048"/>
            <a:ext cx="6995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60E9F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客訴趨勢分析（近4週）　單位：件數</a:t>
            </a:r>
            <a:endParaRPr lang="en-US" sz="13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044952"/>
          <a:ext cx="7141464" cy="3675890"/>
        </p:xfrm>
        <a:graphic>
          <a:graphicData uri="http://schemas.openxmlformats.org/drawingml/2006/table">
            <a:tbl>
              <a:tblPr/>
              <a:tblGrid>
                <a:gridCol w="10241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525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73517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週次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機台問題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APP帳號設定問題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回收點數問題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顧客關係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優惠券問題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APP使用問題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加總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517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第35週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42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3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8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17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2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4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76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517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第36週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58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5000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▲16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2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76A9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▼1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7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76A9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▼1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14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76A9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▼3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7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5000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▲5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76A9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▼3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89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▲13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517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第37週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95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5000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▲37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4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5000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▲2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16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5000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▲9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12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76A9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▼2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5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76A9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▼2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14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5000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▲13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146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▲57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517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第38週</a:t>
                      </a:r>
                      <a:endParaRPr lang="en-US" sz="105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83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76A9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▼12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3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76A9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▼1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6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76A9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▼10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16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5000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▲4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11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5000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▲6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12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76A9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▼2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131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▼15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0" name="Shape 33"/>
          <p:cNvSpPr/>
          <p:nvPr/>
        </p:nvSpPr>
        <p:spPr>
          <a:xfrm>
            <a:off x="7772400" y="2697480"/>
            <a:ext cx="64008" cy="256032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1" name="Text 34"/>
          <p:cNvSpPr/>
          <p:nvPr/>
        </p:nvSpPr>
        <p:spPr>
          <a:xfrm>
            <a:off x="7909560" y="2670048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5000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非機台問題 Top 3</a:t>
            </a:r>
            <a:endParaRPr lang="en-US" sz="1300" dirty="0"/>
          </a:p>
        </p:txBody>
      </p:sp>
      <p:sp>
        <p:nvSpPr>
          <p:cNvPr id="42" name="Shape 35"/>
          <p:cNvSpPr/>
          <p:nvPr/>
        </p:nvSpPr>
        <p:spPr>
          <a:xfrm>
            <a:off x="7772400" y="3044952"/>
            <a:ext cx="4023360" cy="1133856"/>
          </a:xfrm>
          <a:prstGeom prst="roundRect">
            <a:avLst>
              <a:gd name="adj" fmla="val 6452"/>
            </a:avLst>
          </a:prstGeom>
          <a:solidFill>
            <a:srgbClr val="FFF4EF"/>
          </a:solidFill>
          <a:ln w="12700">
            <a:solidFill>
              <a:srgbClr val="FF50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3" name="Shape 36"/>
          <p:cNvSpPr/>
          <p:nvPr/>
        </p:nvSpPr>
        <p:spPr>
          <a:xfrm>
            <a:off x="7772400" y="3044952"/>
            <a:ext cx="54864" cy="1133856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4" name="Text 37"/>
          <p:cNvSpPr/>
          <p:nvPr/>
        </p:nvSpPr>
        <p:spPr>
          <a:xfrm>
            <a:off x="7918704" y="315468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5000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1</a:t>
            </a:r>
            <a:endParaRPr lang="en-US" sz="1700" dirty="0"/>
          </a:p>
        </p:txBody>
      </p:sp>
      <p:sp>
        <p:nvSpPr>
          <p:cNvPr id="45" name="Text 38"/>
          <p:cNvSpPr/>
          <p:nvPr/>
        </p:nvSpPr>
        <p:spPr>
          <a:xfrm>
            <a:off x="8394192" y="31363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APP畫面顯示與機台狀態不符</a:t>
            </a:r>
            <a:endParaRPr lang="en-US" sz="1250" dirty="0"/>
          </a:p>
        </p:txBody>
      </p:sp>
      <p:sp>
        <p:nvSpPr>
          <p:cNvPr id="46" name="Text 39"/>
          <p:cNvSpPr/>
          <p:nvPr/>
        </p:nvSpPr>
        <p:spPr>
          <a:xfrm>
            <a:off x="8394192" y="3520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5000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12件</a:t>
            </a:r>
            <a:r>
              <a:rPr lang="en-US" sz="115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　9.2%</a:t>
            </a:r>
            <a:endParaRPr lang="en-US" sz="1700" dirty="0"/>
          </a:p>
        </p:txBody>
      </p:sp>
      <p:sp>
        <p:nvSpPr>
          <p:cNvPr id="47" name="Shape 40"/>
          <p:cNvSpPr/>
          <p:nvPr/>
        </p:nvSpPr>
        <p:spPr>
          <a:xfrm>
            <a:off x="8394192" y="3977640"/>
            <a:ext cx="3200400" cy="6400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8" name="Shape 41"/>
          <p:cNvSpPr/>
          <p:nvPr/>
        </p:nvSpPr>
        <p:spPr>
          <a:xfrm>
            <a:off x="8394192" y="3977640"/>
            <a:ext cx="3200400" cy="64008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9" name="Shape 42"/>
          <p:cNvSpPr/>
          <p:nvPr/>
        </p:nvSpPr>
        <p:spPr>
          <a:xfrm>
            <a:off x="7772400" y="4315968"/>
            <a:ext cx="4023360" cy="1133856"/>
          </a:xfrm>
          <a:prstGeom prst="roundRect">
            <a:avLst>
              <a:gd name="adj" fmla="val 6452"/>
            </a:avLst>
          </a:prstGeom>
          <a:solidFill>
            <a:srgbClr val="EEF6FB"/>
          </a:solidFill>
          <a:ln w="12700">
            <a:solidFill>
              <a:srgbClr val="0076A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0" name="Shape 43"/>
          <p:cNvSpPr/>
          <p:nvPr/>
        </p:nvSpPr>
        <p:spPr>
          <a:xfrm>
            <a:off x="7772400" y="4315968"/>
            <a:ext cx="54864" cy="1133856"/>
          </a:xfrm>
          <a:prstGeom prst="rect">
            <a:avLst/>
          </a:prstGeom>
          <a:solidFill>
            <a:srgbClr val="0076A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1" name="Text 44"/>
          <p:cNvSpPr/>
          <p:nvPr/>
        </p:nvSpPr>
        <p:spPr>
          <a:xfrm>
            <a:off x="7918704" y="4425696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76A9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2</a:t>
            </a:r>
            <a:endParaRPr lang="en-US" sz="1700" dirty="0"/>
          </a:p>
        </p:txBody>
      </p:sp>
      <p:sp>
        <p:nvSpPr>
          <p:cNvPr id="52" name="Text 45"/>
          <p:cNvSpPr/>
          <p:nvPr/>
        </p:nvSpPr>
        <p:spPr>
          <a:xfrm>
            <a:off x="8394192" y="44074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點數未入帳號</a:t>
            </a:r>
            <a:endParaRPr lang="en-US" sz="1250" dirty="0"/>
          </a:p>
        </p:txBody>
      </p:sp>
      <p:sp>
        <p:nvSpPr>
          <p:cNvPr id="53" name="Text 46"/>
          <p:cNvSpPr/>
          <p:nvPr/>
        </p:nvSpPr>
        <p:spPr>
          <a:xfrm>
            <a:off x="8394192" y="479145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76A9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6件</a:t>
            </a:r>
            <a:r>
              <a:rPr lang="en-US" sz="1150" b="1" dirty="0">
                <a:solidFill>
                  <a:srgbClr val="0076A9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　4.6%</a:t>
            </a:r>
            <a:endParaRPr lang="en-US" sz="1700" dirty="0"/>
          </a:p>
        </p:txBody>
      </p:sp>
      <p:sp>
        <p:nvSpPr>
          <p:cNvPr id="54" name="Shape 47"/>
          <p:cNvSpPr/>
          <p:nvPr/>
        </p:nvSpPr>
        <p:spPr>
          <a:xfrm>
            <a:off x="8394192" y="5248656"/>
            <a:ext cx="3200400" cy="6400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5" name="Shape 48"/>
          <p:cNvSpPr/>
          <p:nvPr/>
        </p:nvSpPr>
        <p:spPr>
          <a:xfrm>
            <a:off x="8394192" y="5248656"/>
            <a:ext cx="1600200" cy="64008"/>
          </a:xfrm>
          <a:prstGeom prst="rect">
            <a:avLst/>
          </a:prstGeom>
          <a:solidFill>
            <a:srgbClr val="0076A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6" name="Shape 49"/>
          <p:cNvSpPr/>
          <p:nvPr/>
        </p:nvSpPr>
        <p:spPr>
          <a:xfrm>
            <a:off x="7772400" y="5586984"/>
            <a:ext cx="4023360" cy="1133856"/>
          </a:xfrm>
          <a:prstGeom prst="roundRect">
            <a:avLst>
              <a:gd name="adj" fmla="val 6452"/>
            </a:avLst>
          </a:prstGeom>
          <a:solidFill>
            <a:srgbClr val="F5F7FF"/>
          </a:solidFill>
          <a:ln w="12700">
            <a:solidFill>
              <a:srgbClr val="060E9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7" name="Shape 50"/>
          <p:cNvSpPr/>
          <p:nvPr/>
        </p:nvSpPr>
        <p:spPr>
          <a:xfrm>
            <a:off x="7772400" y="5586984"/>
            <a:ext cx="54864" cy="1133856"/>
          </a:xfrm>
          <a:prstGeom prst="rect">
            <a:avLst/>
          </a:prstGeom>
          <a:solidFill>
            <a:srgbClr val="060E9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8" name="Text 51"/>
          <p:cNvSpPr/>
          <p:nvPr/>
        </p:nvSpPr>
        <p:spPr>
          <a:xfrm>
            <a:off x="7918704" y="5696712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60E9F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3</a:t>
            </a:r>
            <a:endParaRPr lang="en-US" sz="1700" dirty="0"/>
          </a:p>
        </p:txBody>
      </p:sp>
      <p:sp>
        <p:nvSpPr>
          <p:cNvPr id="59" name="Text 52"/>
          <p:cNvSpPr/>
          <p:nvPr/>
        </p:nvSpPr>
        <p:spPr>
          <a:xfrm>
            <a:off x="8394192" y="567842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兌換失敗/顯示錯誤</a:t>
            </a:r>
            <a:endParaRPr lang="en-US" sz="1250" dirty="0"/>
          </a:p>
        </p:txBody>
      </p:sp>
      <p:sp>
        <p:nvSpPr>
          <p:cNvPr id="60" name="Text 53"/>
          <p:cNvSpPr/>
          <p:nvPr/>
        </p:nvSpPr>
        <p:spPr>
          <a:xfrm>
            <a:off x="8394192" y="60624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60E9F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5件</a:t>
            </a:r>
            <a:r>
              <a:rPr lang="en-US" sz="115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　3.8%</a:t>
            </a:r>
            <a:endParaRPr lang="en-US" sz="1700" dirty="0"/>
          </a:p>
        </p:txBody>
      </p:sp>
      <p:sp>
        <p:nvSpPr>
          <p:cNvPr id="61" name="Shape 54"/>
          <p:cNvSpPr/>
          <p:nvPr/>
        </p:nvSpPr>
        <p:spPr>
          <a:xfrm>
            <a:off x="8394192" y="6519672"/>
            <a:ext cx="3200400" cy="6400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2" name="Shape 55"/>
          <p:cNvSpPr/>
          <p:nvPr/>
        </p:nvSpPr>
        <p:spPr>
          <a:xfrm>
            <a:off x="8394192" y="6519672"/>
            <a:ext cx="1333500" cy="64008"/>
          </a:xfrm>
          <a:prstGeom prst="rect">
            <a:avLst/>
          </a:prstGeom>
          <a:solidFill>
            <a:srgbClr val="060E9F"/>
          </a:solidFill>
          <a:ln/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73152" cy="329184"/>
          </a:xfrm>
          <a:prstGeom prst="rect">
            <a:avLst/>
          </a:prstGeom>
          <a:solidFill>
            <a:srgbClr val="0076A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30352" y="146304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33333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客訴機台類型與高頻站點分析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9326880" y="164592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060E9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9326880" y="16459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第38週（09/14 ~ 09/20）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555498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pic>
        <p:nvPicPr>
          <p:cNvPr id="7" name="Image 0" descr="D:\info\0507_Weekly-Report\Operations-Weekly-Report\automation\icons\recycle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069848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60704" y="102412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0E9F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收瓶機 ／ 方舟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4091940" y="1069848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7"/>
          <p:cNvSpPr/>
          <p:nvPr/>
        </p:nvSpPr>
        <p:spPr>
          <a:xfrm>
            <a:off x="4091940" y="106984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95件 (94.1%)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85216" y="1554480"/>
            <a:ext cx="5116068" cy="1057656"/>
          </a:xfrm>
          <a:prstGeom prst="roundRect">
            <a:avLst>
              <a:gd name="adj" fmla="val 5187"/>
            </a:avLst>
          </a:prstGeom>
          <a:solidFill>
            <a:srgbClr val="F8F9F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9"/>
          <p:cNvSpPr/>
          <p:nvPr/>
        </p:nvSpPr>
        <p:spPr>
          <a:xfrm>
            <a:off x="694944" y="1655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5000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143000" y="1609344"/>
            <a:ext cx="4503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滿艙問題（回收箱／寶特瓶）</a:t>
            </a:r>
            <a:r>
              <a:rPr lang="en-US" sz="140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　合計 28.4% (27件)</a:t>
            </a:r>
            <a:endParaRPr lang="en-US" sz="1600" dirty="0"/>
          </a:p>
        </p:txBody>
      </p:sp>
      <p:pic>
        <p:nvPicPr>
          <p:cNvPr id="14" name="Image 1" descr="D:\info\0507_Weekly-Report\Operations-Weekly-Report\automation\icons\pin_gr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2103120"/>
            <a:ext cx="137160" cy="1371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325880" y="2057400"/>
            <a:ext cx="43205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最高回報站點：E｜臺北/全聯福利中心文山忠順店站（2件）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85216" y="2712720"/>
            <a:ext cx="5116068" cy="1057656"/>
          </a:xfrm>
          <a:prstGeom prst="roundRect">
            <a:avLst>
              <a:gd name="adj" fmla="val 5187"/>
            </a:avLst>
          </a:prstGeom>
          <a:solidFill>
            <a:srgbClr val="F8F9F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3"/>
          <p:cNvSpPr/>
          <p:nvPr/>
        </p:nvSpPr>
        <p:spPr>
          <a:xfrm>
            <a:off x="694944" y="2813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0E9F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1143000" y="2767584"/>
            <a:ext cx="4503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0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黑色分選門異常或卡瓶堵塞</a:t>
            </a:r>
            <a:r>
              <a:rPr lang="en-US" sz="140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　合計 12.6% (12件)</a:t>
            </a:r>
            <a:endParaRPr lang="en-US" sz="1600" dirty="0"/>
          </a:p>
        </p:txBody>
      </p:sp>
      <p:pic>
        <p:nvPicPr>
          <p:cNvPr id="19" name="Image 2" descr="D:\info\0507_Weekly-Report\Operations-Weekly-Report\automation\icons\pin_gr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3261360"/>
            <a:ext cx="137160" cy="1371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325880" y="3215640"/>
            <a:ext cx="43205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最高回報站點：ARK｜高雄/萬家福楠梓店方舟站（1件）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585216" y="3870960"/>
            <a:ext cx="5116068" cy="1057656"/>
          </a:xfrm>
          <a:prstGeom prst="roundRect">
            <a:avLst>
              <a:gd name="adj" fmla="val 5187"/>
            </a:avLst>
          </a:prstGeom>
          <a:solidFill>
            <a:srgbClr val="F8F9F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Text 17"/>
          <p:cNvSpPr/>
          <p:nvPr/>
        </p:nvSpPr>
        <p:spPr>
          <a:xfrm>
            <a:off x="694944" y="3971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76A9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1143000" y="3925824"/>
            <a:ext cx="4503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機台需維護/故障提醒</a:t>
            </a:r>
            <a:r>
              <a:rPr lang="en-US" sz="1400" b="1" dirty="0">
                <a:solidFill>
                  <a:srgbClr val="0076A9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　合計 11.6% (11件)</a:t>
            </a:r>
            <a:endParaRPr lang="en-US" sz="1600" dirty="0"/>
          </a:p>
        </p:txBody>
      </p:sp>
      <p:pic>
        <p:nvPicPr>
          <p:cNvPr id="24" name="Image 3" descr="D:\info\0507_Weekly-Report\Operations-Weekly-Report\automation\icons\pin_gr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4419600"/>
            <a:ext cx="137160" cy="1371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325880" y="4373880"/>
            <a:ext cx="43205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最高回報站點：B｜彰化/全家秀水好水店站（2件）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6240780" y="868680"/>
            <a:ext cx="555498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pic>
        <p:nvPicPr>
          <p:cNvPr id="27" name="Image 4" descr="D:\info\0507_Weekly-Report\Operations-Weekly-Report\automation\icons\battery_oran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6812" y="1069848"/>
            <a:ext cx="347472" cy="34747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935724" y="102412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0E9F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二代電池機</a:t>
            </a:r>
            <a:endParaRPr lang="en-US" sz="1800" dirty="0"/>
          </a:p>
        </p:txBody>
      </p:sp>
      <p:sp>
        <p:nvSpPr>
          <p:cNvPr id="29" name="Shape 22"/>
          <p:cNvSpPr/>
          <p:nvPr/>
        </p:nvSpPr>
        <p:spPr>
          <a:xfrm>
            <a:off x="9966960" y="1069848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FFCE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0" name="Text 23"/>
          <p:cNvSpPr/>
          <p:nvPr/>
        </p:nvSpPr>
        <p:spPr>
          <a:xfrm>
            <a:off x="9966960" y="106984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6件 (5.9%)</a:t>
            </a:r>
            <a:endParaRPr lang="en-US" sz="1150" dirty="0"/>
          </a:p>
        </p:txBody>
      </p:sp>
      <p:sp>
        <p:nvSpPr>
          <p:cNvPr id="31" name="Shape 24"/>
          <p:cNvSpPr/>
          <p:nvPr/>
        </p:nvSpPr>
        <p:spPr>
          <a:xfrm>
            <a:off x="6460236" y="1554480"/>
            <a:ext cx="5116068" cy="1057656"/>
          </a:xfrm>
          <a:prstGeom prst="roundRect">
            <a:avLst>
              <a:gd name="adj" fmla="val 5187"/>
            </a:avLst>
          </a:prstGeom>
          <a:solidFill>
            <a:srgbClr val="F8F9F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2" name="Text 25"/>
          <p:cNvSpPr/>
          <p:nvPr/>
        </p:nvSpPr>
        <p:spPr>
          <a:xfrm>
            <a:off x="6569964" y="1655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5000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1</a:t>
            </a:r>
            <a:endParaRPr lang="en-US" sz="1800" dirty="0"/>
          </a:p>
        </p:txBody>
      </p:sp>
      <p:sp>
        <p:nvSpPr>
          <p:cNvPr id="33" name="Text 26"/>
          <p:cNvSpPr/>
          <p:nvPr/>
        </p:nvSpPr>
        <p:spPr>
          <a:xfrm>
            <a:off x="7018020" y="1609344"/>
            <a:ext cx="4503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機台操作畫面無法登入</a:t>
            </a:r>
            <a:r>
              <a:rPr lang="en-US" sz="140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　合計 33.3% (2件)</a:t>
            </a:r>
            <a:endParaRPr lang="en-US" sz="1600" dirty="0"/>
          </a:p>
        </p:txBody>
      </p:sp>
      <p:pic>
        <p:nvPicPr>
          <p:cNvPr id="34" name="Image 5" descr="D:\info\0507_Weekly-Report\Operations-Weekly-Report\automation\icons\pin_gr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8020" y="2103120"/>
            <a:ext cx="137160" cy="13716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7200900" y="2057400"/>
            <a:ext cx="43205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最高回報站點：S｜高雄/小北百貨高雄惠民店站（2件）</a:t>
            </a:r>
            <a:endParaRPr lang="en-US" sz="1050" dirty="0"/>
          </a:p>
        </p:txBody>
      </p:sp>
      <p:sp>
        <p:nvSpPr>
          <p:cNvPr id="36" name="Shape 28"/>
          <p:cNvSpPr/>
          <p:nvPr/>
        </p:nvSpPr>
        <p:spPr>
          <a:xfrm>
            <a:off x="6460236" y="2712720"/>
            <a:ext cx="5116068" cy="1057656"/>
          </a:xfrm>
          <a:prstGeom prst="roundRect">
            <a:avLst>
              <a:gd name="adj" fmla="val 5187"/>
            </a:avLst>
          </a:prstGeom>
          <a:solidFill>
            <a:srgbClr val="F8F9F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7" name="Text 29"/>
          <p:cNvSpPr/>
          <p:nvPr/>
        </p:nvSpPr>
        <p:spPr>
          <a:xfrm>
            <a:off x="6569964" y="2813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0E9F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2</a:t>
            </a:r>
            <a:endParaRPr lang="en-US" sz="1800" dirty="0"/>
          </a:p>
        </p:txBody>
      </p:sp>
      <p:sp>
        <p:nvSpPr>
          <p:cNvPr id="38" name="Text 30"/>
          <p:cNvSpPr/>
          <p:nvPr/>
        </p:nvSpPr>
        <p:spPr>
          <a:xfrm>
            <a:off x="7018020" y="2767584"/>
            <a:ext cx="4503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點數未入帳號</a:t>
            </a:r>
            <a:r>
              <a:rPr lang="en-US" sz="140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　合計 16.7% (1件)</a:t>
            </a:r>
            <a:endParaRPr lang="en-US" sz="1600" dirty="0"/>
          </a:p>
        </p:txBody>
      </p:sp>
      <p:pic>
        <p:nvPicPr>
          <p:cNvPr id="39" name="Image 6" descr="D:\info\0507_Weekly-Report\Operations-Weekly-Report\automation\icons\pin_gr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8020" y="3261360"/>
            <a:ext cx="137160" cy="137160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7200900" y="3215640"/>
            <a:ext cx="43205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最高回報站點：桃園/小北百貨桃園中豐店站（1件）</a:t>
            </a:r>
            <a:endParaRPr lang="en-US" sz="1050" dirty="0"/>
          </a:p>
        </p:txBody>
      </p:sp>
      <p:sp>
        <p:nvSpPr>
          <p:cNvPr id="41" name="Shape 32"/>
          <p:cNvSpPr/>
          <p:nvPr/>
        </p:nvSpPr>
        <p:spPr>
          <a:xfrm>
            <a:off x="6460236" y="3870960"/>
            <a:ext cx="5116068" cy="1057656"/>
          </a:xfrm>
          <a:prstGeom prst="roundRect">
            <a:avLst>
              <a:gd name="adj" fmla="val 5187"/>
            </a:avLst>
          </a:prstGeom>
          <a:solidFill>
            <a:srgbClr val="F8F9F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2" name="Text 33"/>
          <p:cNvSpPr/>
          <p:nvPr/>
        </p:nvSpPr>
        <p:spPr>
          <a:xfrm>
            <a:off x="6569964" y="3971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76A9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3</a:t>
            </a:r>
            <a:endParaRPr lang="en-US" sz="1800" dirty="0"/>
          </a:p>
        </p:txBody>
      </p:sp>
      <p:sp>
        <p:nvSpPr>
          <p:cNvPr id="43" name="Text 34"/>
          <p:cNvSpPr/>
          <p:nvPr/>
        </p:nvSpPr>
        <p:spPr>
          <a:xfrm>
            <a:off x="7018020" y="3925824"/>
            <a:ext cx="4503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機台需維護/故障提醒</a:t>
            </a:r>
            <a:r>
              <a:rPr lang="en-US" sz="1400" b="1" dirty="0">
                <a:solidFill>
                  <a:srgbClr val="0076A9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　合計 16.7% (1件)</a:t>
            </a:r>
            <a:endParaRPr lang="en-US" sz="1600" dirty="0"/>
          </a:p>
        </p:txBody>
      </p:sp>
      <p:pic>
        <p:nvPicPr>
          <p:cNvPr id="44" name="Image 7" descr="D:\info\0507_Weekly-Report\Operations-Weekly-Report\automation\icons\pin_gr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8020" y="4419600"/>
            <a:ext cx="137160" cy="137160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7200900" y="4373880"/>
            <a:ext cx="43205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最高回報站點：F｜高雄/小北百貨高雄鳳山店站（1件）</a:t>
            </a:r>
            <a:endParaRPr lang="en-US" sz="1050" dirty="0"/>
          </a:p>
        </p:txBody>
      </p:sp>
      <p:sp>
        <p:nvSpPr>
          <p:cNvPr id="46" name="Shape 36"/>
          <p:cNvSpPr/>
          <p:nvPr/>
        </p:nvSpPr>
        <p:spPr>
          <a:xfrm>
            <a:off x="365760" y="5257800"/>
            <a:ext cx="11430000" cy="777240"/>
          </a:xfrm>
          <a:prstGeom prst="roundRect">
            <a:avLst>
              <a:gd name="adj" fmla="val 9412"/>
            </a:avLst>
          </a:prstGeom>
          <a:solidFill>
            <a:srgbClr val="FAE0B8"/>
          </a:solidFill>
          <a:ln w="15875">
            <a:solidFill>
              <a:srgbClr val="FFCE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47" name="Image 8" descr="D:\info\0507_Weekly-Report\Operations-Weekly-Report\automation\icons\war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5477256"/>
            <a:ext cx="310896" cy="310896"/>
          </a:xfrm>
          <a:prstGeom prst="rect">
            <a:avLst/>
          </a:prstGeom>
        </p:spPr>
      </p:pic>
      <p:sp>
        <p:nvSpPr>
          <p:cNvPr id="48" name="Text 37"/>
          <p:cNvSpPr/>
          <p:nvPr/>
        </p:nvSpPr>
        <p:spPr>
          <a:xfrm>
            <a:off x="1005840" y="534924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4800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【本週融合洞察】收瓶機客訴集中於「滿艙問題（回收箱／寶特瓶）」（28.4%，27件），最高回報站點為 E｜臺北/全聯福利中心文山忠順店站（2件），</a:t>
            </a:r>
            <a:r>
              <a:rPr lang="en-US" sz="1050" dirty="0" err="1">
                <a:solidFill>
                  <a:srgbClr val="6B4800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建議優先派工檢修</a:t>
            </a:r>
            <a:r>
              <a:rPr lang="en-US" sz="1050" dirty="0">
                <a:solidFill>
                  <a:srgbClr val="6B4800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；</a:t>
            </a:r>
            <a:endParaRPr lang="en-US" sz="1050" dirty="0">
              <a:solidFill>
                <a:srgbClr val="FF0000"/>
              </a:solidFill>
              <a:latin typeface="Noto Sans TC Medium" pitchFamily="34" charset="0"/>
              <a:ea typeface="Noto Sans TC Medium" pitchFamily="34" charset="-122"/>
              <a:cs typeface="Noto Sans TC Medium" pitchFamily="34" charset="-12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zh-TW" altLang="en-US" sz="1050" dirty="0">
                <a:solidFill>
                  <a:srgbClr val="FF0000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                                   </a:t>
            </a:r>
            <a:r>
              <a:rPr lang="en-US" sz="1050" dirty="0" err="1">
                <a:solidFill>
                  <a:srgbClr val="6B4800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電池機客訴則集中於「機台操作畫面無法登入</a:t>
            </a:r>
            <a:r>
              <a:rPr lang="en-US" sz="1050" dirty="0">
                <a:solidFill>
                  <a:srgbClr val="6B4800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」（33.3%，2件），建議持續追蹤。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73152" cy="329184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30352" y="146304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33333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月低回收量站點改善清單 Top 10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675120" y="25603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76A9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資料更新日期：2026/09/21（區間2026/08/22-09/21）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77240"/>
          <a:ext cx="11430000" cy="429768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等級</a:t>
                      </a:r>
                      <a:endParaRPr lang="en-US" sz="105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Hive排名</a:t>
                      </a:r>
                      <a:endParaRPr lang="en-US" sz="105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（總566）</a:t>
                      </a:r>
                      <a:endParaRPr lang="en-US" sz="105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縣市</a:t>
                      </a:r>
                      <a:endParaRPr lang="en-US" sz="105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站點名稱</a:t>
                      </a:r>
                      <a:endParaRPr lang="en-US" sz="105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機型</a:t>
                      </a:r>
                      <a:endParaRPr lang="en-US" sz="105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租賃/買斷</a:t>
                      </a:r>
                      <a:endParaRPr lang="en-US" sz="105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近30日合計（瓶）</a:t>
                      </a:r>
                      <a:endParaRPr lang="en-US" sz="105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月增減率</a:t>
                      </a:r>
                      <a:endParaRPr lang="en-US" sz="105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888888"/>
                          </a:solidFill>
                          <a:latin typeface="Noto Sans TC Black" pitchFamily="34" charset="0"/>
                          <a:ea typeface="Noto Sans TC Black" pitchFamily="34" charset="-122"/>
                          <a:cs typeface="Noto Sans TC Black" pitchFamily="34" charset="-120"/>
                        </a:rPr>
                        <a:t>－</a:t>
                      </a:r>
                      <a:endParaRPr lang="en-US" sz="1300" dirty="0">
                        <a:latin typeface="Noto Sans TC Black" charset="0"/>
                        <a:ea typeface="Noto Sans TC Black" charset="0"/>
                        <a:cs typeface="Noto Sans TC Black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臺中</a:t>
                      </a:r>
                      <a:endParaRPr lang="en-US" sz="110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總太東光好室站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76A9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0</a:t>
                      </a:r>
                      <a:endParaRPr lang="en-US" sz="12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－（首次記錄）</a:t>
                      </a:r>
                      <a:endParaRPr lang="en-US" sz="9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888888"/>
                          </a:solidFill>
                          <a:latin typeface="Noto Sans TC Black" pitchFamily="34" charset="0"/>
                          <a:ea typeface="Noto Sans TC Black" pitchFamily="34" charset="-122"/>
                          <a:cs typeface="Noto Sans TC Black" pitchFamily="34" charset="-120"/>
                        </a:rPr>
                        <a:t>－</a:t>
                      </a:r>
                      <a:endParaRPr lang="en-US" sz="1300" dirty="0">
                        <a:latin typeface="Noto Sans TC Black" charset="0"/>
                        <a:ea typeface="Noto Sans TC Black" charset="0"/>
                        <a:cs typeface="Noto Sans TC Black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臺中</a:t>
                      </a:r>
                      <a:endParaRPr lang="en-US" sz="110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總太松竹好室站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76A9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0</a:t>
                      </a:r>
                      <a:endParaRPr lang="en-US" sz="12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－（首次記錄）</a:t>
                      </a:r>
                      <a:endParaRPr lang="en-US" sz="9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888888"/>
                          </a:solidFill>
                          <a:latin typeface="Noto Sans TC Black" pitchFamily="34" charset="0"/>
                          <a:ea typeface="Noto Sans TC Black" pitchFamily="34" charset="-122"/>
                          <a:cs typeface="Noto Sans TC Black" pitchFamily="34" charset="-120"/>
                        </a:rPr>
                        <a:t>－</a:t>
                      </a:r>
                      <a:endParaRPr lang="en-US" sz="1300" dirty="0">
                        <a:latin typeface="Noto Sans TC Black" charset="0"/>
                        <a:ea typeface="Noto Sans TC Black" charset="0"/>
                        <a:cs typeface="Noto Sans TC Black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高雄</a:t>
                      </a:r>
                      <a:endParaRPr lang="en-US" sz="110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Global Mall 環球新左營車站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76A9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0</a:t>
                      </a:r>
                      <a:endParaRPr lang="en-US" sz="12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－（首次記錄）</a:t>
                      </a:r>
                      <a:endParaRPr lang="en-US" sz="9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888888"/>
                          </a:solidFill>
                          <a:latin typeface="Noto Sans TC Black" pitchFamily="34" charset="0"/>
                          <a:ea typeface="Noto Sans TC Black" pitchFamily="34" charset="-122"/>
                          <a:cs typeface="Noto Sans TC Black" pitchFamily="34" charset="-120"/>
                        </a:rPr>
                        <a:t>F</a:t>
                      </a:r>
                      <a:endParaRPr lang="en-US" sz="1300" dirty="0">
                        <a:latin typeface="Noto Sans TC Black" charset="0"/>
                        <a:ea typeface="Noto Sans TC Black" charset="0"/>
                        <a:cs typeface="Noto Sans TC Black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 525 名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臺北</a:t>
                      </a:r>
                      <a:endParaRPr lang="en-US" sz="110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台北醫學大學站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76A9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0</a:t>
                      </a:r>
                      <a:endParaRPr lang="en-US" sz="12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－（首次記錄）</a:t>
                      </a:r>
                      <a:endParaRPr lang="en-US" sz="9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888888"/>
                          </a:solidFill>
                          <a:latin typeface="Noto Sans TC Black" pitchFamily="34" charset="0"/>
                          <a:ea typeface="Noto Sans TC Black" pitchFamily="34" charset="-122"/>
                          <a:cs typeface="Noto Sans TC Black" pitchFamily="34" charset="-120"/>
                        </a:rPr>
                        <a:t>－</a:t>
                      </a:r>
                      <a:endParaRPr lang="en-US" sz="1300" dirty="0">
                        <a:latin typeface="Noto Sans TC Black" charset="0"/>
                        <a:ea typeface="Noto Sans TC Black" charset="0"/>
                        <a:cs typeface="Noto Sans TC Black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澎湖</a:t>
                      </a:r>
                      <a:endParaRPr lang="en-US" sz="110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馬公總站客運轉運中心站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76A9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0</a:t>
                      </a:r>
                      <a:endParaRPr lang="en-US" sz="12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－（首次記錄）</a:t>
                      </a:r>
                      <a:endParaRPr lang="en-US" sz="9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888888"/>
                          </a:solidFill>
                          <a:latin typeface="Noto Sans TC Black" pitchFamily="34" charset="0"/>
                          <a:ea typeface="Noto Sans TC Black" pitchFamily="34" charset="-122"/>
                          <a:cs typeface="Noto Sans TC Black" pitchFamily="34" charset="-120"/>
                        </a:rPr>
                        <a:t>－</a:t>
                      </a:r>
                      <a:endParaRPr lang="en-US" sz="1300" dirty="0">
                        <a:latin typeface="Noto Sans TC Black" charset="0"/>
                        <a:ea typeface="Noto Sans TC Black" charset="0"/>
                        <a:cs typeface="Noto Sans TC Black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臺南</a:t>
                      </a:r>
                      <a:endParaRPr lang="en-US" sz="110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台南歸仁測試快閃站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76A9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0</a:t>
                      </a:r>
                      <a:endParaRPr lang="en-US" sz="12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－（首次記錄）</a:t>
                      </a:r>
                      <a:endParaRPr lang="en-US" sz="9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888888"/>
                          </a:solidFill>
                          <a:latin typeface="Noto Sans TC Black" pitchFamily="34" charset="0"/>
                          <a:ea typeface="Noto Sans TC Black" pitchFamily="34" charset="-122"/>
                          <a:cs typeface="Noto Sans TC Black" pitchFamily="34" charset="-120"/>
                        </a:rPr>
                        <a:t>－</a:t>
                      </a:r>
                      <a:endParaRPr lang="en-US" sz="1300" dirty="0">
                        <a:latin typeface="Noto Sans TC Black" charset="0"/>
                        <a:ea typeface="Noto Sans TC Black" charset="0"/>
                        <a:cs typeface="Noto Sans TC Black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新竹</a:t>
                      </a:r>
                      <a:endParaRPr lang="en-US" sz="110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全家湖口達仁店站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76A9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0</a:t>
                      </a:r>
                      <a:endParaRPr lang="en-US" sz="12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－（首次記錄）</a:t>
                      </a:r>
                      <a:endParaRPr lang="en-US" sz="9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888888"/>
                          </a:solidFill>
                          <a:latin typeface="Noto Sans TC Black" pitchFamily="34" charset="0"/>
                          <a:ea typeface="Noto Sans TC Black" pitchFamily="34" charset="-122"/>
                          <a:cs typeface="Noto Sans TC Black" pitchFamily="34" charset="-120"/>
                        </a:rPr>
                        <a:t>F</a:t>
                      </a:r>
                      <a:endParaRPr lang="en-US" sz="1300" dirty="0">
                        <a:latin typeface="Noto Sans TC Black" charset="0"/>
                        <a:ea typeface="Noto Sans TC Black" charset="0"/>
                        <a:cs typeface="Noto Sans TC Black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 524 名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澎湖</a:t>
                      </a:r>
                      <a:endParaRPr lang="en-US" sz="110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澎湖赤崁社區活動中心站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76A9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0</a:t>
                      </a:r>
                      <a:endParaRPr lang="en-US" sz="12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－（首次記錄）</a:t>
                      </a:r>
                      <a:endParaRPr lang="en-US" sz="9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888888"/>
                          </a:solidFill>
                          <a:latin typeface="Noto Sans TC Black" pitchFamily="34" charset="0"/>
                          <a:ea typeface="Noto Sans TC Black" pitchFamily="34" charset="-122"/>
                          <a:cs typeface="Noto Sans TC Black" pitchFamily="34" charset="-120"/>
                        </a:rPr>
                        <a:t>－</a:t>
                      </a:r>
                      <a:endParaRPr lang="en-US" sz="1300" dirty="0">
                        <a:latin typeface="Noto Sans TC Black" charset="0"/>
                        <a:ea typeface="Noto Sans TC Black" charset="0"/>
                        <a:cs typeface="Noto Sans TC Black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高雄</a:t>
                      </a:r>
                      <a:endParaRPr lang="en-US" sz="110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日月光高雄K22廠站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76A9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0</a:t>
                      </a:r>
                      <a:endParaRPr lang="en-US" sz="12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－（首次記錄）</a:t>
                      </a:r>
                      <a:endParaRPr lang="en-US" sz="9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888888"/>
                          </a:solidFill>
                          <a:latin typeface="Noto Sans TC Black" pitchFamily="34" charset="0"/>
                          <a:ea typeface="Noto Sans TC Black" pitchFamily="34" charset="-122"/>
                          <a:cs typeface="Noto Sans TC Black" pitchFamily="34" charset="-120"/>
                        </a:rPr>
                        <a:t>－</a:t>
                      </a:r>
                      <a:endParaRPr lang="en-US" sz="1300" dirty="0">
                        <a:latin typeface="Noto Sans TC Black" charset="0"/>
                        <a:ea typeface="Noto Sans TC Black" charset="0"/>
                        <a:cs typeface="Noto Sans TC Black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高雄</a:t>
                      </a:r>
                      <a:endParaRPr lang="en-US" sz="110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高明貨櫃碼頭站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76A9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0</a:t>
                      </a:r>
                      <a:endParaRPr lang="en-US" sz="12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－（首次記錄）</a:t>
                      </a:r>
                      <a:endParaRPr lang="en-US" sz="9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966460" y="1298448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FF5000">
              <a:alpha val="15000"/>
            </a:srgbClr>
          </a:solidFill>
          <a:ln w="12700">
            <a:solidFill>
              <a:srgbClr val="FF50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4"/>
          <p:cNvSpPr/>
          <p:nvPr/>
        </p:nvSpPr>
        <p:spPr>
          <a:xfrm>
            <a:off x="5966460" y="129844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H30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315200" y="1298448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60E9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9" name="Image 0" descr="D:\info\0507_Weekly-Report\Operations-Weekly-Report\automation\icons\key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3216" y="1353312"/>
            <a:ext cx="146304" cy="14630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607808" y="129844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租賃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5966460" y="1682496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FF5000">
              <a:alpha val="15000"/>
            </a:srgbClr>
          </a:solidFill>
          <a:ln w="12700">
            <a:solidFill>
              <a:srgbClr val="FF50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8"/>
          <p:cNvSpPr/>
          <p:nvPr/>
        </p:nvSpPr>
        <p:spPr>
          <a:xfrm>
            <a:off x="5966460" y="16824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H30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7315200" y="1682496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60E9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14" name="Image 1" descr="D:\info\0507_Weekly-Report\Operations-Weekly-Report\automation\icons\key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3216" y="1737360"/>
            <a:ext cx="146304" cy="14630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607808" y="168249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租賃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5966460" y="2066544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FF5000">
              <a:alpha val="15000"/>
            </a:srgbClr>
          </a:solidFill>
          <a:ln w="12700">
            <a:solidFill>
              <a:srgbClr val="FF50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2"/>
          <p:cNvSpPr/>
          <p:nvPr/>
        </p:nvSpPr>
        <p:spPr>
          <a:xfrm>
            <a:off x="5966460" y="2066544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H30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7315200" y="2066544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60E9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19" name="Image 2" descr="D:\info\0507_Weekly-Report\Operations-Weekly-Report\automation\icons\key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3216" y="2121408"/>
            <a:ext cx="146304" cy="14630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607808" y="206654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租賃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5966460" y="2450592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FF5000">
              <a:alpha val="15000"/>
            </a:srgbClr>
          </a:solidFill>
          <a:ln w="12700">
            <a:solidFill>
              <a:srgbClr val="FF50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16"/>
          <p:cNvSpPr/>
          <p:nvPr/>
        </p:nvSpPr>
        <p:spPr>
          <a:xfrm>
            <a:off x="5966460" y="245059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H30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7315200" y="2450592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60E9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24" name="Image 3" descr="D:\info\0507_Weekly-Report\Operations-Weekly-Report\automation\icons\key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3216" y="2505456"/>
            <a:ext cx="146304" cy="14630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607808" y="245059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租賃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5966460" y="2834640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FF5000">
              <a:alpha val="15000"/>
            </a:srgbClr>
          </a:solidFill>
          <a:ln w="12700">
            <a:solidFill>
              <a:srgbClr val="FF50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0"/>
          <p:cNvSpPr/>
          <p:nvPr/>
        </p:nvSpPr>
        <p:spPr>
          <a:xfrm>
            <a:off x="5966460" y="283464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H30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5966460" y="3218688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4F86A0">
              <a:alpha val="15000"/>
            </a:srgbClr>
          </a:solidFill>
          <a:ln w="12700">
            <a:solidFill>
              <a:srgbClr val="4F86A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2"/>
          <p:cNvSpPr/>
          <p:nvPr/>
        </p:nvSpPr>
        <p:spPr>
          <a:xfrm>
            <a:off x="5966460" y="321868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F86A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AI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5966460" y="3602736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060E9F">
              <a:alpha val="15000"/>
            </a:srgbClr>
          </a:solidFill>
          <a:ln w="12700">
            <a:solidFill>
              <a:srgbClr val="060E9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4"/>
          <p:cNvSpPr/>
          <p:nvPr/>
        </p:nvSpPr>
        <p:spPr>
          <a:xfrm>
            <a:off x="5966460" y="360273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AI-4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5966460" y="3986784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FF5000">
              <a:alpha val="15000"/>
            </a:srgbClr>
          </a:solidFill>
          <a:ln w="12700">
            <a:solidFill>
              <a:srgbClr val="FF50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Text 26"/>
          <p:cNvSpPr/>
          <p:nvPr/>
        </p:nvSpPr>
        <p:spPr>
          <a:xfrm>
            <a:off x="5966460" y="3986784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H30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5966460" y="4370832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060E9F">
              <a:alpha val="15000"/>
            </a:srgbClr>
          </a:solidFill>
          <a:ln w="12700">
            <a:solidFill>
              <a:srgbClr val="060E9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Text 28"/>
          <p:cNvSpPr/>
          <p:nvPr/>
        </p:nvSpPr>
        <p:spPr>
          <a:xfrm>
            <a:off x="5966460" y="437083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AI-4</a:t>
            </a:r>
            <a:endParaRPr lang="en-US" sz="1000" dirty="0"/>
          </a:p>
        </p:txBody>
      </p:sp>
      <p:sp>
        <p:nvSpPr>
          <p:cNvPr id="36" name="Shape 29"/>
          <p:cNvSpPr/>
          <p:nvPr/>
        </p:nvSpPr>
        <p:spPr>
          <a:xfrm>
            <a:off x="7315200" y="4370832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60E9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37" name="Image 4" descr="D:\info\0507_Weekly-Report\Operations-Weekly-Report\automation\icons\key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3216" y="4425696"/>
            <a:ext cx="146304" cy="146304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7607808" y="437083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租賃</a:t>
            </a:r>
            <a:endParaRPr lang="en-US" sz="1000" dirty="0"/>
          </a:p>
        </p:txBody>
      </p:sp>
      <p:sp>
        <p:nvSpPr>
          <p:cNvPr id="39" name="Shape 31"/>
          <p:cNvSpPr/>
          <p:nvPr/>
        </p:nvSpPr>
        <p:spPr>
          <a:xfrm>
            <a:off x="5966460" y="4754880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FF5000">
              <a:alpha val="15000"/>
            </a:srgbClr>
          </a:solidFill>
          <a:ln w="12700">
            <a:solidFill>
              <a:srgbClr val="FF50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0" name="Text 32"/>
          <p:cNvSpPr/>
          <p:nvPr/>
        </p:nvSpPr>
        <p:spPr>
          <a:xfrm>
            <a:off x="5966460" y="475488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H30</a:t>
            </a:r>
            <a:endParaRPr lang="en-US" sz="1000" dirty="0"/>
          </a:p>
        </p:txBody>
      </p:sp>
      <p:sp>
        <p:nvSpPr>
          <p:cNvPr id="41" name="Shape 33"/>
          <p:cNvSpPr/>
          <p:nvPr/>
        </p:nvSpPr>
        <p:spPr>
          <a:xfrm>
            <a:off x="7315200" y="4754880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60E9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42" name="Image 5" descr="D:\info\0507_Weekly-Report\Operations-Weekly-Report\automation\icons\key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3216" y="4809744"/>
            <a:ext cx="146304" cy="146304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7607808" y="47548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租賃</a:t>
            </a:r>
            <a:endParaRPr lang="en-US" sz="1000" dirty="0"/>
          </a:p>
        </p:txBody>
      </p:sp>
      <p:sp>
        <p:nvSpPr>
          <p:cNvPr id="44" name="Shape 35"/>
          <p:cNvSpPr/>
          <p:nvPr/>
        </p:nvSpPr>
        <p:spPr>
          <a:xfrm>
            <a:off x="365760" y="5276088"/>
            <a:ext cx="11430000" cy="960120"/>
          </a:xfrm>
          <a:prstGeom prst="roundRect">
            <a:avLst>
              <a:gd name="adj" fmla="val 5714"/>
            </a:avLst>
          </a:prstGeom>
          <a:solidFill>
            <a:srgbClr val="F5F7FF"/>
          </a:solidFill>
          <a:ln w="9525">
            <a:solidFill>
              <a:srgbClr val="8EB9C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5" name="Text 36"/>
          <p:cNvSpPr/>
          <p:nvPr/>
        </p:nvSpPr>
        <p:spPr>
          <a:xfrm>
            <a:off x="594360" y="5349240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資料來源：Hive，一般站依近 30 個台灣日曆日實際清運的塑膠＋鋁罐瓶數分 S～F；三台以上有效收瓶機獨立列為 ARK</a:t>
            </a:r>
            <a:endParaRPr lang="en-US" sz="950" dirty="0"/>
          </a:p>
        </p:txBody>
      </p:sp>
      <p:sp>
        <p:nvSpPr>
          <p:cNvPr id="46" name="Text 37"/>
          <p:cNvSpPr/>
          <p:nvPr/>
        </p:nvSpPr>
        <p:spPr>
          <a:xfrm>
            <a:off x="594360" y="55961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等級+加分/瓶量：</a:t>
            </a:r>
            <a:endParaRPr lang="en-US" sz="900" dirty="0"/>
          </a:p>
        </p:txBody>
      </p:sp>
      <p:sp>
        <p:nvSpPr>
          <p:cNvPr id="47" name="Shape 38"/>
          <p:cNvSpPr/>
          <p:nvPr/>
        </p:nvSpPr>
        <p:spPr>
          <a:xfrm>
            <a:off x="594360" y="5824728"/>
            <a:ext cx="502920" cy="219456"/>
          </a:xfrm>
          <a:prstGeom prst="roundRect">
            <a:avLst>
              <a:gd name="adj" fmla="val 50000"/>
            </a:avLst>
          </a:prstGeom>
          <a:solidFill>
            <a:srgbClr val="FF5000">
              <a:alpha val="15000"/>
            </a:srgbClr>
          </a:solidFill>
          <a:ln w="9525">
            <a:solidFill>
              <a:srgbClr val="FF50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8" name="Text 39"/>
          <p:cNvSpPr/>
          <p:nvPr/>
        </p:nvSpPr>
        <p:spPr>
          <a:xfrm>
            <a:off x="594360" y="58247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S+18</a:t>
            </a:r>
            <a:endParaRPr lang="en-US" sz="850" dirty="0"/>
          </a:p>
        </p:txBody>
      </p:sp>
      <p:sp>
        <p:nvSpPr>
          <p:cNvPr id="49" name="Text 40"/>
          <p:cNvSpPr/>
          <p:nvPr/>
        </p:nvSpPr>
        <p:spPr>
          <a:xfrm>
            <a:off x="1133856" y="5824728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17,000瓶以上</a:t>
            </a:r>
            <a:endParaRPr lang="en-US" sz="700" dirty="0"/>
          </a:p>
        </p:txBody>
      </p:sp>
      <p:sp>
        <p:nvSpPr>
          <p:cNvPr id="50" name="Shape 41"/>
          <p:cNvSpPr/>
          <p:nvPr/>
        </p:nvSpPr>
        <p:spPr>
          <a:xfrm>
            <a:off x="1965960" y="5824728"/>
            <a:ext cx="502920" cy="219456"/>
          </a:xfrm>
          <a:prstGeom prst="roundRect">
            <a:avLst>
              <a:gd name="adj" fmla="val 50000"/>
            </a:avLst>
          </a:prstGeom>
          <a:solidFill>
            <a:srgbClr val="0076A9">
              <a:alpha val="15000"/>
            </a:srgbClr>
          </a:solidFill>
          <a:ln w="9525">
            <a:solidFill>
              <a:srgbClr val="0076A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1" name="Text 42"/>
          <p:cNvSpPr/>
          <p:nvPr/>
        </p:nvSpPr>
        <p:spPr>
          <a:xfrm>
            <a:off x="1965960" y="58247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76A9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A+12</a:t>
            </a:r>
            <a:endParaRPr lang="en-US" sz="850" dirty="0"/>
          </a:p>
        </p:txBody>
      </p:sp>
      <p:sp>
        <p:nvSpPr>
          <p:cNvPr id="52" name="Text 43"/>
          <p:cNvSpPr/>
          <p:nvPr/>
        </p:nvSpPr>
        <p:spPr>
          <a:xfrm>
            <a:off x="2505456" y="5824728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13,300～16,999瓶</a:t>
            </a:r>
            <a:endParaRPr lang="en-US" sz="700" dirty="0"/>
          </a:p>
        </p:txBody>
      </p:sp>
      <p:sp>
        <p:nvSpPr>
          <p:cNvPr id="53" name="Shape 44"/>
          <p:cNvSpPr/>
          <p:nvPr/>
        </p:nvSpPr>
        <p:spPr>
          <a:xfrm>
            <a:off x="3337560" y="5824728"/>
            <a:ext cx="502920" cy="219456"/>
          </a:xfrm>
          <a:prstGeom prst="roundRect">
            <a:avLst>
              <a:gd name="adj" fmla="val 50000"/>
            </a:avLst>
          </a:prstGeom>
          <a:solidFill>
            <a:srgbClr val="060E9F">
              <a:alpha val="15000"/>
            </a:srgbClr>
          </a:solidFill>
          <a:ln w="9525">
            <a:solidFill>
              <a:srgbClr val="060E9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4" name="Text 45"/>
          <p:cNvSpPr/>
          <p:nvPr/>
        </p:nvSpPr>
        <p:spPr>
          <a:xfrm>
            <a:off x="3337560" y="58247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B+8</a:t>
            </a:r>
            <a:endParaRPr lang="en-US" sz="850" dirty="0"/>
          </a:p>
        </p:txBody>
      </p:sp>
      <p:sp>
        <p:nvSpPr>
          <p:cNvPr id="55" name="Text 46"/>
          <p:cNvSpPr/>
          <p:nvPr/>
        </p:nvSpPr>
        <p:spPr>
          <a:xfrm>
            <a:off x="3877056" y="5824728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11,100～13,299瓶</a:t>
            </a:r>
            <a:endParaRPr lang="en-US" sz="700" dirty="0"/>
          </a:p>
        </p:txBody>
      </p:sp>
      <p:sp>
        <p:nvSpPr>
          <p:cNvPr id="56" name="Shape 47"/>
          <p:cNvSpPr/>
          <p:nvPr/>
        </p:nvSpPr>
        <p:spPr>
          <a:xfrm>
            <a:off x="4709160" y="5824728"/>
            <a:ext cx="502920" cy="219456"/>
          </a:xfrm>
          <a:prstGeom prst="roundRect">
            <a:avLst>
              <a:gd name="adj" fmla="val 50000"/>
            </a:avLst>
          </a:prstGeom>
          <a:solidFill>
            <a:srgbClr val="4F86A0">
              <a:alpha val="15000"/>
            </a:srgbClr>
          </a:solidFill>
          <a:ln w="9525">
            <a:solidFill>
              <a:srgbClr val="4F86A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7" name="Text 48"/>
          <p:cNvSpPr/>
          <p:nvPr/>
        </p:nvSpPr>
        <p:spPr>
          <a:xfrm>
            <a:off x="4709160" y="58247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4F86A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C+4</a:t>
            </a:r>
            <a:endParaRPr lang="en-US" sz="850" dirty="0"/>
          </a:p>
        </p:txBody>
      </p:sp>
      <p:sp>
        <p:nvSpPr>
          <p:cNvPr id="58" name="Text 49"/>
          <p:cNvSpPr/>
          <p:nvPr/>
        </p:nvSpPr>
        <p:spPr>
          <a:xfrm>
            <a:off x="5248656" y="5824728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9,000～11,099瓶</a:t>
            </a:r>
            <a:endParaRPr lang="en-US" sz="700" dirty="0"/>
          </a:p>
        </p:txBody>
      </p:sp>
      <p:sp>
        <p:nvSpPr>
          <p:cNvPr id="59" name="Shape 50"/>
          <p:cNvSpPr/>
          <p:nvPr/>
        </p:nvSpPr>
        <p:spPr>
          <a:xfrm>
            <a:off x="6080760" y="5824728"/>
            <a:ext cx="502920" cy="219456"/>
          </a:xfrm>
          <a:prstGeom prst="roundRect">
            <a:avLst>
              <a:gd name="adj" fmla="val 50000"/>
            </a:avLst>
          </a:prstGeom>
          <a:solidFill>
            <a:srgbClr val="888888">
              <a:alpha val="15000"/>
            </a:srgbClr>
          </a:solidFill>
          <a:ln w="9525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0" name="Text 51"/>
          <p:cNvSpPr/>
          <p:nvPr/>
        </p:nvSpPr>
        <p:spPr>
          <a:xfrm>
            <a:off x="6080760" y="58247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88888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D+2</a:t>
            </a:r>
            <a:endParaRPr lang="en-US" sz="850" dirty="0"/>
          </a:p>
        </p:txBody>
      </p:sp>
      <p:sp>
        <p:nvSpPr>
          <p:cNvPr id="61" name="Text 52"/>
          <p:cNvSpPr/>
          <p:nvPr/>
        </p:nvSpPr>
        <p:spPr>
          <a:xfrm>
            <a:off x="6620256" y="5824728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6,900～8,999瓶</a:t>
            </a:r>
            <a:endParaRPr lang="en-US" sz="700" dirty="0"/>
          </a:p>
        </p:txBody>
      </p:sp>
      <p:sp>
        <p:nvSpPr>
          <p:cNvPr id="62" name="Shape 53"/>
          <p:cNvSpPr/>
          <p:nvPr/>
        </p:nvSpPr>
        <p:spPr>
          <a:xfrm>
            <a:off x="7452360" y="5824728"/>
            <a:ext cx="502920" cy="219456"/>
          </a:xfrm>
          <a:prstGeom prst="roundRect">
            <a:avLst>
              <a:gd name="adj" fmla="val 50000"/>
            </a:avLst>
          </a:prstGeom>
          <a:solidFill>
            <a:srgbClr val="888888">
              <a:alpha val="15000"/>
            </a:srgbClr>
          </a:solidFill>
          <a:ln w="9525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3" name="Text 54"/>
          <p:cNvSpPr/>
          <p:nvPr/>
        </p:nvSpPr>
        <p:spPr>
          <a:xfrm>
            <a:off x="7452360" y="58247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88888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E+1</a:t>
            </a:r>
            <a:endParaRPr lang="en-US" sz="850" dirty="0"/>
          </a:p>
        </p:txBody>
      </p:sp>
      <p:sp>
        <p:nvSpPr>
          <p:cNvPr id="64" name="Text 55"/>
          <p:cNvSpPr/>
          <p:nvPr/>
        </p:nvSpPr>
        <p:spPr>
          <a:xfrm>
            <a:off x="7991856" y="5824728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4,100～6,899瓶</a:t>
            </a:r>
            <a:endParaRPr lang="en-US" sz="700" dirty="0"/>
          </a:p>
        </p:txBody>
      </p:sp>
      <p:sp>
        <p:nvSpPr>
          <p:cNvPr id="65" name="Shape 56"/>
          <p:cNvSpPr/>
          <p:nvPr/>
        </p:nvSpPr>
        <p:spPr>
          <a:xfrm>
            <a:off x="8823960" y="5824728"/>
            <a:ext cx="502920" cy="219456"/>
          </a:xfrm>
          <a:prstGeom prst="roundRect">
            <a:avLst>
              <a:gd name="adj" fmla="val 50000"/>
            </a:avLst>
          </a:prstGeom>
          <a:solidFill>
            <a:srgbClr val="888888">
              <a:alpha val="15000"/>
            </a:srgbClr>
          </a:solidFill>
          <a:ln w="9525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6" name="Text 57"/>
          <p:cNvSpPr/>
          <p:nvPr/>
        </p:nvSpPr>
        <p:spPr>
          <a:xfrm>
            <a:off x="8823960" y="58247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88888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F+0</a:t>
            </a:r>
            <a:endParaRPr lang="en-US" sz="850" dirty="0"/>
          </a:p>
        </p:txBody>
      </p:sp>
      <p:sp>
        <p:nvSpPr>
          <p:cNvPr id="67" name="Text 58"/>
          <p:cNvSpPr/>
          <p:nvPr/>
        </p:nvSpPr>
        <p:spPr>
          <a:xfrm>
            <a:off x="9363456" y="5824728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4,100瓶以下</a:t>
            </a:r>
            <a:endParaRPr lang="en-US" sz="700" dirty="0"/>
          </a:p>
        </p:txBody>
      </p:sp>
      <p:sp>
        <p:nvSpPr>
          <p:cNvPr id="68" name="Shape 59"/>
          <p:cNvSpPr/>
          <p:nvPr/>
        </p:nvSpPr>
        <p:spPr>
          <a:xfrm>
            <a:off x="10195560" y="5824728"/>
            <a:ext cx="502920" cy="219456"/>
          </a:xfrm>
          <a:prstGeom prst="roundRect">
            <a:avLst>
              <a:gd name="adj" fmla="val 50000"/>
            </a:avLst>
          </a:prstGeom>
          <a:solidFill>
            <a:srgbClr val="9C7A00">
              <a:alpha val="15000"/>
            </a:srgbClr>
          </a:solidFill>
          <a:ln w="9525">
            <a:solidFill>
              <a:srgbClr val="9C7A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9" name="Text 60"/>
          <p:cNvSpPr/>
          <p:nvPr/>
        </p:nvSpPr>
        <p:spPr>
          <a:xfrm>
            <a:off x="10195560" y="58247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C7A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ARK+8</a:t>
            </a:r>
            <a:endParaRPr lang="en-US" sz="850" dirty="0"/>
          </a:p>
        </p:txBody>
      </p:sp>
      <p:sp>
        <p:nvSpPr>
          <p:cNvPr id="70" name="Text 61"/>
          <p:cNvSpPr/>
          <p:nvPr/>
        </p:nvSpPr>
        <p:spPr>
          <a:xfrm>
            <a:off x="10735056" y="5824728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3台有效收瓶機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73152" cy="310896"/>
          </a:xfrm>
          <a:prstGeom prst="rect">
            <a:avLst/>
          </a:prstGeom>
          <a:solidFill>
            <a:srgbClr val="060E9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30352" y="128016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客訴趨勢洞察（MoM／QoQ）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326880" y="146304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060E9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9326880" y="14630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第38週（09/14 ~ 09/20）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658368"/>
            <a:ext cx="272034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63500" dist="19050" dir="5400000" algn="bl" rotWithShape="0">
              <a:srgbClr val="999999">
                <a:alpha val="2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365760" y="658368"/>
            <a:ext cx="2720340" cy="64008"/>
          </a:xfrm>
          <a:prstGeom prst="roundRect">
            <a:avLst>
              <a:gd name="adj" fmla="val 42857"/>
            </a:avLst>
          </a:prstGeom>
          <a:solidFill>
            <a:srgbClr val="060E9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548640" y="768096"/>
            <a:ext cx="20802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本月客訴總量（26年8月）</a:t>
            </a:r>
            <a:endParaRPr lang="en-US" sz="1100" dirty="0"/>
          </a:p>
        </p:txBody>
      </p:sp>
      <p:pic>
        <p:nvPicPr>
          <p:cNvPr id="9" name="Image 0" descr="D:\info\0507_Weekly-Report\Operations-Weekly-Report\automation\icons\headset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3764" y="777240"/>
            <a:ext cx="219456" cy="2194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1024128"/>
            <a:ext cx="23545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60E9F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513 </a:t>
            </a:r>
            <a:r>
              <a:rPr lang="en-US" sz="125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件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548640" y="1389888"/>
            <a:ext cx="18059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較上月（678件）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189988" y="1371600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DFF3E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0"/>
          <p:cNvSpPr/>
          <p:nvPr/>
        </p:nvSpPr>
        <p:spPr>
          <a:xfrm>
            <a:off x="2189988" y="137160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D9E75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▼24.3%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268980" y="658368"/>
            <a:ext cx="272034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63500" dist="19050" dir="5400000" algn="bl" rotWithShape="0">
              <a:srgbClr val="999999">
                <a:alpha val="2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2"/>
          <p:cNvSpPr/>
          <p:nvPr/>
        </p:nvSpPr>
        <p:spPr>
          <a:xfrm>
            <a:off x="3268980" y="658368"/>
            <a:ext cx="2720340" cy="64008"/>
          </a:xfrm>
          <a:prstGeom prst="roundRect">
            <a:avLst>
              <a:gd name="adj" fmla="val 42857"/>
            </a:avLst>
          </a:prstGeom>
          <a:solidFill>
            <a:srgbClr val="0076A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3"/>
          <p:cNvSpPr/>
          <p:nvPr/>
        </p:nvSpPr>
        <p:spPr>
          <a:xfrm>
            <a:off x="3451860" y="768096"/>
            <a:ext cx="20802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客訴密度指標（件/站）</a:t>
            </a:r>
            <a:endParaRPr lang="en-US" sz="1100" dirty="0"/>
          </a:p>
        </p:txBody>
      </p:sp>
      <p:pic>
        <p:nvPicPr>
          <p:cNvPr id="17" name="Image 1" descr="D:\info\0507_Weekly-Report\Operations-Weekly-Report\automation\icons\pin_dark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6984" y="777240"/>
            <a:ext cx="219456" cy="21945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451860" y="1024128"/>
            <a:ext cx="23545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76A9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0.91 </a:t>
            </a:r>
            <a:r>
              <a:rPr lang="en-US" sz="1100" b="1" dirty="0">
                <a:solidFill>
                  <a:srgbClr val="0076A9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件/站</a:t>
            </a:r>
            <a:endParaRPr lang="en-US" sz="2500" dirty="0"/>
          </a:p>
        </p:txBody>
      </p:sp>
      <p:sp>
        <p:nvSpPr>
          <p:cNvPr id="19" name="Text 15"/>
          <p:cNvSpPr/>
          <p:nvPr/>
        </p:nvSpPr>
        <p:spPr>
          <a:xfrm>
            <a:off x="3451860" y="1389888"/>
            <a:ext cx="18059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每站平均客訴量，暫代萬人客訴率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5093208" y="1371600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DFF3E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7"/>
          <p:cNvSpPr/>
          <p:nvPr/>
        </p:nvSpPr>
        <p:spPr>
          <a:xfrm>
            <a:off x="5093208" y="137160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D9E75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▼24.2%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6172200" y="658368"/>
            <a:ext cx="272034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63500" dist="19050" dir="5400000" algn="bl" rotWithShape="0">
              <a:srgbClr val="999999">
                <a:alpha val="2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19"/>
          <p:cNvSpPr/>
          <p:nvPr/>
        </p:nvSpPr>
        <p:spPr>
          <a:xfrm>
            <a:off x="6172200" y="658368"/>
            <a:ext cx="2720340" cy="64008"/>
          </a:xfrm>
          <a:prstGeom prst="roundRect">
            <a:avLst>
              <a:gd name="adj" fmla="val 42857"/>
            </a:avLst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0"/>
          <p:cNvSpPr/>
          <p:nvPr/>
        </p:nvSpPr>
        <p:spPr>
          <a:xfrm>
            <a:off x="6355080" y="768096"/>
            <a:ext cx="20802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本季客訴總量（26年Q2）</a:t>
            </a:r>
            <a:endParaRPr lang="en-US" sz="1100" dirty="0"/>
          </a:p>
        </p:txBody>
      </p:sp>
      <p:pic>
        <p:nvPicPr>
          <p:cNvPr id="25" name="Image 2" descr="D:\info\0507_Weekly-Report\Operations-Weekly-Report\automation\icons\warn_oran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0204" y="777240"/>
            <a:ext cx="219456" cy="219456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355080" y="1024128"/>
            <a:ext cx="23545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5000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2078 </a:t>
            </a:r>
            <a:r>
              <a:rPr lang="en-US" sz="125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件</a:t>
            </a:r>
            <a:endParaRPr lang="en-US" sz="2500" dirty="0"/>
          </a:p>
        </p:txBody>
      </p:sp>
      <p:sp>
        <p:nvSpPr>
          <p:cNvPr id="27" name="Text 22"/>
          <p:cNvSpPr/>
          <p:nvPr/>
        </p:nvSpPr>
        <p:spPr>
          <a:xfrm>
            <a:off x="6355080" y="1389888"/>
            <a:ext cx="18059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較上季（2125件）</a:t>
            </a:r>
            <a:endParaRPr lang="en-US" sz="850" dirty="0"/>
          </a:p>
        </p:txBody>
      </p:sp>
      <p:sp>
        <p:nvSpPr>
          <p:cNvPr id="28" name="Shape 23"/>
          <p:cNvSpPr/>
          <p:nvPr/>
        </p:nvSpPr>
        <p:spPr>
          <a:xfrm>
            <a:off x="7996428" y="1371600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DFF3E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4"/>
          <p:cNvSpPr/>
          <p:nvPr/>
        </p:nvSpPr>
        <p:spPr>
          <a:xfrm>
            <a:off x="7996428" y="137160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D9E75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▼2.2%</a:t>
            </a:r>
            <a:endParaRPr lang="en-US" sz="950" dirty="0"/>
          </a:p>
        </p:txBody>
      </p:sp>
      <p:sp>
        <p:nvSpPr>
          <p:cNvPr id="30" name="Shape 25"/>
          <p:cNvSpPr/>
          <p:nvPr/>
        </p:nvSpPr>
        <p:spPr>
          <a:xfrm>
            <a:off x="9075420" y="658368"/>
            <a:ext cx="272034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63500" dist="19050" dir="5400000" algn="bl" rotWithShape="0">
              <a:srgbClr val="999999">
                <a:alpha val="2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1" name="Shape 26"/>
          <p:cNvSpPr/>
          <p:nvPr/>
        </p:nvSpPr>
        <p:spPr>
          <a:xfrm>
            <a:off x="9075420" y="658368"/>
            <a:ext cx="2720340" cy="64008"/>
          </a:xfrm>
          <a:prstGeom prst="roundRect">
            <a:avLst>
              <a:gd name="adj" fmla="val 42857"/>
            </a:avLst>
          </a:prstGeom>
          <a:solidFill>
            <a:srgbClr val="FFCE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2" name="Text 27"/>
          <p:cNvSpPr/>
          <p:nvPr/>
        </p:nvSpPr>
        <p:spPr>
          <a:xfrm>
            <a:off x="9258300" y="768096"/>
            <a:ext cx="20802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機台問題佔比（26年Q2）</a:t>
            </a:r>
            <a:endParaRPr lang="en-US" sz="1100" dirty="0"/>
          </a:p>
        </p:txBody>
      </p:sp>
      <p:pic>
        <p:nvPicPr>
          <p:cNvPr id="33" name="Image 3" descr="D:\info\0507_Weekly-Report\Operations-Weekly-Report\automation\icons\recycle_blu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93424" y="777240"/>
            <a:ext cx="219456" cy="219456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9258300" y="1024128"/>
            <a:ext cx="23545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9C7A00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45.4</a:t>
            </a:r>
            <a:r>
              <a:rPr lang="en-US" sz="1250" b="1" dirty="0">
                <a:solidFill>
                  <a:srgbClr val="9C7A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%</a:t>
            </a:r>
            <a:endParaRPr lang="en-US" sz="2500" dirty="0"/>
          </a:p>
        </p:txBody>
      </p:sp>
      <p:sp>
        <p:nvSpPr>
          <p:cNvPr id="35" name="Text 29"/>
          <p:cNvSpPr/>
          <p:nvPr/>
        </p:nvSpPr>
        <p:spPr>
          <a:xfrm>
            <a:off x="9258300" y="1389888"/>
            <a:ext cx="18059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較上季佔比變化</a:t>
            </a:r>
            <a:endParaRPr lang="en-US" sz="850" dirty="0"/>
          </a:p>
        </p:txBody>
      </p:sp>
      <p:sp>
        <p:nvSpPr>
          <p:cNvPr id="36" name="Shape 30"/>
          <p:cNvSpPr/>
          <p:nvPr/>
        </p:nvSpPr>
        <p:spPr>
          <a:xfrm>
            <a:off x="10899648" y="1371600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FFE9D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7" name="Text 31"/>
          <p:cNvSpPr/>
          <p:nvPr/>
        </p:nvSpPr>
        <p:spPr>
          <a:xfrm>
            <a:off x="10899648" y="137160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▼6.8%</a:t>
            </a:r>
            <a:endParaRPr lang="en-US" sz="950" dirty="0"/>
          </a:p>
        </p:txBody>
      </p:sp>
      <p:sp>
        <p:nvSpPr>
          <p:cNvPr id="38" name="Shape 32"/>
          <p:cNvSpPr/>
          <p:nvPr/>
        </p:nvSpPr>
        <p:spPr>
          <a:xfrm>
            <a:off x="365760" y="2075688"/>
            <a:ext cx="64008" cy="256032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9" name="Text 33"/>
          <p:cNvSpPr/>
          <p:nvPr/>
        </p:nvSpPr>
        <p:spPr>
          <a:xfrm>
            <a:off x="502920" y="2048256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60E9F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總客訴量與客訴密度趨勢圖（MoM，近6個月）</a:t>
            </a:r>
            <a:endParaRPr lang="en-US" sz="1300" dirty="0"/>
          </a:p>
        </p:txBody>
      </p:sp>
      <p:graphicFrame>
        <p:nvGraphicFramePr>
          <p:cNvPr id="40" name="Chart 0"/>
          <p:cNvGraphicFramePr/>
          <p:nvPr/>
        </p:nvGraphicFramePr>
        <p:xfrm>
          <a:off x="365760" y="2423160"/>
          <a:ext cx="5212080" cy="19385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41" name="Shape 34"/>
          <p:cNvSpPr/>
          <p:nvPr/>
        </p:nvSpPr>
        <p:spPr>
          <a:xfrm>
            <a:off x="5852160" y="2075688"/>
            <a:ext cx="64008" cy="256032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2" name="Text 35"/>
          <p:cNvSpPr/>
          <p:nvPr/>
        </p:nvSpPr>
        <p:spPr>
          <a:xfrm>
            <a:off x="5989320" y="2048256"/>
            <a:ext cx="5806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5000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客訴主題結構比變化（QoQ）</a:t>
            </a:r>
            <a:endParaRPr lang="en-US" sz="1300" dirty="0"/>
          </a:p>
        </p:txBody>
      </p:sp>
      <p:graphicFrame>
        <p:nvGraphicFramePr>
          <p:cNvPr id="43" name="Chart 1"/>
          <p:cNvGraphicFramePr/>
          <p:nvPr/>
        </p:nvGraphicFramePr>
        <p:xfrm>
          <a:off x="5852160" y="2423160"/>
          <a:ext cx="5943600" cy="19385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44" name="Shape 36"/>
          <p:cNvSpPr/>
          <p:nvPr/>
        </p:nvSpPr>
        <p:spPr>
          <a:xfrm>
            <a:off x="365760" y="4617720"/>
            <a:ext cx="64008" cy="256032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5" name="Text 37"/>
          <p:cNvSpPr/>
          <p:nvPr/>
        </p:nvSpPr>
        <p:spPr>
          <a:xfrm>
            <a:off x="502920" y="4590288"/>
            <a:ext cx="11292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60E9F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客服觀點與改善行動建議</a:t>
            </a:r>
            <a:endParaRPr lang="en-US" sz="1300" dirty="0"/>
          </a:p>
        </p:txBody>
      </p:sp>
      <p:sp>
        <p:nvSpPr>
          <p:cNvPr id="46" name="Shape 38"/>
          <p:cNvSpPr/>
          <p:nvPr/>
        </p:nvSpPr>
        <p:spPr>
          <a:xfrm>
            <a:off x="365760" y="4946904"/>
            <a:ext cx="11430000" cy="566928"/>
          </a:xfrm>
          <a:prstGeom prst="roundRect">
            <a:avLst>
              <a:gd name="adj" fmla="val 9677"/>
            </a:avLst>
          </a:prstGeom>
          <a:solidFill>
            <a:srgbClr val="060E9F"/>
          </a:solidFill>
          <a:ln w="9525">
            <a:solidFill>
              <a:srgbClr val="060E9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7" name="Shape 39"/>
          <p:cNvSpPr/>
          <p:nvPr/>
        </p:nvSpPr>
        <p:spPr>
          <a:xfrm>
            <a:off x="365760" y="4946904"/>
            <a:ext cx="54864" cy="566928"/>
          </a:xfrm>
          <a:prstGeom prst="rect">
            <a:avLst/>
          </a:prstGeom>
          <a:solidFill>
            <a:srgbClr val="060E9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8" name="Text 40"/>
          <p:cNvSpPr/>
          <p:nvPr/>
        </p:nvSpPr>
        <p:spPr>
          <a:xfrm>
            <a:off x="566928" y="50017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重點結論</a:t>
            </a:r>
            <a:endParaRPr lang="en-US" sz="1050" dirty="0"/>
          </a:p>
        </p:txBody>
      </p:sp>
      <p:sp>
        <p:nvSpPr>
          <p:cNvPr id="49" name="Text 41"/>
          <p:cNvSpPr/>
          <p:nvPr/>
        </p:nvSpPr>
        <p:spPr>
          <a:xfrm>
            <a:off x="2194560" y="500176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本月客訴量較上月下降 24.3%，本季較上季下降 2.2%，整體呈現改善趨勢。 本季變化最大：「APP帳號設定問題」上升 13.7 個百分點，建議優先關注。</a:t>
            </a:r>
            <a:endParaRPr lang="en-US" sz="950" dirty="0"/>
          </a:p>
        </p:txBody>
      </p:sp>
      <p:sp>
        <p:nvSpPr>
          <p:cNvPr id="50" name="Shape 42"/>
          <p:cNvSpPr/>
          <p:nvPr/>
        </p:nvSpPr>
        <p:spPr>
          <a:xfrm>
            <a:off x="365760" y="5632704"/>
            <a:ext cx="11430000" cy="530352"/>
          </a:xfrm>
          <a:prstGeom prst="roundRect">
            <a:avLst>
              <a:gd name="adj" fmla="val 10345"/>
            </a:avLst>
          </a:prstGeom>
          <a:solidFill>
            <a:srgbClr val="FFF4EF"/>
          </a:solidFill>
          <a:ln w="9525">
            <a:solidFill>
              <a:srgbClr val="FF50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1" name="Shape 43"/>
          <p:cNvSpPr/>
          <p:nvPr/>
        </p:nvSpPr>
        <p:spPr>
          <a:xfrm>
            <a:off x="365760" y="5632704"/>
            <a:ext cx="54864" cy="530352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2" name="Text 44"/>
          <p:cNvSpPr/>
          <p:nvPr/>
        </p:nvSpPr>
        <p:spPr>
          <a:xfrm>
            <a:off x="566928" y="568756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本季結構變化重點</a:t>
            </a:r>
            <a:endParaRPr lang="en-US" sz="1050" dirty="0"/>
          </a:p>
        </p:txBody>
      </p:sp>
      <p:sp>
        <p:nvSpPr>
          <p:cNvPr id="53" name="Text 45"/>
          <p:cNvSpPr/>
          <p:nvPr/>
        </p:nvSpPr>
        <p:spPr>
          <a:xfrm>
            <a:off x="2194560" y="5687568"/>
            <a:ext cx="9601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本季「APP帳號設定問題」佔比較上季上升 13.7 個百分點（8.0% → 21.7%），為本季結構變化最大的問題類型，建議追蹤後續走勢並評估對應改善措施。（資料累積中，須滿一年以上同季比較才能判斷是否為季節性規律）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719</Words>
  <Application>Microsoft Office PowerPoint</Application>
  <PresentationFormat>寬螢幕</PresentationFormat>
  <Paragraphs>252</Paragraphs>
  <Slides>4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9" baseType="lpstr">
      <vt:lpstr>Noto Sans TC Black</vt:lpstr>
      <vt:lpstr>Noto Sans TC Bold</vt:lpstr>
      <vt:lpstr>Noto Sans TC Medium</vt:lpstr>
      <vt:lpstr>Arial</vt:lpstr>
      <vt:lpstr>Office Theme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王茗芬</cp:lastModifiedBy>
  <cp:revision>2</cp:revision>
  <dcterms:created xsi:type="dcterms:W3CDTF">2026-09-21T03:00:04Z</dcterms:created>
  <dcterms:modified xsi:type="dcterms:W3CDTF">2026-09-21T03:52:31Z</dcterms:modified>
</cp:coreProperties>
</file>