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939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ecoco 客服週報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326880" y="164592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9326880" y="1645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第34週（08/17 ~ 08/23）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4864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本週客訴總件數 (第34週)</a:t>
            </a:r>
            <a:endParaRPr lang="en-US" sz="1200" dirty="0"/>
          </a:p>
        </p:txBody>
      </p:sp>
      <p:pic>
        <p:nvPicPr>
          <p:cNvPr id="8" name="Image 0" descr="D:\info\0507_Weekly-Report\Operations-Weekly-Report\automation\icons\headset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188" y="8503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61 </a:t>
            </a:r>
            <a:r>
              <a:rPr lang="en-US" sz="13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件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54864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較上週 (165件) 減少 104 件</a:t>
            </a:r>
            <a:endParaRPr lang="en-US" sz="920" dirty="0"/>
          </a:p>
        </p:txBody>
      </p:sp>
      <p:sp>
        <p:nvSpPr>
          <p:cNvPr id="11" name="Shape 8"/>
          <p:cNvSpPr/>
          <p:nvPr/>
        </p:nvSpPr>
        <p:spPr>
          <a:xfrm>
            <a:off x="215341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DDEAF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215341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▼63%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326898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1"/>
          <p:cNvSpPr/>
          <p:nvPr/>
        </p:nvSpPr>
        <p:spPr>
          <a:xfrm>
            <a:off x="326898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345186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回報最高主題</a:t>
            </a:r>
            <a:endParaRPr lang="en-US" sz="1200" dirty="0"/>
          </a:p>
        </p:txBody>
      </p:sp>
      <p:pic>
        <p:nvPicPr>
          <p:cNvPr id="16" name="Image 1" descr="D:\info\0507_Weekly-Report\Operations-Weekly-Report\automation\icons\warn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85039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5186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寶特瓶滿艙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345186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佔比 16.4%（共 10 件）</a:t>
            </a:r>
            <a:endParaRPr lang="en-US" sz="920" dirty="0"/>
          </a:p>
        </p:txBody>
      </p:sp>
      <p:sp>
        <p:nvSpPr>
          <p:cNvPr id="19" name="Shape 15"/>
          <p:cNvSpPr/>
          <p:nvPr/>
        </p:nvSpPr>
        <p:spPr>
          <a:xfrm>
            <a:off x="505663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6"/>
          <p:cNvSpPr/>
          <p:nvPr/>
        </p:nvSpPr>
        <p:spPr>
          <a:xfrm>
            <a:off x="505663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▲7.3%</a:t>
            </a:r>
            <a:endParaRPr lang="en-US" sz="1020" dirty="0"/>
          </a:p>
        </p:txBody>
      </p:sp>
      <p:sp>
        <p:nvSpPr>
          <p:cNvPr id="21" name="Shape 17"/>
          <p:cNvSpPr/>
          <p:nvPr/>
        </p:nvSpPr>
        <p:spPr>
          <a:xfrm>
            <a:off x="617220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18"/>
          <p:cNvSpPr/>
          <p:nvPr/>
        </p:nvSpPr>
        <p:spPr>
          <a:xfrm>
            <a:off x="617220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19"/>
          <p:cNvSpPr/>
          <p:nvPr/>
        </p:nvSpPr>
        <p:spPr>
          <a:xfrm>
            <a:off x="635508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客訴量最高站點</a:t>
            </a:r>
            <a:endParaRPr lang="en-US" sz="1200" dirty="0"/>
          </a:p>
        </p:txBody>
      </p:sp>
      <p:pic>
        <p:nvPicPr>
          <p:cNvPr id="24" name="Image 2" descr="D:\info\0507_Weekly-Report\Operations-Weekly-Report\automation\icons\pin_dark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3628" y="85039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5508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全家台南萬年店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635508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臺南市（本週 2 件）</a:t>
            </a:r>
            <a:endParaRPr lang="en-US" sz="920" dirty="0"/>
          </a:p>
        </p:txBody>
      </p:sp>
      <p:sp>
        <p:nvSpPr>
          <p:cNvPr id="27" name="Shape 22"/>
          <p:cNvSpPr/>
          <p:nvPr/>
        </p:nvSpPr>
        <p:spPr>
          <a:xfrm>
            <a:off x="795985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3"/>
          <p:cNvSpPr/>
          <p:nvPr/>
        </p:nvSpPr>
        <p:spPr>
          <a:xfrm>
            <a:off x="795985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▲2件</a:t>
            </a:r>
            <a:endParaRPr lang="en-US" sz="1020" dirty="0"/>
          </a:p>
        </p:txBody>
      </p:sp>
      <p:sp>
        <p:nvSpPr>
          <p:cNvPr id="29" name="Shape 24"/>
          <p:cNvSpPr/>
          <p:nvPr/>
        </p:nvSpPr>
        <p:spPr>
          <a:xfrm>
            <a:off x="9075420" y="685800"/>
            <a:ext cx="272034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  <a:effectLst>
            <a:outerShdw blurRad="63500" dist="19050" dir="5400000" algn="bl" rotWithShape="0">
              <a:srgbClr val="999999">
                <a:alpha val="2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5"/>
          <p:cNvSpPr/>
          <p:nvPr/>
        </p:nvSpPr>
        <p:spPr>
          <a:xfrm>
            <a:off x="9075420" y="685800"/>
            <a:ext cx="2720340" cy="64008"/>
          </a:xfrm>
          <a:prstGeom prst="roundRect">
            <a:avLst>
              <a:gd name="adj" fmla="val 42857"/>
            </a:avLst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6"/>
          <p:cNvSpPr/>
          <p:nvPr/>
        </p:nvSpPr>
        <p:spPr>
          <a:xfrm>
            <a:off x="9258300" y="832104"/>
            <a:ext cx="20802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非機台問題佔比</a:t>
            </a:r>
            <a:endParaRPr lang="en-US" sz="1200" dirty="0"/>
          </a:p>
        </p:txBody>
      </p:sp>
      <p:pic>
        <p:nvPicPr>
          <p:cNvPr id="32" name="Image 3" descr="D:\info\0507_Weekly-Report\Operations-Weekly-Report\automation\icons\usercog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56848" y="850392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258300" y="1179576"/>
            <a:ext cx="23545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9C7A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44.3</a:t>
            </a:r>
            <a:r>
              <a:rPr lang="en-US" sz="1350" b="1" dirty="0">
                <a:solidFill>
                  <a:srgbClr val="9C7A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%</a:t>
            </a:r>
            <a:endParaRPr lang="en-US" sz="2700" dirty="0"/>
          </a:p>
        </p:txBody>
      </p:sp>
      <p:sp>
        <p:nvSpPr>
          <p:cNvPr id="34" name="Text 28"/>
          <p:cNvSpPr/>
          <p:nvPr/>
        </p:nvSpPr>
        <p:spPr>
          <a:xfrm>
            <a:off x="9258300" y="1691640"/>
            <a:ext cx="17145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2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代表案例類型：忘記密碼/無法重設密碼</a:t>
            </a:r>
            <a:endParaRPr lang="en-US" sz="920" dirty="0"/>
          </a:p>
        </p:txBody>
      </p:sp>
      <p:sp>
        <p:nvSpPr>
          <p:cNvPr id="35" name="Shape 29"/>
          <p:cNvSpPr/>
          <p:nvPr/>
        </p:nvSpPr>
        <p:spPr>
          <a:xfrm>
            <a:off x="10863072" y="1691640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FFE9D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0"/>
          <p:cNvSpPr/>
          <p:nvPr/>
        </p:nvSpPr>
        <p:spPr>
          <a:xfrm>
            <a:off x="10863072" y="169164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▲4.9%</a:t>
            </a:r>
            <a:endParaRPr lang="en-US" sz="1020" dirty="0"/>
          </a:p>
        </p:txBody>
      </p:sp>
      <p:sp>
        <p:nvSpPr>
          <p:cNvPr id="37" name="Shape 31"/>
          <p:cNvSpPr/>
          <p:nvPr/>
        </p:nvSpPr>
        <p:spPr>
          <a:xfrm>
            <a:off x="365760" y="2459736"/>
            <a:ext cx="64008" cy="256032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2"/>
          <p:cNvSpPr/>
          <p:nvPr/>
        </p:nvSpPr>
        <p:spPr>
          <a:xfrm>
            <a:off x="502920" y="2432304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客訴趨勢分析（近4週）　單位：件數</a:t>
            </a:r>
            <a:endParaRPr lang="en-US" sz="13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07208"/>
          <a:ext cx="7141464" cy="3017520"/>
        </p:xfrm>
        <a:graphic>
          <a:graphicData uri="http://schemas.openxmlformats.org/drawingml/2006/table">
            <a:tbl>
              <a:tblPr/>
              <a:tblGrid>
                <a:gridCol w="1024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週次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機台問題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APP帳號設定問題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回收點數問題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顧客關係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優惠券問題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APP使用問題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加總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第30週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118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20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186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第31週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106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11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▼9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20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11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8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159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▼27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第32週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13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19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6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▼5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10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5000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▲2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157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第34週</a:t>
                      </a:r>
                      <a:endParaRPr lang="en-US" sz="10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34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▼72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▼1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4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▼9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16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▼3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2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▼4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76A9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▼7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61</a:t>
                      </a:r>
                      <a:endParaRPr lang="en-US" sz="1200" dirty="0"/>
                    </a:p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▼96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" name="Shape 33"/>
          <p:cNvSpPr/>
          <p:nvPr/>
        </p:nvSpPr>
        <p:spPr>
          <a:xfrm>
            <a:off x="7772400" y="2459736"/>
            <a:ext cx="64008" cy="256032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4"/>
          <p:cNvSpPr/>
          <p:nvPr/>
        </p:nvSpPr>
        <p:spPr>
          <a:xfrm>
            <a:off x="7909560" y="243230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非機台問題 Top 3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7772400" y="2807208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FF4EF"/>
          </a:solidFill>
          <a:ln w="12700">
            <a:solidFill>
              <a:srgbClr val="FF5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36"/>
          <p:cNvSpPr/>
          <p:nvPr/>
        </p:nvSpPr>
        <p:spPr>
          <a:xfrm>
            <a:off x="7772400" y="2807208"/>
            <a:ext cx="54864" cy="1188720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Text 37"/>
          <p:cNvSpPr/>
          <p:nvPr/>
        </p:nvSpPr>
        <p:spPr>
          <a:xfrm>
            <a:off x="7918704" y="291693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700" dirty="0"/>
          </a:p>
        </p:txBody>
      </p:sp>
      <p:sp>
        <p:nvSpPr>
          <p:cNvPr id="45" name="Text 38"/>
          <p:cNvSpPr/>
          <p:nvPr/>
        </p:nvSpPr>
        <p:spPr>
          <a:xfrm>
            <a:off x="8394192" y="28986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其他建議</a:t>
            </a:r>
            <a:endParaRPr lang="en-US" sz="1250" dirty="0"/>
          </a:p>
        </p:txBody>
      </p:sp>
      <p:sp>
        <p:nvSpPr>
          <p:cNvPr id="46" name="Text 39"/>
          <p:cNvSpPr/>
          <p:nvPr/>
        </p:nvSpPr>
        <p:spPr>
          <a:xfrm>
            <a:off x="8394192" y="32826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7件</a:t>
            </a:r>
            <a:r>
              <a:rPr lang="en-US" sz="115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11.5%</a:t>
            </a:r>
            <a:endParaRPr lang="en-US" sz="1700" dirty="0"/>
          </a:p>
        </p:txBody>
      </p:sp>
      <p:sp>
        <p:nvSpPr>
          <p:cNvPr id="47" name="Shape 40"/>
          <p:cNvSpPr/>
          <p:nvPr/>
        </p:nvSpPr>
        <p:spPr>
          <a:xfrm>
            <a:off x="8394192" y="3794760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8" name="Shape 41"/>
          <p:cNvSpPr/>
          <p:nvPr/>
        </p:nvSpPr>
        <p:spPr>
          <a:xfrm>
            <a:off x="8394192" y="3794760"/>
            <a:ext cx="3200400" cy="64008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9" name="Shape 42"/>
          <p:cNvSpPr/>
          <p:nvPr/>
        </p:nvSpPr>
        <p:spPr>
          <a:xfrm>
            <a:off x="7772400" y="4151376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EEF6FB"/>
          </a:solidFill>
          <a:ln w="12700">
            <a:solidFill>
              <a:srgbClr val="0076A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3"/>
          <p:cNvSpPr/>
          <p:nvPr/>
        </p:nvSpPr>
        <p:spPr>
          <a:xfrm>
            <a:off x="7772400" y="4151376"/>
            <a:ext cx="54864" cy="1188720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4"/>
          <p:cNvSpPr/>
          <p:nvPr/>
        </p:nvSpPr>
        <p:spPr>
          <a:xfrm>
            <a:off x="7918704" y="42611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700" dirty="0"/>
          </a:p>
        </p:txBody>
      </p:sp>
      <p:sp>
        <p:nvSpPr>
          <p:cNvPr id="52" name="Text 45"/>
          <p:cNvSpPr/>
          <p:nvPr/>
        </p:nvSpPr>
        <p:spPr>
          <a:xfrm>
            <a:off x="8394192" y="424281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許願新增站點/設站建議</a:t>
            </a:r>
            <a:endParaRPr lang="en-US" sz="1250" dirty="0"/>
          </a:p>
        </p:txBody>
      </p:sp>
      <p:sp>
        <p:nvSpPr>
          <p:cNvPr id="53" name="Text 46"/>
          <p:cNvSpPr/>
          <p:nvPr/>
        </p:nvSpPr>
        <p:spPr>
          <a:xfrm>
            <a:off x="8394192" y="46268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4件</a:t>
            </a:r>
            <a:r>
              <a:rPr lang="en-US" sz="115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6.6%</a:t>
            </a:r>
            <a:endParaRPr lang="en-US" sz="1700" dirty="0"/>
          </a:p>
        </p:txBody>
      </p:sp>
      <p:sp>
        <p:nvSpPr>
          <p:cNvPr id="54" name="Shape 47"/>
          <p:cNvSpPr/>
          <p:nvPr/>
        </p:nvSpPr>
        <p:spPr>
          <a:xfrm>
            <a:off x="8394192" y="5138928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5" name="Shape 48"/>
          <p:cNvSpPr/>
          <p:nvPr/>
        </p:nvSpPr>
        <p:spPr>
          <a:xfrm>
            <a:off x="8394192" y="5138928"/>
            <a:ext cx="1828800" cy="64008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6" name="Shape 49"/>
          <p:cNvSpPr/>
          <p:nvPr/>
        </p:nvSpPr>
        <p:spPr>
          <a:xfrm>
            <a:off x="7772400" y="5495544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5F7FF"/>
          </a:solidFill>
          <a:ln w="12700">
            <a:solidFill>
              <a:srgbClr val="060E9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7" name="Shape 50"/>
          <p:cNvSpPr/>
          <p:nvPr/>
        </p:nvSpPr>
        <p:spPr>
          <a:xfrm>
            <a:off x="7772400" y="5495544"/>
            <a:ext cx="54864" cy="1188720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8" name="Text 51"/>
          <p:cNvSpPr/>
          <p:nvPr/>
        </p:nvSpPr>
        <p:spPr>
          <a:xfrm>
            <a:off x="7918704" y="560527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700" dirty="0"/>
          </a:p>
        </p:txBody>
      </p:sp>
      <p:sp>
        <p:nvSpPr>
          <p:cNvPr id="59" name="Text 52"/>
          <p:cNvSpPr/>
          <p:nvPr/>
        </p:nvSpPr>
        <p:spPr>
          <a:xfrm>
            <a:off x="8394192" y="55869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endParaRPr lang="en-US" sz="1250" dirty="0"/>
          </a:p>
        </p:txBody>
      </p:sp>
      <p:sp>
        <p:nvSpPr>
          <p:cNvPr id="60" name="Text 53"/>
          <p:cNvSpPr/>
          <p:nvPr/>
        </p:nvSpPr>
        <p:spPr>
          <a:xfrm>
            <a:off x="8394192" y="59710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4件</a:t>
            </a:r>
            <a:r>
              <a:rPr lang="en-US" sz="11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6.6%</a:t>
            </a:r>
            <a:endParaRPr lang="en-US" sz="1700" dirty="0"/>
          </a:p>
        </p:txBody>
      </p:sp>
      <p:sp>
        <p:nvSpPr>
          <p:cNvPr id="61" name="Shape 54"/>
          <p:cNvSpPr/>
          <p:nvPr/>
        </p:nvSpPr>
        <p:spPr>
          <a:xfrm>
            <a:off x="8394192" y="6483096"/>
            <a:ext cx="3200400" cy="64008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2" name="Shape 55"/>
          <p:cNvSpPr/>
          <p:nvPr/>
        </p:nvSpPr>
        <p:spPr>
          <a:xfrm>
            <a:off x="8394192" y="6483096"/>
            <a:ext cx="1828800" cy="64008"/>
          </a:xfrm>
          <a:prstGeom prst="rect">
            <a:avLst/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329184"/>
          </a:xfrm>
          <a:prstGeom prst="rect">
            <a:avLst/>
          </a:prstGeom>
          <a:solidFill>
            <a:srgbClr val="0076A9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30352" y="14630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客訴機台類型與高頻站點分析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9326880" y="164592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060E9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9326880" y="1645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第34週（08/17 ~ 08/23）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55549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7" name="Image 0" descr="D:\info\0507_Weekly-Report\Operations-Weekly-Report\automation\icons\recycle_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06984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0704" y="10241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收瓶機 ／ 方舟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091940" y="10698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7"/>
          <p:cNvSpPr/>
          <p:nvPr/>
        </p:nvSpPr>
        <p:spPr>
          <a:xfrm>
            <a:off x="4091940" y="1069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42件 (87.5%)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5216" y="155448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694944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43000" y="160934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滿艙問題（回收箱／寶特瓶）</a:t>
            </a:r>
            <a:r>
              <a:rPr lang="en-US" sz="14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38.1% (16件)</a:t>
            </a:r>
            <a:endParaRPr lang="en-US" sz="1600" dirty="0"/>
          </a:p>
        </p:txBody>
      </p:sp>
      <p:pic>
        <p:nvPicPr>
          <p:cNvPr id="14" name="Image 1" descr="D:\info\0507_Weekly-Report\Operations-Weekly-Report\automation\icons\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103120"/>
            <a:ext cx="137160" cy="1371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205740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最高回報站點：A桃園</a:t>
            </a: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/全聯福利中心大溪員林店站（2件）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85216" y="271272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3"/>
          <p:cNvSpPr/>
          <p:nvPr/>
        </p:nvSpPr>
        <p:spPr>
          <a:xfrm>
            <a:off x="694944" y="2813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143000" y="276758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其他建議</a:t>
            </a:r>
            <a:r>
              <a:rPr lang="en-US" sz="14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11.9% (5件)</a:t>
            </a:r>
            <a:endParaRPr lang="en-US" sz="1600" dirty="0"/>
          </a:p>
        </p:txBody>
      </p:sp>
      <p:pic>
        <p:nvPicPr>
          <p:cNvPr id="19" name="Image 2" descr="D:\info\0507_Weekly-Report\Operations-Weekly-Report\automation\icons\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261360"/>
            <a:ext cx="137160" cy="1371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25880" y="321564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最高回報站點：B臺南</a:t>
            </a: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/全聯福利中心仁德德安店站（2件）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85216" y="387096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17"/>
          <p:cNvSpPr/>
          <p:nvPr/>
        </p:nvSpPr>
        <p:spPr>
          <a:xfrm>
            <a:off x="694944" y="3971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143000" y="392582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r>
              <a:rPr lang="en-US" sz="14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7.1% (3件)</a:t>
            </a:r>
            <a:endParaRPr lang="en-US" sz="1600" dirty="0"/>
          </a:p>
        </p:txBody>
      </p:sp>
      <p:pic>
        <p:nvPicPr>
          <p:cNvPr id="24" name="Image 3" descr="D:\info\0507_Weekly-Report\Operations-Weekly-Report\automation\icons\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419600"/>
            <a:ext cx="137160" cy="1371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25880" y="437388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最高回報站點：A桃園</a:t>
            </a: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/全聯福利中心平鎮新富店站（1件）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240780" y="868680"/>
            <a:ext cx="5554980" cy="4160520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  <a:effectLst>
            <a:outerShdw blurRad="762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27" name="Image 4" descr="D:\info\0507_Weekly-Report\Operations-Weekly-Report\automation\icons\battery_oran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2" y="1069848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35724" y="10241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二代電池機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9966960" y="106984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FFCE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3"/>
          <p:cNvSpPr/>
          <p:nvPr/>
        </p:nvSpPr>
        <p:spPr>
          <a:xfrm>
            <a:off x="9966960" y="10698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6件 (12.5%)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6460236" y="155448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25"/>
          <p:cNvSpPr/>
          <p:nvPr/>
        </p:nvSpPr>
        <p:spPr>
          <a:xfrm>
            <a:off x="6569964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7018020" y="160934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辨識失敗異常或錯誤</a:t>
            </a:r>
            <a:r>
              <a:rPr lang="en-US" sz="1400" b="1" dirty="0">
                <a:solidFill>
                  <a:srgbClr val="FF5000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33.3% (2件)</a:t>
            </a:r>
            <a:endParaRPr lang="en-US" sz="1600" dirty="0"/>
          </a:p>
        </p:txBody>
      </p:sp>
      <p:pic>
        <p:nvPicPr>
          <p:cNvPr id="34" name="Image 5" descr="D:\info\0507_Weekly-Report\Operations-Weekly-Report\automation\icons\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2103120"/>
            <a:ext cx="137160" cy="1371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7200900" y="205740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最高回報站點：C臺南</a:t>
            </a: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/全家台南萬年店站（2件）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6460236" y="271272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29"/>
          <p:cNvSpPr/>
          <p:nvPr/>
        </p:nvSpPr>
        <p:spPr>
          <a:xfrm>
            <a:off x="6569964" y="2813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2</a:t>
            </a:r>
            <a:endParaRPr lang="en-US" sz="1800" dirty="0"/>
          </a:p>
        </p:txBody>
      </p:sp>
      <p:sp>
        <p:nvSpPr>
          <p:cNvPr id="38" name="Text 30"/>
          <p:cNvSpPr/>
          <p:nvPr/>
        </p:nvSpPr>
        <p:spPr>
          <a:xfrm>
            <a:off x="7018020" y="276758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點數未入帳號</a:t>
            </a:r>
            <a:r>
              <a:rPr lang="en-US" sz="1400" b="1" dirty="0">
                <a:solidFill>
                  <a:srgbClr val="060E9F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16.7% (1件)</a:t>
            </a:r>
            <a:endParaRPr lang="en-US" sz="1600" dirty="0"/>
          </a:p>
        </p:txBody>
      </p:sp>
      <p:pic>
        <p:nvPicPr>
          <p:cNvPr id="39" name="Image 6" descr="D:\info\0507_Weekly-Report\Operations-Weekly-Report\automation\icons\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3261360"/>
            <a:ext cx="137160" cy="13716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7200900" y="321564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最高回報站點：B臺中</a:t>
            </a: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/全聯福利中心台中中平店站（1件）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6460236" y="3870960"/>
            <a:ext cx="5116068" cy="1057656"/>
          </a:xfrm>
          <a:prstGeom prst="roundRect">
            <a:avLst>
              <a:gd name="adj" fmla="val 5187"/>
            </a:avLst>
          </a:prstGeom>
          <a:solidFill>
            <a:srgbClr val="F8F9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33"/>
          <p:cNvSpPr/>
          <p:nvPr/>
        </p:nvSpPr>
        <p:spPr>
          <a:xfrm>
            <a:off x="6569964" y="3971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3</a:t>
            </a:r>
            <a:endParaRPr lang="en-US" sz="1800" dirty="0"/>
          </a:p>
        </p:txBody>
      </p:sp>
      <p:sp>
        <p:nvSpPr>
          <p:cNvPr id="43" name="Text 34"/>
          <p:cNvSpPr/>
          <p:nvPr/>
        </p:nvSpPr>
        <p:spPr>
          <a:xfrm>
            <a:off x="7018020" y="3925824"/>
            <a:ext cx="4503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螢幕異常顯示/畫面異常</a:t>
            </a:r>
            <a:r>
              <a:rPr lang="en-US" sz="140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　合計 16.7% (1件)</a:t>
            </a:r>
            <a:endParaRPr lang="en-US" sz="1600" dirty="0"/>
          </a:p>
        </p:txBody>
      </p:sp>
      <p:pic>
        <p:nvPicPr>
          <p:cNvPr id="44" name="Image 7" descr="D:\info\0507_Weekly-Report\Operations-Weekly-Report\automation\icons\pin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4419600"/>
            <a:ext cx="137160" cy="137160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200900" y="4373880"/>
            <a:ext cx="4320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最高回報站點：B高雄</a:t>
            </a:r>
            <a:r>
              <a:rPr lang="en-US" sz="105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/億進寢具鳳屏店站（1件）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365760" y="5257800"/>
            <a:ext cx="11430000" cy="777240"/>
          </a:xfrm>
          <a:prstGeom prst="roundRect">
            <a:avLst>
              <a:gd name="adj" fmla="val 9412"/>
            </a:avLst>
          </a:prstGeom>
          <a:solidFill>
            <a:srgbClr val="FAE0B8"/>
          </a:solidFill>
          <a:ln w="15875">
            <a:solidFill>
              <a:srgbClr val="FFCE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pic>
        <p:nvPicPr>
          <p:cNvPr id="47" name="Image 8" descr="D:\info\0507_Weekly-Report\Operations-Weekly-Report\automation\icons\war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5477256"/>
            <a:ext cx="310896" cy="31089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1005840" y="5349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4800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【本週融合洞察】收瓶機客訴集中於「滿艙與登入異常」，其中「機台操作畫面無法登入」逾7成集中於 臺中/全聯福利中心台中大昌店站（1件），建議優先派工檢修；電池機客訴則高度集中於「點數未入帳」（33.3%），建議排查連線補發機制。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73152" cy="329184"/>
          </a:xfrm>
          <a:prstGeom prst="rect">
            <a:avLst/>
          </a:prstGeom>
          <a:solidFill>
            <a:srgbClr val="FF500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30352" y="14630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33333"/>
                </a:solidFill>
                <a:latin typeface="Noto Sans TC Black" pitchFamily="34" charset="0"/>
                <a:ea typeface="Noto Sans TC Black" pitchFamily="34" charset="-122"/>
                <a:cs typeface="Noto Sans TC Black" pitchFamily="34" charset="-120"/>
              </a:rPr>
              <a:t>月低回收量站點改善清單 Top 10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0" y="182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76A9"/>
                </a:solidFill>
                <a:latin typeface="Noto Sans TC Bold" pitchFamily="34" charset="0"/>
                <a:ea typeface="Noto Sans TC Bold" pitchFamily="34" charset="-122"/>
                <a:cs typeface="Noto Sans TC Bold" pitchFamily="34" charset="-120"/>
              </a:rPr>
              <a:t>Hive 站點回收量貢獻／排名（總 563 站）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0" y="4389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資料更新日期：2026/08/25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11430000" cy="426720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4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21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等級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Hive排名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（總563）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城市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站點名稱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總回收量（瓶）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MOM排名趨勢</a:t>
                      </a:r>
                      <a:endParaRPr lang="en-US" sz="11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C</a:t>
                      </a:r>
                      <a:endParaRPr lang="en-US" sz="14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555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新北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南山高中大中一樓站</a:t>
                      </a:r>
                      <a:endParaRPr lang="en-US" sz="11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362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C</a:t>
                      </a:r>
                      <a:endParaRPr lang="en-US" sz="14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553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高雄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Global Mall 環球新左營車站</a:t>
                      </a:r>
                      <a:endParaRPr lang="en-US" sz="11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734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C</a:t>
                      </a:r>
                      <a:endParaRPr lang="en-US" sz="14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552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澎湖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合橫國民小學站</a:t>
                      </a:r>
                      <a:endParaRPr lang="en-US" sz="11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788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C</a:t>
                      </a:r>
                      <a:endParaRPr lang="en-US" sz="14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551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成功大學光復第二宿舍站</a:t>
                      </a:r>
                      <a:endParaRPr lang="en-US" sz="11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863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C</a:t>
                      </a:r>
                      <a:endParaRPr lang="en-US" sz="14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547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成功大學芸青軒學生活動中心(二)站</a:t>
                      </a:r>
                      <a:endParaRPr lang="en-US" sz="11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1,136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C</a:t>
                      </a:r>
                      <a:endParaRPr lang="en-US" sz="14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546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雲林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全聯福利中心林內中正店站</a:t>
                      </a:r>
                      <a:endParaRPr lang="en-US" sz="11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1,352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C</a:t>
                      </a:r>
                      <a:endParaRPr lang="en-US" sz="14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545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高雄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特力屋大順店站</a:t>
                      </a:r>
                      <a:endParaRPr lang="en-US" sz="11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1,458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C</a:t>
                      </a:r>
                      <a:endParaRPr lang="en-US" sz="14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544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屏東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全聯福利中心屏東瑞民店站</a:t>
                      </a:r>
                      <a:endParaRPr lang="en-US" sz="11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1,461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C</a:t>
                      </a:r>
                      <a:endParaRPr lang="en-US" sz="14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543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台南歸仁測試快閃站</a:t>
                      </a:r>
                      <a:endParaRPr lang="en-US" sz="11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1,492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88888"/>
                          </a:solidFill>
                          <a:latin typeface="Noto Sans TC Black" pitchFamily="34" charset="0"/>
                          <a:ea typeface="Noto Sans TC Black" pitchFamily="34" charset="-122"/>
                          <a:cs typeface="Noto Sans TC Black" pitchFamily="34" charset="-120"/>
                        </a:rPr>
                        <a:t>C</a:t>
                      </a:r>
                      <a:endParaRPr lang="en-US" sz="1400" dirty="0">
                        <a:latin typeface="Noto Sans TC Black" charset="0"/>
                        <a:ea typeface="Noto Sans TC Black" charset="0"/>
                        <a:cs typeface="Noto Sans TC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第 542 名</a:t>
                      </a:r>
                      <a:endParaRPr lang="en-US" sz="10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臺南</a:t>
                      </a:r>
                      <a:endParaRPr lang="en-US" sz="110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成功大學學生活動中心(一)站</a:t>
                      </a:r>
                      <a:endParaRPr lang="en-US" sz="115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6A9"/>
                          </a:solidFill>
                          <a:latin typeface="Noto Sans TC Bold" pitchFamily="34" charset="0"/>
                          <a:ea typeface="Noto Sans TC Bold" pitchFamily="34" charset="-122"/>
                          <a:cs typeface="Noto Sans TC Bold" pitchFamily="34" charset="-120"/>
                        </a:rPr>
                        <a:t>1,601</a:t>
                      </a:r>
                      <a:endParaRPr lang="en-US" sz="1200" dirty="0">
                        <a:latin typeface="Noto Sans TC Bold" charset="0"/>
                        <a:ea typeface="Noto Sans TC Bold" charset="0"/>
                        <a:cs typeface="Noto Sans TC Bold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888888"/>
                          </a:solidFill>
                          <a:latin typeface="Noto Sans TC Medium" pitchFamily="34" charset="0"/>
                          <a:ea typeface="Noto Sans TC Medium" pitchFamily="34" charset="-122"/>
                          <a:cs typeface="Noto Sans TC Medium" pitchFamily="34" charset="-120"/>
                        </a:rPr>
                        <a:t>－（首次記錄）</a:t>
                      </a:r>
                      <a:endParaRPr lang="en-US" sz="950" dirty="0">
                        <a:latin typeface="Noto Sans TC Medium" charset="0"/>
                        <a:ea typeface="Noto Sans TC Medium" charset="0"/>
                        <a:cs typeface="Noto Sans TC Medium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5294376"/>
            <a:ext cx="11430000" cy="548640"/>
          </a:xfrm>
          <a:prstGeom prst="roundRect">
            <a:avLst>
              <a:gd name="adj" fmla="val 10000"/>
            </a:avLst>
          </a:prstGeom>
          <a:solidFill>
            <a:srgbClr val="F5F7FF"/>
          </a:solidFill>
          <a:ln w="9525">
            <a:solidFill>
              <a:srgbClr val="8EB9C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5"/>
          <p:cNvSpPr/>
          <p:nvPr/>
        </p:nvSpPr>
        <p:spPr>
          <a:xfrm>
            <a:off x="594360" y="529437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Noto Sans TC Medium" pitchFamily="34" charset="0"/>
                <a:ea typeface="Noto Sans TC Medium" pitchFamily="34" charset="-122"/>
                <a:cs typeface="Noto Sans TC Medium" pitchFamily="34" charset="-120"/>
              </a:rPr>
              <a:t>資料來源：Hive，站點貢獻程度以月回收量分級(最近 30 天塑膠＋鋁罐回收量) (前34%是A,中間33%是B,後面33%是C)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532</Words>
  <Application>Microsoft Office PowerPoint</Application>
  <PresentationFormat>寬螢幕</PresentationFormat>
  <Paragraphs>187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Noto Sans TC Black</vt:lpstr>
      <vt:lpstr>Noto Sans TC Bold</vt:lpstr>
      <vt:lpstr>Noto Sans TC Medium</vt:lpstr>
      <vt:lpstr>Arial</vt:lpstr>
      <vt:lpstr>Office Theme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王茗芬</cp:lastModifiedBy>
  <cp:revision>2</cp:revision>
  <dcterms:created xsi:type="dcterms:W3CDTF">2026-08-25T00:44:12Z</dcterms:created>
  <dcterms:modified xsi:type="dcterms:W3CDTF">2026-08-25T01:02:27Z</dcterms:modified>
</cp:coreProperties>
</file>