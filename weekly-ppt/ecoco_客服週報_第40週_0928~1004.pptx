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客訴總量（件）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600</c:v>
                </c:pt>
                <c:pt idx="1">
                  <c:v>880</c:v>
                </c:pt>
                <c:pt idx="2">
                  <c:v>598</c:v>
                </c:pt>
                <c:pt idx="3">
                  <c:v>678</c:v>
                </c:pt>
                <c:pt idx="4">
                  <c:v>513</c:v>
                </c:pt>
                <c:pt idx="5">
                  <c:v>602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客訴密度（件/站）</c:v>
                </c:pt>
              </c:strCache>
            </c:strRef>
          </c:tx>
          <c:spPr>
            <a:solidFill>
              <a:srgbClr val="FF5000"/>
            </a:solidFill>
            <a:ln w="31750" cap="flat">
              <a:solidFill>
                <a:srgbClr val="FF5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000"/>
              </a:solidFill>
              <a:ln w="9525" cap="flat">
                <a:solidFill>
                  <a:srgbClr val="FF5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1.07</c:v>
                </c:pt>
                <c:pt idx="1">
                  <c:v>1.57</c:v>
                </c:pt>
                <c:pt idx="2">
                  <c:v>1.07</c:v>
                </c:pt>
                <c:pt idx="3">
                  <c:v>1.21</c:v>
                </c:pt>
                <c:pt idx="4">
                  <c:v>0.92</c:v>
                </c:pt>
                <c:pt idx="5">
                  <c:v>1.07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APP帳號設定問題</c:v>
                </c:pt>
              </c:strCache>
            </c:strRef>
          </c:tx>
          <c:spPr>
            <a:solidFill>
              <a:srgbClr val="BA751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21.7</c:v>
                </c:pt>
                <c:pt idx="1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機台問題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45.4</c:v>
                </c:pt>
                <c:pt idx="1">
                  <c:v>64.6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回收點數問題</c:v>
                </c:pt>
              </c:strCache>
            </c:strRef>
          </c:tx>
          <c:spPr>
            <a:solidFill>
              <a:srgbClr val="0076A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10.7</c:v>
                </c:pt>
                <c:pt idx="1">
                  <c:v>8.4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顧客關係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10.6</c:v>
                </c:pt>
                <c:pt idx="1">
                  <c:v>14.2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優惠券問題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6.3</c:v>
                </c:pt>
                <c:pt idx="1">
                  <c:v>6.2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APP使用問題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26年Q2</c:v>
                  </c:pt>
                  <c:pt idx="1">
                    <c:v>26年Q3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5.2</c:v>
                </c:pt>
                <c:pt idx="1">
                  <c:v>4.5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Noto Sans TC Bold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8888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88888"/>
                    </a:solidFill>
                    <a:latin typeface="Arial"/>
                  </a:rPr>
                  <a:t>客訴佔比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image" Target="../media/image-2-2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1.png"/><Relationship Id="rId5" Type="http://schemas.openxmlformats.org/officeDocument/2006/relationships/image" Target="../media/image-3-3.png"/><Relationship Id="rId6" Type="http://schemas.openxmlformats.org/officeDocument/2006/relationships/image" Target="../media/image-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326880" y="47548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0" y="475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第40週（09/28 ~ 10/04）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(第40週)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188" y="11978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206 </a:t>
            </a:r>
            <a:pPr indent="0" marL="0">
              <a:buNone/>
            </a:pP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(147件) 增加 59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12" name="Text 9"/>
          <p:cNvSpPr/>
          <p:nvPr/>
        </p:nvSpPr>
        <p:spPr>
          <a:xfrm>
            <a:off x="215341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▲40.1%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898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15" name="Text 12"/>
          <p:cNvSpPr/>
          <p:nvPr/>
        </p:nvSpPr>
        <p:spPr>
          <a:xfrm>
            <a:off x="345186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119786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機台當機/無回應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18.4%（共 38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0" name="Text 16"/>
          <p:cNvSpPr/>
          <p:nvPr/>
        </p:nvSpPr>
        <p:spPr>
          <a:xfrm>
            <a:off x="505663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▲2.1%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23" name="Text 19"/>
          <p:cNvSpPr/>
          <p:nvPr/>
        </p:nvSpPr>
        <p:spPr>
          <a:xfrm>
            <a:off x="635508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119786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愛買三重店方舟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新北市（本週 20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8" name="Text 23"/>
          <p:cNvSpPr/>
          <p:nvPr/>
        </p:nvSpPr>
        <p:spPr>
          <a:xfrm>
            <a:off x="795985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▲18件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07542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1" name="Text 26"/>
          <p:cNvSpPr/>
          <p:nvPr/>
        </p:nvSpPr>
        <p:spPr>
          <a:xfrm>
            <a:off x="925830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1197864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30.6</a:t>
            </a:r>
            <a:pPr indent="0" marL="0">
              <a:buNone/>
            </a:pP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代表案例類型：更換帳號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36" name="Text 30"/>
          <p:cNvSpPr/>
          <p:nvPr/>
        </p:nvSpPr>
        <p:spPr>
          <a:xfrm>
            <a:off x="1086307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▲2.7%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69748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Text 32"/>
          <p:cNvSpPr/>
          <p:nvPr/>
        </p:nvSpPr>
        <p:spPr>
          <a:xfrm>
            <a:off x="502920" y="2670048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44952"/>
          <a:ext cx="7132320" cy="3675888"/>
        </p:xfrm>
        <a:graphic>
          <a:graphicData uri="http://schemas.openxmlformats.org/drawingml/2006/table">
            <a:tbl>
              <a:tblPr/>
              <a:tblGrid>
                <a:gridCol w="1024128"/>
                <a:gridCol w="868680"/>
                <a:gridCol w="868680"/>
                <a:gridCol w="868680"/>
                <a:gridCol w="868680"/>
                <a:gridCol w="868680"/>
                <a:gridCol w="868680"/>
                <a:gridCol w="905256"/>
              </a:tblGrid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第37週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95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第38週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131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第39週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第40週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▲37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▲59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69748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1" name="Text 34"/>
          <p:cNvSpPr/>
          <p:nvPr/>
        </p:nvSpPr>
        <p:spPr>
          <a:xfrm>
            <a:off x="7909560" y="26700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3044952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772400" y="3044952"/>
            <a:ext cx="54864" cy="1133856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4" name="Text 37"/>
          <p:cNvSpPr/>
          <p:nvPr/>
        </p:nvSpPr>
        <p:spPr>
          <a:xfrm>
            <a:off x="7918704" y="3154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3136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12件</a:t>
            </a:r>
            <a:pPr indent="0" marL="0">
              <a:buNone/>
            </a:pP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5.8%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97764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1"/>
          <p:cNvSpPr/>
          <p:nvPr/>
        </p:nvSpPr>
        <p:spPr>
          <a:xfrm>
            <a:off x="8394192" y="397764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9" name="Shape 42"/>
          <p:cNvSpPr/>
          <p:nvPr/>
        </p:nvSpPr>
        <p:spPr>
          <a:xfrm>
            <a:off x="7772400" y="4315968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7772400" y="4315968"/>
            <a:ext cx="54864" cy="1133856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1" name="Text 44"/>
          <p:cNvSpPr/>
          <p:nvPr/>
        </p:nvSpPr>
        <p:spPr>
          <a:xfrm>
            <a:off x="7918704" y="44256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其他建議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791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9件</a:t>
            </a:r>
            <a:pPr indent="0" marL="0">
              <a:buNone/>
            </a:pP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4.4%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24865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5" name="Shape 48"/>
          <p:cNvSpPr/>
          <p:nvPr/>
        </p:nvSpPr>
        <p:spPr>
          <a:xfrm>
            <a:off x="8394192" y="5248656"/>
            <a:ext cx="2400300" cy="64008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6" name="Shape 49"/>
          <p:cNvSpPr/>
          <p:nvPr/>
        </p:nvSpPr>
        <p:spPr>
          <a:xfrm>
            <a:off x="7772400" y="5586984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772400" y="5586984"/>
            <a:ext cx="54864" cy="1133856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58" name="Text 51"/>
          <p:cNvSpPr/>
          <p:nvPr/>
        </p:nvSpPr>
        <p:spPr>
          <a:xfrm>
            <a:off x="7918704" y="569671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678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使用規則/限制條件說明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6062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6件</a:t>
            </a:r>
            <a:pPr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2.9%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519672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2" name="Shape 55"/>
          <p:cNvSpPr/>
          <p:nvPr/>
        </p:nvSpPr>
        <p:spPr>
          <a:xfrm>
            <a:off x="8394192" y="6519672"/>
            <a:ext cx="1600200" cy="64008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第40週（09/28 ~ 10/04）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7" name="Image 0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160件 (93.6%)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24.4% (39件)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最高回報站點：F｜臺北/全聯福利中心南港忠孝東店站（2件）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機台當機/無回應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23.8% (38件)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最高回報站點：ARK｜新北/愛買三重店方舟站（15件）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機台需維護/故障提醒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15.6% (25件)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最高回報站點：ARK｜新北/愛買三重店方舟站（3件）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27" name="Image 4" descr="D:\info\0507_Weekly-Report\Operations-Weekly-Report\automation\icons\battery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11件 (6.4%)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機台需維護/故障提醒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27.3% (3件)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最高回報站點：S｜新北/小北百貨新北雨農店站（1件）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6023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7" name="Text 29"/>
          <p:cNvSpPr/>
          <p:nvPr/>
        </p:nvSpPr>
        <p:spPr>
          <a:xfrm>
            <a:off x="656996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701802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機台操作畫面無法登入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18.2% (2件)</a:t>
            </a:r>
            <a:endParaRPr lang="en-US" sz="1600" dirty="0"/>
          </a:p>
        </p:txBody>
      </p:sp>
      <p:pic>
        <p:nvPicPr>
          <p:cNvPr id="39" name="Image 6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020" y="3261360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20090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最高回報站點：B｜高雄/小北百貨高雄惠民店站（1件）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6023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42" name="Text 33"/>
          <p:cNvSpPr/>
          <p:nvPr/>
        </p:nvSpPr>
        <p:spPr>
          <a:xfrm>
            <a:off x="656996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34"/>
          <p:cNvSpPr/>
          <p:nvPr/>
        </p:nvSpPr>
        <p:spPr>
          <a:xfrm>
            <a:off x="701802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操作流程異常/無法正常操作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18.2% (2件)</a:t>
            </a:r>
            <a:endParaRPr lang="en-US" sz="1600" dirty="0"/>
          </a:p>
        </p:txBody>
      </p:sp>
      <p:pic>
        <p:nvPicPr>
          <p:cNvPr id="44" name="Image 7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4419600"/>
            <a:ext cx="137160" cy="1371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0090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最高回報站點：C｜新北/全聯福利中心三重集美店站（1件）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</p:sp>
      <p:pic>
        <p:nvPicPr>
          <p:cNvPr id="47" name="Image 8" descr="D:\info\0507_Weekly-Report\Operations-Weekly-Report\automation\icons\war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【本週融合洞察】收瓶機客訴集中於「滿艙問題（回收箱／寶特瓶）」（24.4%，39件），最高回報站點為 F｜臺北/全聯福利中心南港忠孝東店站（2件），建議優先派工檢修；電池機客訴則集中於「機台需維護/故障提醒」（27.3%，3件），建議持續追蹤。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資料更新日期：2026/10/05（區間2026/09/05-10/05）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914400"/>
                <a:gridCol w="2423160"/>
                <a:gridCol w="1371600"/>
                <a:gridCol w="155448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（總566）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縣市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機型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租賃/買斷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近30日合計（瓶）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月增減率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531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衛生福利部雙和醫院第一醫療大樓站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臺北醫學大學雙和校區站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530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台南市環保局站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529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合橫國民小學站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Global Mall 環球南港車站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528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全聯福利中心大寮三隆店站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527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澎湖車船處交通船馬公候船室站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花蓮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花蓮縣環境保護局站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Global Mall 環球新左營車站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532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臺中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全聯福利中心台中大昌店站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66460" y="12984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66460" y="1298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0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9" name="Image 0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353312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7808" y="1298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66460" y="16824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66460" y="1682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0" y="168249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14" name="Image 1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1737360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07808" y="16824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966460" y="206654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966460" y="2066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0" y="20665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19" name="Image 2" descr="D:\info\0507_Weekly-Report\Operations-Weekly-Report\automation\icons\coin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121408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07808" y="20665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買斷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966460" y="245059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966460" y="2450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966460" y="2834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96646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315200" y="28346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26" name="Image 3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889504"/>
            <a:ext cx="146304" cy="1463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07808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96646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96646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966460" y="36027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96646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966460" y="39867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966460" y="3986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315200" y="398678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35" name="Image 4" descr="D:\info\0507_Weekly-Report\Operations-Weekly-Report\automation\icons\coins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4041648"/>
            <a:ext cx="146304" cy="14630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607808" y="3986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買斷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5966460" y="43708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966460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7315200" y="437083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40" name="Image 5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4425696"/>
            <a:ext cx="146304" cy="14630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607808" y="4370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5966460" y="47548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966460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365760" y="5276088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594360" y="53492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詳細計分標準與說明，請參閱Hive平台 (以下為簡述)</a:t>
            </a:r>
            <a:endParaRPr lang="en-US" sz="950" dirty="0"/>
          </a:p>
        </p:txBody>
      </p:sp>
      <p:sp>
        <p:nvSpPr>
          <p:cNvPr id="46" name="Text 37"/>
          <p:cNvSpPr/>
          <p:nvPr/>
        </p:nvSpPr>
        <p:spPr>
          <a:xfrm>
            <a:off x="594360" y="5596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等級+加分/瓶量：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594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9525">
            <a:solidFill>
              <a:srgbClr val="FF5000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594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S+18</a:t>
            </a:r>
            <a:endParaRPr lang="en-US" sz="850" dirty="0"/>
          </a:p>
        </p:txBody>
      </p:sp>
      <p:sp>
        <p:nvSpPr>
          <p:cNvPr id="49" name="Text 40"/>
          <p:cNvSpPr/>
          <p:nvPr/>
        </p:nvSpPr>
        <p:spPr>
          <a:xfrm>
            <a:off x="1133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17,000瓶以上</a:t>
            </a:r>
            <a:endParaRPr lang="en-US" sz="700" dirty="0"/>
          </a:p>
        </p:txBody>
      </p:sp>
      <p:sp>
        <p:nvSpPr>
          <p:cNvPr id="50" name="Shape 41"/>
          <p:cNvSpPr/>
          <p:nvPr/>
        </p:nvSpPr>
        <p:spPr>
          <a:xfrm>
            <a:off x="1965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9525">
            <a:solidFill>
              <a:srgbClr val="0076A9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1965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A+12</a:t>
            </a:r>
            <a:endParaRPr lang="en-US" sz="850" dirty="0"/>
          </a:p>
        </p:txBody>
      </p:sp>
      <p:sp>
        <p:nvSpPr>
          <p:cNvPr id="52" name="Text 43"/>
          <p:cNvSpPr/>
          <p:nvPr/>
        </p:nvSpPr>
        <p:spPr>
          <a:xfrm>
            <a:off x="2505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13,300～16,999瓶</a:t>
            </a:r>
            <a:endParaRPr lang="en-US" sz="700" dirty="0"/>
          </a:p>
        </p:txBody>
      </p:sp>
      <p:sp>
        <p:nvSpPr>
          <p:cNvPr id="53" name="Shape 44"/>
          <p:cNvSpPr/>
          <p:nvPr/>
        </p:nvSpPr>
        <p:spPr>
          <a:xfrm>
            <a:off x="3337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9525">
            <a:solidFill>
              <a:srgbClr val="060E9F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3337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B+8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3877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11,100～13,299瓶</a:t>
            </a:r>
            <a:endParaRPr lang="en-US" sz="700" dirty="0"/>
          </a:p>
        </p:txBody>
      </p:sp>
      <p:sp>
        <p:nvSpPr>
          <p:cNvPr id="56" name="Shape 47"/>
          <p:cNvSpPr/>
          <p:nvPr/>
        </p:nvSpPr>
        <p:spPr>
          <a:xfrm>
            <a:off x="47091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9525">
            <a:solidFill>
              <a:srgbClr val="4F86A0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47091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C+4</a:t>
            </a:r>
            <a:endParaRPr lang="en-US" sz="850" dirty="0"/>
          </a:p>
        </p:txBody>
      </p:sp>
      <p:sp>
        <p:nvSpPr>
          <p:cNvPr id="58" name="Text 49"/>
          <p:cNvSpPr/>
          <p:nvPr/>
        </p:nvSpPr>
        <p:spPr>
          <a:xfrm>
            <a:off x="52486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9,000～11,099瓶</a:t>
            </a:r>
            <a:endParaRPr lang="en-US" sz="700" dirty="0"/>
          </a:p>
        </p:txBody>
      </p:sp>
      <p:sp>
        <p:nvSpPr>
          <p:cNvPr id="59" name="Shape 50"/>
          <p:cNvSpPr/>
          <p:nvPr/>
        </p:nvSpPr>
        <p:spPr>
          <a:xfrm>
            <a:off x="60807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60" name="Text 51"/>
          <p:cNvSpPr/>
          <p:nvPr/>
        </p:nvSpPr>
        <p:spPr>
          <a:xfrm>
            <a:off x="60807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D+2</a:t>
            </a:r>
            <a:endParaRPr lang="en-US" sz="850" dirty="0"/>
          </a:p>
        </p:txBody>
      </p:sp>
      <p:sp>
        <p:nvSpPr>
          <p:cNvPr id="61" name="Text 52"/>
          <p:cNvSpPr/>
          <p:nvPr/>
        </p:nvSpPr>
        <p:spPr>
          <a:xfrm>
            <a:off x="66202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6,900～8,999瓶</a:t>
            </a:r>
            <a:endParaRPr lang="en-US" sz="700" dirty="0"/>
          </a:p>
        </p:txBody>
      </p:sp>
      <p:sp>
        <p:nvSpPr>
          <p:cNvPr id="62" name="Shape 53"/>
          <p:cNvSpPr/>
          <p:nvPr/>
        </p:nvSpPr>
        <p:spPr>
          <a:xfrm>
            <a:off x="7452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7452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E+1</a:t>
            </a:r>
            <a:endParaRPr lang="en-US" sz="850" dirty="0"/>
          </a:p>
        </p:txBody>
      </p:sp>
      <p:sp>
        <p:nvSpPr>
          <p:cNvPr id="64" name="Text 55"/>
          <p:cNvSpPr/>
          <p:nvPr/>
        </p:nvSpPr>
        <p:spPr>
          <a:xfrm>
            <a:off x="7991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4,100～6,899瓶</a:t>
            </a:r>
            <a:endParaRPr lang="en-US" sz="700" dirty="0"/>
          </a:p>
        </p:txBody>
      </p:sp>
      <p:sp>
        <p:nvSpPr>
          <p:cNvPr id="65" name="Shape 56"/>
          <p:cNvSpPr/>
          <p:nvPr/>
        </p:nvSpPr>
        <p:spPr>
          <a:xfrm>
            <a:off x="8823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8823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F+0</a:t>
            </a:r>
            <a:endParaRPr lang="en-US" sz="850" dirty="0"/>
          </a:p>
        </p:txBody>
      </p:sp>
      <p:sp>
        <p:nvSpPr>
          <p:cNvPr id="67" name="Text 58"/>
          <p:cNvSpPr/>
          <p:nvPr/>
        </p:nvSpPr>
        <p:spPr>
          <a:xfrm>
            <a:off x="9363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4,100瓶以下</a:t>
            </a:r>
            <a:endParaRPr lang="en-US" sz="700" dirty="0"/>
          </a:p>
        </p:txBody>
      </p:sp>
      <p:sp>
        <p:nvSpPr>
          <p:cNvPr id="68" name="Shape 59"/>
          <p:cNvSpPr/>
          <p:nvPr/>
        </p:nvSpPr>
        <p:spPr>
          <a:xfrm>
            <a:off x="10195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9C7A00">
              <a:alpha val="15000"/>
            </a:srgbClr>
          </a:solidFill>
          <a:ln w="9525">
            <a:solidFill>
              <a:srgbClr val="9C7A00"/>
            </a:solidFill>
            <a:prstDash val="solid"/>
          </a:ln>
        </p:spPr>
      </p:sp>
      <p:sp>
        <p:nvSpPr>
          <p:cNvPr id="69" name="Text 60"/>
          <p:cNvSpPr/>
          <p:nvPr/>
        </p:nvSpPr>
        <p:spPr>
          <a:xfrm>
            <a:off x="10195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ARK+8</a:t>
            </a:r>
            <a:endParaRPr lang="en-US" sz="850" dirty="0"/>
          </a:p>
        </p:txBody>
      </p:sp>
      <p:sp>
        <p:nvSpPr>
          <p:cNvPr id="70" name="Text 61"/>
          <p:cNvSpPr/>
          <p:nvPr/>
        </p:nvSpPr>
        <p:spPr>
          <a:xfrm>
            <a:off x="10735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3台有效收瓶機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73152" cy="310896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2801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客訴趨勢洞察（MoM／QoQ）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326880" y="146304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46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第40週（09/28 ~ 10/04）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本月客訴總量（26年9月）</a:t>
            </a:r>
            <a:endParaRPr lang="en-US" sz="1100" dirty="0"/>
          </a:p>
        </p:txBody>
      </p:sp>
      <p:pic>
        <p:nvPicPr>
          <p:cNvPr id="9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764" y="77724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602 </a:t>
            </a:r>
            <a:pPr indent="0" marL="0">
              <a:buNone/>
            </a:pPr>
            <a:r>
              <a:rPr lang="en-US" sz="12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4864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較上月（513件）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8998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13" name="Text 10"/>
          <p:cNvSpPr/>
          <p:nvPr/>
        </p:nvSpPr>
        <p:spPr>
          <a:xfrm>
            <a:off x="218998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▲17.3%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6898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6898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16" name="Text 13"/>
          <p:cNvSpPr/>
          <p:nvPr/>
        </p:nvSpPr>
        <p:spPr>
          <a:xfrm>
            <a:off x="345186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客訴密度指標（件/站）</a:t>
            </a:r>
            <a:endParaRPr lang="en-US" sz="1100" dirty="0"/>
          </a:p>
        </p:txBody>
      </p:sp>
      <p:pic>
        <p:nvPicPr>
          <p:cNvPr id="17" name="Image 1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77724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186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1.07 </a:t>
            </a:r>
            <a:pPr indent="0" marL="0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件/站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345186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每站平均客訴量，暫代萬人客訴率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9320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1" name="Text 17"/>
          <p:cNvSpPr/>
          <p:nvPr/>
        </p:nvSpPr>
        <p:spPr>
          <a:xfrm>
            <a:off x="509320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▲16.3%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7220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24" name="Text 20"/>
          <p:cNvSpPr/>
          <p:nvPr/>
        </p:nvSpPr>
        <p:spPr>
          <a:xfrm>
            <a:off x="635508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本季客訴總量（26年Q3）</a:t>
            </a:r>
            <a:endParaRPr lang="en-US" sz="1100" dirty="0"/>
          </a:p>
        </p:txBody>
      </p:sp>
      <p:pic>
        <p:nvPicPr>
          <p:cNvPr id="25" name="Image 2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77724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1793 </a:t>
            </a:r>
            <a:pPr indent="0" marL="0">
              <a:buNone/>
            </a:pPr>
            <a:r>
              <a:rPr lang="en-US" sz="12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27" name="Text 22"/>
          <p:cNvSpPr/>
          <p:nvPr/>
        </p:nvSpPr>
        <p:spPr>
          <a:xfrm>
            <a:off x="635508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較上季（2078件）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99642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</p:sp>
      <p:sp>
        <p:nvSpPr>
          <p:cNvPr id="29" name="Text 24"/>
          <p:cNvSpPr/>
          <p:nvPr/>
        </p:nvSpPr>
        <p:spPr>
          <a:xfrm>
            <a:off x="799642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▼13.7%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07542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07542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2" name="Text 27"/>
          <p:cNvSpPr/>
          <p:nvPr/>
        </p:nvSpPr>
        <p:spPr>
          <a:xfrm>
            <a:off x="925830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機台問題佔比（26年Q3）</a:t>
            </a:r>
            <a:endParaRPr lang="en-US" sz="1100" dirty="0"/>
          </a:p>
        </p:txBody>
      </p:sp>
      <p:pic>
        <p:nvPicPr>
          <p:cNvPr id="33" name="Image 3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424" y="777240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5830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64.6</a:t>
            </a:r>
            <a:pPr indent="0" marL="0">
              <a:buNone/>
            </a:pPr>
            <a:r>
              <a:rPr lang="en-US" sz="12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500" dirty="0"/>
          </a:p>
        </p:txBody>
      </p:sp>
      <p:sp>
        <p:nvSpPr>
          <p:cNvPr id="35" name="Text 29"/>
          <p:cNvSpPr/>
          <p:nvPr/>
        </p:nvSpPr>
        <p:spPr>
          <a:xfrm>
            <a:off x="925830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較上季佔比變化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1089964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</p:sp>
      <p:sp>
        <p:nvSpPr>
          <p:cNvPr id="37" name="Text 31"/>
          <p:cNvSpPr/>
          <p:nvPr/>
        </p:nvSpPr>
        <p:spPr>
          <a:xfrm>
            <a:off x="1089964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▲19.2%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3657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9" name="Text 33"/>
          <p:cNvSpPr/>
          <p:nvPr/>
        </p:nvSpPr>
        <p:spPr>
          <a:xfrm>
            <a:off x="502920" y="204825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總客訴量與客訴密度趨勢圖（MoM，近6個月）</a:t>
            </a:r>
            <a:endParaRPr lang="en-US" sz="13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365760" y="2423160"/>
          <a:ext cx="5212080" cy="1938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1" name="Shape 34"/>
          <p:cNvSpPr/>
          <p:nvPr/>
        </p:nvSpPr>
        <p:spPr>
          <a:xfrm>
            <a:off x="58521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2" name="Text 35"/>
          <p:cNvSpPr/>
          <p:nvPr/>
        </p:nvSpPr>
        <p:spPr>
          <a:xfrm>
            <a:off x="5989320" y="2048256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客訴主題結構比變化（QoQ）</a:t>
            </a:r>
            <a:endParaRPr lang="en-US" sz="1300" dirty="0"/>
          </a:p>
        </p:txBody>
      </p:sp>
      <p:graphicFrame>
        <p:nvGraphicFramePr>
          <p:cNvPr id="43" name="Chart 1" descr=""/>
          <p:cNvGraphicFramePr/>
          <p:nvPr/>
        </p:nvGraphicFramePr>
        <p:xfrm>
          <a:off x="5852160" y="2423160"/>
          <a:ext cx="5943600" cy="1938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4" name="Shape 36"/>
          <p:cNvSpPr/>
          <p:nvPr/>
        </p:nvSpPr>
        <p:spPr>
          <a:xfrm>
            <a:off x="365760" y="461772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5" name="Text 37"/>
          <p:cNvSpPr/>
          <p:nvPr/>
        </p:nvSpPr>
        <p:spPr>
          <a:xfrm>
            <a:off x="502920" y="4590288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客服觀點與改善行動建議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365760" y="4946904"/>
            <a:ext cx="11430000" cy="566928"/>
          </a:xfrm>
          <a:prstGeom prst="roundRect">
            <a:avLst>
              <a:gd name="adj" fmla="val 9677"/>
            </a:avLst>
          </a:prstGeom>
          <a:solidFill>
            <a:srgbClr val="060E9F"/>
          </a:solidFill>
          <a:ln w="9525">
            <a:solidFill>
              <a:srgbClr val="060E9F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365760" y="4946904"/>
            <a:ext cx="54864" cy="566928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8" name="Text 40"/>
          <p:cNvSpPr/>
          <p:nvPr/>
        </p:nvSpPr>
        <p:spPr>
          <a:xfrm>
            <a:off x="566928" y="5001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重點結論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2194560" y="5001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本月客訴量較上月上升 17.3%，本季較上季下降 13.7%，月度與季度方向不一致，建議留意近期變化。 本季變化最大：「APP帳號設定問題」下降 19.6 個百分點，建議優先關注。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365760" y="5632704"/>
            <a:ext cx="11430000" cy="530352"/>
          </a:xfrm>
          <a:prstGeom prst="roundRect">
            <a:avLst>
              <a:gd name="adj" fmla="val 10345"/>
            </a:avLst>
          </a:prstGeom>
          <a:solidFill>
            <a:srgbClr val="FFF4EF"/>
          </a:solidFill>
          <a:ln w="9525">
            <a:solidFill>
              <a:srgbClr val="FF500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365760" y="5632704"/>
            <a:ext cx="54864" cy="53035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52" name="Text 44"/>
          <p:cNvSpPr/>
          <p:nvPr/>
        </p:nvSpPr>
        <p:spPr>
          <a:xfrm>
            <a:off x="566928" y="56875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本季結構變化重點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2194560" y="56875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本季「APP帳號設定問題」佔比較上季下降 19.6 個百分點（21.7% → 2.1%），為本季結構變化最大的問題類型，改善成效可留意是否延續。（資料累積中，須滿一年以上同季比較才能判斷是否為季節性規律）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2026-10-05T03:00:06Z</dcterms:created>
  <dcterms:modified xsi:type="dcterms:W3CDTF">2026-10-05T03:00:06Z</dcterms:modified>
</cp:coreProperties>
</file>