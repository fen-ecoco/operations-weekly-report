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佔比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>
              <a:noneShdw sx="100000" sy="100000" kx="0" ky="0" algn="bl" blurRad="38100" rotWithShape="1" dist="23000" dir="5400000">
                <a:srgbClr val="000000">
                  <a:alpha val="35000"/>
                </a:srgbClr>
              </a:noneShdw>
            </a:effectLst>
          </c:spPr>
          <c:dPt>
            <c:idx val="0"/>
            <c:bubble3D val="0"/>
            <c:spPr>
              <a:solidFill>
                <a:srgbClr val="060E9F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1"/>
            <c:bubble3D val="0"/>
            <c:spPr>
              <a:solidFill>
                <a:srgbClr val="FF50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2"/>
            <c:bubble3D val="0"/>
            <c:spPr>
              <a:solidFill>
                <a:srgbClr val="0076A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3"/>
            <c:bubble3D val="0"/>
            <c:spPr>
              <a:solidFill>
                <a:srgbClr val="FFCE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4"/>
            <c:bubble3D val="0"/>
            <c:spPr>
              <a:solidFill>
                <a:srgbClr val="8EB8C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5"/>
            <c:bubble3D val="0"/>
            <c:spPr>
              <a:solidFill>
                <a:srgbClr val="FAE0B8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APP帳號設定問題</c:v>
                </c:pt>
                <c:pt idx="1">
                  <c:v>機台問題</c:v>
                </c:pt>
                <c:pt idx="2">
                  <c:v>回收點數問題</c:v>
                </c:pt>
                <c:pt idx="3">
                  <c:v>顧客關係</c:v>
                </c:pt>
                <c:pt idx="4">
                  <c:v>優惠券問題</c:v>
                </c:pt>
                <c:pt idx="5">
                  <c:v>APP使用問題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3</c:v>
                </c:pt>
                <c:pt idx="1">
                  <c:v>53</c:v>
                </c:pt>
                <c:pt idx="2">
                  <c:v>8</c:v>
                </c:pt>
                <c:pt idx="3">
                  <c:v>12</c:v>
                </c:pt>
                <c:pt idx="4">
                  <c:v>10</c:v>
                </c:pt>
                <c:pt idx="5">
                  <c:v>7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機台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>
              <a:noneShdw sx="100000" sy="100000" kx="0" ky="0" algn="bl" blurRad="38100" rotWithShape="1" dist="23000" dir="5400000">
                <a:srgbClr val="000000">
                  <a:alpha val="35000"/>
                </a:srgbClr>
              </a:noneShdw>
            </a:effectLst>
          </c:spPr>
          <c:dPt>
            <c:idx val="0"/>
            <c:bubble3D val="0"/>
            <c:spPr>
              <a:solidFill>
                <a:srgbClr val="FF50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1"/>
            <c:bubble3D val="0"/>
            <c:spPr>
              <a:solidFill>
                <a:srgbClr val="060E9F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2"/>
            <c:bubble3D val="0"/>
            <c:spPr>
              <a:solidFill>
                <a:srgbClr val="0076A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3"/>
            <c:bubble3D val="0"/>
            <c:spPr>
              <a:solidFill>
                <a:srgbClr val="FFCE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4"/>
            <c:bubble3D val="0"/>
            <c:spPr>
              <a:solidFill>
                <a:srgbClr val="8EB8C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5"/>
            <c:bubble3D val="0"/>
            <c:spPr>
              <a:solidFill>
                <a:srgbClr val="B8BEC8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瓶蓋桶已滿</c:v>
                </c:pt>
                <c:pt idx="1">
                  <c:v>辨識失敗異常或錯誤</c:v>
                </c:pt>
                <c:pt idx="2">
                  <c:v>機台需維護/故障提醒</c:v>
                </c:pt>
                <c:pt idx="3">
                  <c:v>履帶未作動或異常抖動</c:v>
                </c:pt>
                <c:pt idx="4">
                  <c:v>螢幕異常顯示/畫面異常</c:v>
                </c:pt>
                <c:pt idx="5">
                  <c:v>其他機台問題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14</c:v>
                </c:pt>
                <c:pt idx="1">
                  <c:v>8</c:v>
                </c:pt>
                <c:pt idx="2">
                  <c:v>5</c:v>
                </c:pt>
                <c:pt idx="3">
                  <c:v>4</c:v>
                </c:pt>
                <c:pt idx="4">
                  <c:v>4</c:v>
                </c:pt>
                <c:pt idx="5">
                  <c:v>18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592" y="54864"/>
            <a:ext cx="8778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客服課　06/15 ~ 06/21　客訴問題分析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64592" y="329184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" name="Text 2"/>
          <p:cNvSpPr/>
          <p:nvPr/>
        </p:nvSpPr>
        <p:spPr>
          <a:xfrm>
            <a:off x="246888" y="338328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客訴趨勢分析</a:t>
            </a:r>
            <a:endParaRPr lang="en-US" sz="10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64592" y="548640"/>
          <a:ext cx="8814816" cy="1792224"/>
        </p:xfrm>
        <a:graphic>
          <a:graphicData uri="http://schemas.openxmlformats.org/drawingml/2006/table">
            <a:tbl>
              <a:tblPr/>
              <a:tblGrid>
                <a:gridCol w="960120"/>
                <a:gridCol w="1051560"/>
                <a:gridCol w="1005840"/>
                <a:gridCol w="1005840"/>
                <a:gridCol w="1005840"/>
                <a:gridCol w="804672"/>
                <a:gridCol w="804672"/>
                <a:gridCol w="804672"/>
                <a:gridCol w="768096"/>
              </a:tblGrid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週次/期間</a:t>
                      </a:r>
                      <a:endParaRPr lang="en-US" sz="85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收瓶機/方舟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二代電池機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註冊帳號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回收點數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優惠券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APP使用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顧客關係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加總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22週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05/25-05/31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95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123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275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23週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06/01-06/07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95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6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▲1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44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▼79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19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13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11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168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▼107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24週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06/08-06/14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89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8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11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▼33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45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▲26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7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8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18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132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▼36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25週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06/15-06/21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62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▼27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8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▼37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7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▼1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93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▼39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164592" y="2404872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7" name="Text 4"/>
          <p:cNvSpPr/>
          <p:nvPr/>
        </p:nvSpPr>
        <p:spPr>
          <a:xfrm>
            <a:off x="246888" y="2414016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當週客訴佔比 + 主分類佔比（06/15 ~ 06/21）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" y="2642616"/>
          <a:ext cx="3529584" cy="234086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3703320" y="2706624"/>
            <a:ext cx="182880" cy="18288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10" name="Text 6"/>
          <p:cNvSpPr/>
          <p:nvPr/>
        </p:nvSpPr>
        <p:spPr>
          <a:xfrm>
            <a:off x="3941064" y="267004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APP帳號設定問題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3941064" y="286207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3件　3.2%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3703320" y="3095244"/>
            <a:ext cx="182880" cy="18288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13" name="Text 9"/>
          <p:cNvSpPr/>
          <p:nvPr/>
        </p:nvSpPr>
        <p:spPr>
          <a:xfrm>
            <a:off x="3941064" y="305866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機台問題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3941064" y="325069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53件　57%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3703320" y="3483864"/>
            <a:ext cx="182880" cy="18288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16" name="Text 12"/>
          <p:cNvSpPr/>
          <p:nvPr/>
        </p:nvSpPr>
        <p:spPr>
          <a:xfrm>
            <a:off x="3941064" y="344728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回收點數問題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941064" y="363931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8件　8.6%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3703320" y="3872484"/>
            <a:ext cx="182880" cy="18288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19" name="Text 15"/>
          <p:cNvSpPr/>
          <p:nvPr/>
        </p:nvSpPr>
        <p:spPr>
          <a:xfrm>
            <a:off x="3941064" y="383590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顧客關係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3941064" y="402793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12件　12.9%</a:t>
            </a:r>
            <a:endParaRPr lang="en-US" sz="800" dirty="0"/>
          </a:p>
        </p:txBody>
      </p:sp>
      <p:sp>
        <p:nvSpPr>
          <p:cNvPr id="21" name="Shape 17"/>
          <p:cNvSpPr/>
          <p:nvPr/>
        </p:nvSpPr>
        <p:spPr>
          <a:xfrm>
            <a:off x="3703320" y="4261104"/>
            <a:ext cx="182880" cy="182880"/>
          </a:xfrm>
          <a:prstGeom prst="rect">
            <a:avLst/>
          </a:prstGeom>
          <a:solidFill>
            <a:srgbClr val="8EB8C9"/>
          </a:solidFill>
          <a:ln/>
        </p:spPr>
      </p:sp>
      <p:sp>
        <p:nvSpPr>
          <p:cNvPr id="22" name="Text 18"/>
          <p:cNvSpPr/>
          <p:nvPr/>
        </p:nvSpPr>
        <p:spPr>
          <a:xfrm>
            <a:off x="3941064" y="422452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優惠券問題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3941064" y="441655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10件　10.8%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3703320" y="4649724"/>
            <a:ext cx="182880" cy="182880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25" name="Text 21"/>
          <p:cNvSpPr/>
          <p:nvPr/>
        </p:nvSpPr>
        <p:spPr>
          <a:xfrm>
            <a:off x="3941064" y="461314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APP使用問題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3941064" y="480517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7件　7.5%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5788152" y="2642616"/>
            <a:ext cx="3264408" cy="800100"/>
          </a:xfrm>
          <a:prstGeom prst="rect">
            <a:avLst/>
          </a:prstGeom>
          <a:solidFill>
            <a:srgbClr val="FFF4E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788152" y="2642616"/>
            <a:ext cx="45720" cy="80010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29" name="Text 25"/>
          <p:cNvSpPr/>
          <p:nvPr/>
        </p:nvSpPr>
        <p:spPr>
          <a:xfrm>
            <a:off x="5879592" y="269748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6089904" y="26974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許願新增站點/設站建議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6089904" y="2916936"/>
            <a:ext cx="2212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9件・9.7%</a:t>
            </a:r>
            <a:endParaRPr lang="en-US" sz="1800" dirty="0"/>
          </a:p>
        </p:txBody>
      </p:sp>
      <p:sp>
        <p:nvSpPr>
          <p:cNvPr id="32" name="Text 28"/>
          <p:cNvSpPr/>
          <p:nvPr/>
        </p:nvSpPr>
        <p:spPr>
          <a:xfrm>
            <a:off x="8348472" y="2715768"/>
            <a:ext cx="6675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600" dirty="0"/>
          </a:p>
        </p:txBody>
      </p:sp>
      <p:sp>
        <p:nvSpPr>
          <p:cNvPr id="33" name="Shape 29"/>
          <p:cNvSpPr/>
          <p:nvPr/>
        </p:nvSpPr>
        <p:spPr>
          <a:xfrm>
            <a:off x="5833872" y="3387852"/>
            <a:ext cx="3218688" cy="457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34" name="Shape 30"/>
          <p:cNvSpPr/>
          <p:nvPr/>
        </p:nvSpPr>
        <p:spPr>
          <a:xfrm>
            <a:off x="5833872" y="3387852"/>
            <a:ext cx="312213" cy="4572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5" name="Shape 31"/>
          <p:cNvSpPr/>
          <p:nvPr/>
        </p:nvSpPr>
        <p:spPr>
          <a:xfrm>
            <a:off x="5788152" y="3465576"/>
            <a:ext cx="3264408" cy="800100"/>
          </a:xfrm>
          <a:prstGeom prst="rect">
            <a:avLst/>
          </a:prstGeom>
          <a:solidFill>
            <a:srgbClr val="EEF6FB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788152" y="3465576"/>
            <a:ext cx="45720" cy="80010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37" name="Text 33"/>
          <p:cNvSpPr/>
          <p:nvPr/>
        </p:nvSpPr>
        <p:spPr>
          <a:xfrm>
            <a:off x="5879592" y="352044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6089904" y="35204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點數未入帳號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089904" y="3739896"/>
            <a:ext cx="2212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8件・8.6%</a:t>
            </a:r>
            <a:endParaRPr lang="en-US" sz="1800" dirty="0"/>
          </a:p>
        </p:txBody>
      </p:sp>
      <p:sp>
        <p:nvSpPr>
          <p:cNvPr id="40" name="Text 36"/>
          <p:cNvSpPr/>
          <p:nvPr/>
        </p:nvSpPr>
        <p:spPr>
          <a:xfrm>
            <a:off x="8348472" y="3538728"/>
            <a:ext cx="6675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600" dirty="0"/>
          </a:p>
        </p:txBody>
      </p:sp>
      <p:sp>
        <p:nvSpPr>
          <p:cNvPr id="41" name="Shape 37"/>
          <p:cNvSpPr/>
          <p:nvPr/>
        </p:nvSpPr>
        <p:spPr>
          <a:xfrm>
            <a:off x="5833872" y="4210812"/>
            <a:ext cx="3218688" cy="457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42" name="Shape 38"/>
          <p:cNvSpPr/>
          <p:nvPr/>
        </p:nvSpPr>
        <p:spPr>
          <a:xfrm>
            <a:off x="5833872" y="4210812"/>
            <a:ext cx="276807" cy="4572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43" name="Shape 39"/>
          <p:cNvSpPr/>
          <p:nvPr/>
        </p:nvSpPr>
        <p:spPr>
          <a:xfrm>
            <a:off x="5788152" y="4288536"/>
            <a:ext cx="3264408" cy="800100"/>
          </a:xfrm>
          <a:prstGeom prst="rect">
            <a:avLst/>
          </a:prstGeom>
          <a:solidFill>
            <a:srgbClr val="F5F7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788152" y="4288536"/>
            <a:ext cx="45720" cy="80010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45" name="Text 41"/>
          <p:cNvSpPr/>
          <p:nvPr/>
        </p:nvSpPr>
        <p:spPr>
          <a:xfrm>
            <a:off x="5879592" y="434340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900" dirty="0"/>
          </a:p>
        </p:txBody>
      </p:sp>
      <p:sp>
        <p:nvSpPr>
          <p:cNvPr id="46" name="Text 42"/>
          <p:cNvSpPr/>
          <p:nvPr/>
        </p:nvSpPr>
        <p:spPr>
          <a:xfrm>
            <a:off x="6089904" y="43434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APP畫面顯示與機台狀態不符</a:t>
            </a:r>
            <a:endParaRPr lang="en-US" sz="1000" dirty="0"/>
          </a:p>
        </p:txBody>
      </p:sp>
      <p:sp>
        <p:nvSpPr>
          <p:cNvPr id="47" name="Text 43"/>
          <p:cNvSpPr/>
          <p:nvPr/>
        </p:nvSpPr>
        <p:spPr>
          <a:xfrm>
            <a:off x="6089904" y="4562856"/>
            <a:ext cx="2212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4件・4.3%</a:t>
            </a:r>
            <a:endParaRPr lang="en-US" sz="1800" dirty="0"/>
          </a:p>
        </p:txBody>
      </p:sp>
      <p:sp>
        <p:nvSpPr>
          <p:cNvPr id="48" name="Text 44"/>
          <p:cNvSpPr/>
          <p:nvPr/>
        </p:nvSpPr>
        <p:spPr>
          <a:xfrm>
            <a:off x="8348472" y="4361688"/>
            <a:ext cx="6675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600" dirty="0"/>
          </a:p>
        </p:txBody>
      </p:sp>
      <p:sp>
        <p:nvSpPr>
          <p:cNvPr id="49" name="Shape 45"/>
          <p:cNvSpPr/>
          <p:nvPr/>
        </p:nvSpPr>
        <p:spPr>
          <a:xfrm>
            <a:off x="5833872" y="5033772"/>
            <a:ext cx="3218688" cy="457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50" name="Shape 46"/>
          <p:cNvSpPr/>
          <p:nvPr/>
        </p:nvSpPr>
        <p:spPr>
          <a:xfrm>
            <a:off x="5833872" y="5033772"/>
            <a:ext cx="138404" cy="45720"/>
          </a:xfrm>
          <a:prstGeom prst="rect">
            <a:avLst/>
          </a:prstGeom>
          <a:solidFill>
            <a:srgbClr val="060E9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592" y="54864"/>
            <a:ext cx="8778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客服課　06/15 ~ 06/21　機台問題佔比 與 熱門站點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64592" y="329184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" name="Text 2"/>
          <p:cNvSpPr/>
          <p:nvPr/>
        </p:nvSpPr>
        <p:spPr>
          <a:xfrm>
            <a:off x="246888" y="338328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客訴詳情與分類佔比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" y="475488"/>
          <a:ext cx="2788920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2907792" y="530352"/>
            <a:ext cx="137160" cy="13716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7" name="Text 4"/>
          <p:cNvSpPr/>
          <p:nvPr/>
        </p:nvSpPr>
        <p:spPr>
          <a:xfrm>
            <a:off x="3090672" y="493776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瓶蓋桶已滿　14件（26.4%）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907792" y="754380"/>
            <a:ext cx="137160" cy="13716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9" name="Text 6"/>
          <p:cNvSpPr/>
          <p:nvPr/>
        </p:nvSpPr>
        <p:spPr>
          <a:xfrm>
            <a:off x="3090672" y="717804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辨識失敗異常或錯誤　8件（15.1%）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907792" y="978408"/>
            <a:ext cx="137160" cy="13716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11" name="Text 8"/>
          <p:cNvSpPr/>
          <p:nvPr/>
        </p:nvSpPr>
        <p:spPr>
          <a:xfrm>
            <a:off x="3090672" y="941832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機台需維護/故障提醒　5件（9.4%）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907792" y="1202436"/>
            <a:ext cx="137160" cy="13716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13" name="Text 10"/>
          <p:cNvSpPr/>
          <p:nvPr/>
        </p:nvSpPr>
        <p:spPr>
          <a:xfrm>
            <a:off x="3090672" y="1165860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履帶未作動或異常抖動　4件（7.5%）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2907792" y="1426464"/>
            <a:ext cx="137160" cy="137160"/>
          </a:xfrm>
          <a:prstGeom prst="rect">
            <a:avLst/>
          </a:prstGeom>
          <a:solidFill>
            <a:srgbClr val="8EB8C9"/>
          </a:solidFill>
          <a:ln/>
        </p:spPr>
      </p:sp>
      <p:sp>
        <p:nvSpPr>
          <p:cNvPr id="15" name="Text 12"/>
          <p:cNvSpPr/>
          <p:nvPr/>
        </p:nvSpPr>
        <p:spPr>
          <a:xfrm>
            <a:off x="3090672" y="1389888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螢幕異常顯示/畫面異常　4件（7.5%）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2907792" y="1650492"/>
            <a:ext cx="137160" cy="137160"/>
          </a:xfrm>
          <a:prstGeom prst="rect">
            <a:avLst/>
          </a:prstGeom>
          <a:solidFill>
            <a:srgbClr val="B8BEC8"/>
          </a:solidFill>
          <a:ln/>
        </p:spPr>
      </p:sp>
      <p:sp>
        <p:nvSpPr>
          <p:cNvPr id="17" name="Text 14"/>
          <p:cNvSpPr/>
          <p:nvPr/>
        </p:nvSpPr>
        <p:spPr>
          <a:xfrm>
            <a:off x="3090672" y="1613916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其他機台問題　18件（34%）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596128" y="475488"/>
            <a:ext cx="1005840" cy="1554480"/>
          </a:xfrm>
          <a:prstGeom prst="rect">
            <a:avLst/>
          </a:prstGeom>
          <a:solidFill>
            <a:srgbClr val="FFF3EC"/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596128" y="5303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收瓶機/方舟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5596128" y="731520"/>
            <a:ext cx="1005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5596128" y="160934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（62件）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6693408" y="475488"/>
            <a:ext cx="1005840" cy="1554480"/>
          </a:xfrm>
          <a:prstGeom prst="rect">
            <a:avLst/>
          </a:prstGeom>
          <a:solidFill>
            <a:srgbClr val="EDF5FB"/>
          </a:solidFill>
          <a:ln w="12700">
            <a:solidFill>
              <a:srgbClr val="8EB8C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93408" y="5303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電池機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693408" y="731520"/>
            <a:ext cx="1005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76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6693408" y="160934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（8件）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164592" y="2121408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27" name="Text 24"/>
          <p:cNvSpPr/>
          <p:nvPr/>
        </p:nvSpPr>
        <p:spPr>
          <a:xfrm>
            <a:off x="246888" y="21305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收瓶機、電池機客訴 Top 3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669280" y="2121408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29" name="Text 26"/>
          <p:cNvSpPr/>
          <p:nvPr/>
        </p:nvSpPr>
        <p:spPr>
          <a:xfrm>
            <a:off x="5751576" y="21305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本週熱點站點（第25週：06/15 ~ 06/21）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164592" y="2304288"/>
            <a:ext cx="658368" cy="1078992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31" name="Text 28"/>
          <p:cNvSpPr/>
          <p:nvPr/>
        </p:nvSpPr>
        <p:spPr>
          <a:xfrm>
            <a:off x="164592" y="2304288"/>
            <a:ext cx="6583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瓶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841248" y="2322576"/>
            <a:ext cx="4736592" cy="333756"/>
          </a:xfrm>
          <a:prstGeom prst="rect">
            <a:avLst/>
          </a:prstGeom>
          <a:solidFill>
            <a:srgbClr val="EDF3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96112" y="2386584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1133856" y="2386584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瓶蓋桶已滿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4809744" y="2359152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23%</a:t>
            </a:r>
            <a:endParaRPr lang="en-US" sz="2000" dirty="0"/>
          </a:p>
        </p:txBody>
      </p:sp>
      <p:sp>
        <p:nvSpPr>
          <p:cNvPr id="36" name="Shape 33"/>
          <p:cNvSpPr/>
          <p:nvPr/>
        </p:nvSpPr>
        <p:spPr>
          <a:xfrm>
            <a:off x="1133856" y="2610612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37" name="Shape 34"/>
          <p:cNvSpPr/>
          <p:nvPr/>
        </p:nvSpPr>
        <p:spPr>
          <a:xfrm>
            <a:off x="1133856" y="2610612"/>
            <a:ext cx="746608" cy="34747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8" name="Shape 35"/>
          <p:cNvSpPr/>
          <p:nvPr/>
        </p:nvSpPr>
        <p:spPr>
          <a:xfrm>
            <a:off x="841248" y="2674620"/>
            <a:ext cx="4736592" cy="333756"/>
          </a:xfrm>
          <a:prstGeom prst="rect">
            <a:avLst/>
          </a:prstGeom>
          <a:solidFill>
            <a:srgbClr val="F4F8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96112" y="2738628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1133856" y="2738628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辨識失敗異常或錯誤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4809744" y="2711196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60E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2000" dirty="0"/>
          </a:p>
        </p:txBody>
      </p:sp>
      <p:sp>
        <p:nvSpPr>
          <p:cNvPr id="42" name="Shape 39"/>
          <p:cNvSpPr/>
          <p:nvPr/>
        </p:nvSpPr>
        <p:spPr>
          <a:xfrm>
            <a:off x="1133856" y="2962656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43" name="Shape 40"/>
          <p:cNvSpPr/>
          <p:nvPr/>
        </p:nvSpPr>
        <p:spPr>
          <a:xfrm>
            <a:off x="1133856" y="2962656"/>
            <a:ext cx="357073" cy="34747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44" name="Shape 41"/>
          <p:cNvSpPr/>
          <p:nvPr/>
        </p:nvSpPr>
        <p:spPr>
          <a:xfrm>
            <a:off x="841248" y="3026664"/>
            <a:ext cx="4736592" cy="333756"/>
          </a:xfrm>
          <a:prstGeom prst="rect">
            <a:avLst/>
          </a:prstGeom>
          <a:solidFill>
            <a:srgbClr val="F9FB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96112" y="3090672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1133856" y="309067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許願新增站點/設站建議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4809744" y="3063240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76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2000" dirty="0"/>
          </a:p>
        </p:txBody>
      </p:sp>
      <p:sp>
        <p:nvSpPr>
          <p:cNvPr id="48" name="Shape 45"/>
          <p:cNvSpPr/>
          <p:nvPr/>
        </p:nvSpPr>
        <p:spPr>
          <a:xfrm>
            <a:off x="1133856" y="3314700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49" name="Shape 46"/>
          <p:cNvSpPr/>
          <p:nvPr/>
        </p:nvSpPr>
        <p:spPr>
          <a:xfrm>
            <a:off x="1133856" y="3314700"/>
            <a:ext cx="259690" cy="34747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0" name="Shape 47"/>
          <p:cNvSpPr/>
          <p:nvPr/>
        </p:nvSpPr>
        <p:spPr>
          <a:xfrm>
            <a:off x="164592" y="3396996"/>
            <a:ext cx="658368" cy="73152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51" name="Text 48"/>
          <p:cNvSpPr/>
          <p:nvPr/>
        </p:nvSpPr>
        <p:spPr>
          <a:xfrm>
            <a:off x="164592" y="3396996"/>
            <a:ext cx="6583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池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841248" y="3415284"/>
            <a:ext cx="4736592" cy="327355"/>
          </a:xfrm>
          <a:prstGeom prst="rect">
            <a:avLst/>
          </a:prstGeom>
          <a:solidFill>
            <a:srgbClr val="F0FDF7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96112" y="3479292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1133856" y="347929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點數未入帳號</a:t>
            </a:r>
            <a:endParaRPr lang="en-US" sz="950" dirty="0"/>
          </a:p>
        </p:txBody>
      </p:sp>
      <p:sp>
        <p:nvSpPr>
          <p:cNvPr id="55" name="Text 52"/>
          <p:cNvSpPr/>
          <p:nvPr/>
        </p:nvSpPr>
        <p:spPr>
          <a:xfrm>
            <a:off x="4809744" y="3451860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76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2000" dirty="0"/>
          </a:p>
        </p:txBody>
      </p:sp>
      <p:sp>
        <p:nvSpPr>
          <p:cNvPr id="56" name="Shape 53"/>
          <p:cNvSpPr/>
          <p:nvPr/>
        </p:nvSpPr>
        <p:spPr>
          <a:xfrm>
            <a:off x="1133856" y="3694176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57" name="Shape 54"/>
          <p:cNvSpPr/>
          <p:nvPr/>
        </p:nvSpPr>
        <p:spPr>
          <a:xfrm>
            <a:off x="1133856" y="3694176"/>
            <a:ext cx="1623060" cy="34747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8" name="Shape 55"/>
          <p:cNvSpPr/>
          <p:nvPr/>
        </p:nvSpPr>
        <p:spPr>
          <a:xfrm>
            <a:off x="841248" y="3760927"/>
            <a:ext cx="4736592" cy="327355"/>
          </a:xfrm>
          <a:prstGeom prst="rect">
            <a:avLst/>
          </a:prstGeom>
          <a:solidFill>
            <a:srgbClr val="F7FAFE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896112" y="3824935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EB8C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1133856" y="3824935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履帶未作動或異常抖動</a:t>
            </a:r>
            <a:endParaRPr lang="en-US" sz="950" dirty="0"/>
          </a:p>
        </p:txBody>
      </p:sp>
      <p:sp>
        <p:nvSpPr>
          <p:cNvPr id="61" name="Text 58"/>
          <p:cNvSpPr/>
          <p:nvPr/>
        </p:nvSpPr>
        <p:spPr>
          <a:xfrm>
            <a:off x="4809744" y="3797503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8EB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2000" dirty="0"/>
          </a:p>
        </p:txBody>
      </p:sp>
      <p:sp>
        <p:nvSpPr>
          <p:cNvPr id="62" name="Shape 59"/>
          <p:cNvSpPr/>
          <p:nvPr/>
        </p:nvSpPr>
        <p:spPr>
          <a:xfrm>
            <a:off x="1133856" y="4039819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63" name="Shape 60"/>
          <p:cNvSpPr/>
          <p:nvPr/>
        </p:nvSpPr>
        <p:spPr>
          <a:xfrm>
            <a:off x="1133856" y="4039819"/>
            <a:ext cx="389534" cy="34747"/>
          </a:xfrm>
          <a:prstGeom prst="rect">
            <a:avLst/>
          </a:prstGeom>
          <a:solidFill>
            <a:srgbClr val="8EB8C9"/>
          </a:solidFill>
          <a:ln/>
        </p:spPr>
      </p:sp>
      <p:sp>
        <p:nvSpPr>
          <p:cNvPr id="64" name="Shape 61"/>
          <p:cNvSpPr/>
          <p:nvPr/>
        </p:nvSpPr>
        <p:spPr>
          <a:xfrm>
            <a:off x="164592" y="4151376"/>
            <a:ext cx="5376672" cy="548640"/>
          </a:xfrm>
          <a:prstGeom prst="rect">
            <a:avLst/>
          </a:prstGeom>
          <a:solidFill>
            <a:srgbClr val="FAE0B8"/>
          </a:solidFill>
          <a:ln w="12700">
            <a:solidFill>
              <a:srgbClr val="FFCE00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256032" y="4169664"/>
            <a:ext cx="5230368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66" name="Shape 63"/>
          <p:cNvSpPr/>
          <p:nvPr/>
        </p:nvSpPr>
        <p:spPr>
          <a:xfrm>
            <a:off x="5669280" y="2304288"/>
            <a:ext cx="3337560" cy="237744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67" name="Text 64"/>
          <p:cNvSpPr/>
          <p:nvPr/>
        </p:nvSpPr>
        <p:spPr>
          <a:xfrm>
            <a:off x="5724144" y="2304288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高雄</a:t>
            </a:r>
            <a:endParaRPr lang="en-US" sz="1200" dirty="0"/>
          </a:p>
        </p:txBody>
      </p:sp>
      <p:sp>
        <p:nvSpPr>
          <p:cNvPr id="68" name="Text 65"/>
          <p:cNvSpPr/>
          <p:nvPr/>
        </p:nvSpPr>
        <p:spPr>
          <a:xfrm>
            <a:off x="8412480" y="2304288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5760720" y="255117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・小北百貨高雄新陽明店站</a:t>
            </a:r>
            <a:endParaRPr lang="en-US" sz="850" dirty="0"/>
          </a:p>
        </p:txBody>
      </p:sp>
      <p:sp>
        <p:nvSpPr>
          <p:cNvPr id="70" name="Text 67"/>
          <p:cNvSpPr/>
          <p:nvPr/>
        </p:nvSpPr>
        <p:spPr>
          <a:xfrm>
            <a:off x="8412480" y="255117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71" name="Text 68"/>
          <p:cNvSpPr/>
          <p:nvPr/>
        </p:nvSpPr>
        <p:spPr>
          <a:xfrm>
            <a:off x="5760720" y="27569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・全聯福利中心楠梓土庫店站</a:t>
            </a:r>
            <a:endParaRPr lang="en-US" sz="850" dirty="0"/>
          </a:p>
        </p:txBody>
      </p:sp>
      <p:sp>
        <p:nvSpPr>
          <p:cNvPr id="72" name="Text 69"/>
          <p:cNvSpPr/>
          <p:nvPr/>
        </p:nvSpPr>
        <p:spPr>
          <a:xfrm>
            <a:off x="8412480" y="275691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73" name="Text 70"/>
          <p:cNvSpPr/>
          <p:nvPr/>
        </p:nvSpPr>
        <p:spPr>
          <a:xfrm>
            <a:off x="5760720" y="296265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・全聯福利中心橋頭成功南店站</a:t>
            </a:r>
            <a:endParaRPr lang="en-US" sz="850" dirty="0"/>
          </a:p>
        </p:txBody>
      </p:sp>
      <p:sp>
        <p:nvSpPr>
          <p:cNvPr id="74" name="Text 71"/>
          <p:cNvSpPr/>
          <p:nvPr/>
        </p:nvSpPr>
        <p:spPr>
          <a:xfrm>
            <a:off x="8412480" y="296265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75" name="Shape 72"/>
          <p:cNvSpPr/>
          <p:nvPr/>
        </p:nvSpPr>
        <p:spPr>
          <a:xfrm>
            <a:off x="5669280" y="3186684"/>
            <a:ext cx="3337560" cy="237744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76" name="Text 73"/>
          <p:cNvSpPr/>
          <p:nvPr/>
        </p:nvSpPr>
        <p:spPr>
          <a:xfrm>
            <a:off x="5724144" y="3186684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臺南</a:t>
            </a:r>
            <a:endParaRPr lang="en-US" sz="1200" dirty="0"/>
          </a:p>
        </p:txBody>
      </p:sp>
      <p:sp>
        <p:nvSpPr>
          <p:cNvPr id="77" name="Text 74"/>
          <p:cNvSpPr/>
          <p:nvPr/>
        </p:nvSpPr>
        <p:spPr>
          <a:xfrm>
            <a:off x="8412480" y="318668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5760720" y="343357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・億進寢具永大店站</a:t>
            </a:r>
            <a:endParaRPr lang="en-US" sz="850" dirty="0"/>
          </a:p>
        </p:txBody>
      </p:sp>
      <p:sp>
        <p:nvSpPr>
          <p:cNvPr id="79" name="Text 76"/>
          <p:cNvSpPr/>
          <p:nvPr/>
        </p:nvSpPr>
        <p:spPr>
          <a:xfrm>
            <a:off x="8412480" y="343357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80" name="Text 77"/>
          <p:cNvSpPr/>
          <p:nvPr/>
        </p:nvSpPr>
        <p:spPr>
          <a:xfrm>
            <a:off x="5760720" y="363931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・全聯福利中心台南海佃店站</a:t>
            </a:r>
            <a:endParaRPr lang="en-US" sz="850" dirty="0"/>
          </a:p>
        </p:txBody>
      </p:sp>
      <p:sp>
        <p:nvSpPr>
          <p:cNvPr id="81" name="Text 78"/>
          <p:cNvSpPr/>
          <p:nvPr/>
        </p:nvSpPr>
        <p:spPr>
          <a:xfrm>
            <a:off x="8412480" y="363931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5760720" y="384505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・全家台南育德店站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8412480" y="384505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84" name="Shape 81"/>
          <p:cNvSpPr/>
          <p:nvPr/>
        </p:nvSpPr>
        <p:spPr>
          <a:xfrm>
            <a:off x="5669280" y="4069080"/>
            <a:ext cx="3337560" cy="237744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85" name="Text 82"/>
          <p:cNvSpPr/>
          <p:nvPr/>
        </p:nvSpPr>
        <p:spPr>
          <a:xfrm>
            <a:off x="5724144" y="4069080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臺北</a:t>
            </a:r>
            <a:endParaRPr lang="en-US" sz="1200" dirty="0"/>
          </a:p>
        </p:txBody>
      </p:sp>
      <p:sp>
        <p:nvSpPr>
          <p:cNvPr id="86" name="Text 83"/>
          <p:cNvSpPr/>
          <p:nvPr/>
        </p:nvSpPr>
        <p:spPr>
          <a:xfrm>
            <a:off x="8412480" y="4069080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87" name="Text 84"/>
          <p:cNvSpPr/>
          <p:nvPr/>
        </p:nvSpPr>
        <p:spPr>
          <a:xfrm>
            <a:off x="5760720" y="4315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・台北醫學大學站</a:t>
            </a:r>
            <a:endParaRPr lang="en-US" sz="850" dirty="0"/>
          </a:p>
        </p:txBody>
      </p:sp>
      <p:sp>
        <p:nvSpPr>
          <p:cNvPr id="88" name="Text 85"/>
          <p:cNvSpPr/>
          <p:nvPr/>
        </p:nvSpPr>
        <p:spPr>
          <a:xfrm>
            <a:off x="8412480" y="431596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89" name="Text 86"/>
          <p:cNvSpPr/>
          <p:nvPr/>
        </p:nvSpPr>
        <p:spPr>
          <a:xfrm>
            <a:off x="5760720" y="452170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・全家致昇店站</a:t>
            </a:r>
            <a:endParaRPr lang="en-US" sz="850" dirty="0"/>
          </a:p>
        </p:txBody>
      </p:sp>
      <p:sp>
        <p:nvSpPr>
          <p:cNvPr id="90" name="Text 87"/>
          <p:cNvSpPr/>
          <p:nvPr/>
        </p:nvSpPr>
        <p:spPr>
          <a:xfrm>
            <a:off x="8412480" y="45217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91" name="Text 88"/>
          <p:cNvSpPr/>
          <p:nvPr/>
        </p:nvSpPr>
        <p:spPr>
          <a:xfrm>
            <a:off x="5760720" y="472744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・全聯福利中心文山忠順店站</a:t>
            </a:r>
            <a:endParaRPr lang="en-US" sz="850" dirty="0"/>
          </a:p>
        </p:txBody>
      </p:sp>
      <p:sp>
        <p:nvSpPr>
          <p:cNvPr id="92" name="Text 89"/>
          <p:cNvSpPr/>
          <p:nvPr/>
        </p:nvSpPr>
        <p:spPr>
          <a:xfrm>
            <a:off x="8412480" y="472744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2026-06-22T03:09:12Z</dcterms:created>
  <dcterms:modified xsi:type="dcterms:W3CDTF">2026-06-22T03:09:12Z</dcterms:modified>
</cp:coreProperties>
</file>