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客訴總量（件）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5月</c:v>
                  </c:pt>
                  <c:pt idx="1">
                    <c:v>6月</c:v>
                  </c:pt>
                  <c:pt idx="2">
                    <c:v>7月</c:v>
                  </c:pt>
                  <c:pt idx="3">
                    <c:v>8月</c:v>
                  </c:pt>
                  <c:pt idx="4">
                    <c:v>9月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880</c:v>
                </c:pt>
                <c:pt idx="1">
                  <c:v>598</c:v>
                </c:pt>
                <c:pt idx="2">
                  <c:v>678</c:v>
                </c:pt>
                <c:pt idx="3">
                  <c:v>513</c:v>
                </c:pt>
                <c:pt idx="4">
                  <c:v>604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客訴密度（件/站）</c:v>
                </c:pt>
              </c:strCache>
            </c:strRef>
          </c:tx>
          <c:spPr>
            <a:solidFill>
              <a:srgbClr val="FF5000"/>
            </a:solidFill>
            <a:ln w="31750" cap="flat">
              <a:solidFill>
                <a:srgbClr val="FF5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000"/>
              </a:solidFill>
              <a:ln w="9525" cap="flat">
                <a:solidFill>
                  <a:srgbClr val="FF5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5月</c:v>
                  </c:pt>
                  <c:pt idx="1">
                    <c:v>6月</c:v>
                  </c:pt>
                  <c:pt idx="2">
                    <c:v>7月</c:v>
                  </c:pt>
                  <c:pt idx="3">
                    <c:v>8月</c:v>
                  </c:pt>
                  <c:pt idx="4">
                    <c:v>9月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1.57</c:v>
                </c:pt>
                <c:pt idx="1">
                  <c:v>1.07</c:v>
                </c:pt>
                <c:pt idx="2">
                  <c:v>1.21</c:v>
                </c:pt>
                <c:pt idx="3">
                  <c:v>0.91</c:v>
                </c:pt>
                <c:pt idx="4">
                  <c:v>1.08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APP帳號設定問題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28.9</c:v>
                </c:pt>
                <c:pt idx="1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機台問題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38.6</c:v>
                </c:pt>
                <c:pt idx="1">
                  <c:v>64.7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回收點數問題</c:v>
                </c:pt>
              </c:strCache>
            </c:strRef>
          </c:tx>
          <c:spPr>
            <a:solidFill>
              <a:srgbClr val="0076A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11.4</c:v>
                </c:pt>
                <c:pt idx="1">
                  <c:v>8.4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顧客關係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9.9</c:v>
                </c:pt>
                <c:pt idx="1">
                  <c:v>14.2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優惠券問題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6</c:v>
                </c:pt>
                <c:pt idx="1">
                  <c:v>6.2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APP使用問題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5.2</c:v>
                </c:pt>
                <c:pt idx="1">
                  <c:v>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Noto Sans TC Bol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88888"/>
                    </a:solidFill>
                    <a:latin typeface="Arial"/>
                  </a:rPr>
                  <a:t>客訴佔比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326880" y="47548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475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第41週（10/05 ~ 10/11）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(第41週)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8" y="11978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112 </a:t>
            </a:r>
            <a:pPr indent="0" marL="0">
              <a:buNone/>
            </a:pP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(206件) 減少 94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</p:sp>
      <p:sp>
        <p:nvSpPr>
          <p:cNvPr id="12" name="Text 9"/>
          <p:cNvSpPr/>
          <p:nvPr/>
        </p:nvSpPr>
        <p:spPr>
          <a:xfrm>
            <a:off x="215341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▼45.6%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5186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19786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回收箱滿艙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14.3%（共 16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63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▲2.6%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119786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小北百貨新北雨農店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新北市（本週 5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8" name="Text 23"/>
          <p:cNvSpPr/>
          <p:nvPr/>
        </p:nvSpPr>
        <p:spPr>
          <a:xfrm>
            <a:off x="795985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▲4件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1" name="Text 26"/>
          <p:cNvSpPr/>
          <p:nvPr/>
        </p:nvSpPr>
        <p:spPr>
          <a:xfrm>
            <a:off x="925830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119786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37.5</a:t>
            </a:r>
            <a:pPr indent="0" marL="0">
              <a:buNone/>
            </a:pP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代表案例類型：使用規則/限制條件說明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6" name="Text 30"/>
          <p:cNvSpPr/>
          <p:nvPr/>
        </p:nvSpPr>
        <p:spPr>
          <a:xfrm>
            <a:off x="1086307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▲6.9%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2670048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44952"/>
          <a:ext cx="7132320" cy="3675888"/>
        </p:xfrm>
        <a:graphic>
          <a:graphicData uri="http://schemas.openxmlformats.org/drawingml/2006/table">
            <a:tbl>
              <a:tblPr/>
              <a:tblGrid>
                <a:gridCol w="1024128"/>
                <a:gridCol w="868680"/>
                <a:gridCol w="868680"/>
                <a:gridCol w="868680"/>
                <a:gridCol w="868680"/>
                <a:gridCol w="868680"/>
                <a:gridCol w="868680"/>
                <a:gridCol w="905256"/>
              </a:tblGrid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第38週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第39週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第40週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第41週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▼94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1" name="Text 34"/>
          <p:cNvSpPr/>
          <p:nvPr/>
        </p:nvSpPr>
        <p:spPr>
          <a:xfrm>
            <a:off x="7909560" y="26700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3044952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772400" y="3044952"/>
            <a:ext cx="54864" cy="1133856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4" name="Text 37"/>
          <p:cNvSpPr/>
          <p:nvPr/>
        </p:nvSpPr>
        <p:spPr>
          <a:xfrm>
            <a:off x="7918704" y="3154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更換帳號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9件</a:t>
            </a:r>
            <a:pPr indent="0" marL="0">
              <a:buNone/>
            </a:pP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8%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1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72400" y="4315968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315968"/>
            <a:ext cx="54864" cy="1133856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1" name="Text 44"/>
          <p:cNvSpPr/>
          <p:nvPr/>
        </p:nvSpPr>
        <p:spPr>
          <a:xfrm>
            <a:off x="7918704" y="4425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9件</a:t>
            </a:r>
            <a:pPr indent="0" marL="0">
              <a:buNone/>
            </a:pP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8%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24865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5" name="Shape 48"/>
          <p:cNvSpPr/>
          <p:nvPr/>
        </p:nvSpPr>
        <p:spPr>
          <a:xfrm>
            <a:off x="8394192" y="5248656"/>
            <a:ext cx="3200400" cy="64008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6" name="Shape 49"/>
          <p:cNvSpPr/>
          <p:nvPr/>
        </p:nvSpPr>
        <p:spPr>
          <a:xfrm>
            <a:off x="7772400" y="5586984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772400" y="5586984"/>
            <a:ext cx="54864" cy="1133856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58" name="Text 51"/>
          <p:cNvSpPr/>
          <p:nvPr/>
        </p:nvSpPr>
        <p:spPr>
          <a:xfrm>
            <a:off x="7918704" y="56967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678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許願新增站點/設站建議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6062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8件</a:t>
            </a:r>
            <a:pPr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7.1%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519672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2" name="Shape 55"/>
          <p:cNvSpPr/>
          <p:nvPr/>
        </p:nvSpPr>
        <p:spPr>
          <a:xfrm>
            <a:off x="8394192" y="6519672"/>
            <a:ext cx="2844800" cy="64008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第41週（10/05 ~ 10/11）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78件 (91.8%)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34.6% (27件)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最高回報站點：C｜桃園/全聯福利中心龍潭中興店站（2件）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黑色分選門異常或卡瓶堵塞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11.5% (9件)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最高回報站點：A｜臺南/全聯福利中心台南東平店站（2件）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10.3% (8件)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最高回報站點：D｜彰化/特力屋彰化員林店站（2件）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7" name="Image 4" descr="D:\info\0507_Weekly-Report\Operations-Weekly-Report\automation\icons\batte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7件 (8.2%)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投入物卡住_瓶罐/電池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28.6% (2件)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最高回報站點：ARK｜高雄/萬家福楠梓店方舟站（1件）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機台需維護/故障提醒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14.3% (1件)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最高回報站點：C｜臺南/全聯福利中心歸仁店站（1件）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回收箱滿艙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14.3% (1件)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最高回報站點：B｜新竹/樂家康超市縣政二店站（1件）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</p:sp>
      <p:pic>
        <p:nvPicPr>
          <p:cNvPr id="47" name="Image 8" descr="D:\info\0507_Weekly-Report\Operations-Weekly-Report\automation\icons\wa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【本週融合洞察】收瓶機客訴集中於「滿艙問題（回收箱／寶特瓶）」（34.6%，27件），最高回報站點為 C｜桃園/全聯福利中心龍潭中興店站（2件），建議優先派工檢修；電池機客訴則集中於「投入物卡住_瓶罐/電池」（28.6%，2件），建議持續追蹤。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資料更新日期：2026/10/13（區間2026/09/13-10/13）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914400"/>
                <a:gridCol w="2423160"/>
                <a:gridCol w="1371600"/>
                <a:gridCol w="155448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（總566）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合橫國民小學站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全聯福利中心大寮三隆店站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487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台北醫學大學站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467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澎湖赤崁社區活動中心站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D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347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衛生福利部雙和醫院第一醫療大樓站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D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324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澎湖車船處交通船馬公候船室站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迷客夏臺南華平店站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全家高雄凱歌店站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嘉義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全聯福利中心嘉義湖子內店站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0" y="2450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15" name="Image 0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2505456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07808" y="2450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315200" y="32186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22" name="Image 1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3273552"/>
            <a:ext cx="146304" cy="1463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07808" y="3218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詳細計分標準與說明，請參閱Hive平台 (以下為簡述)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38" name="Shape 33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44" name="Shape 39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56" name="Shape 51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73152" cy="310896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280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客訴趨勢洞察（MoM／QoQ）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326880" y="146304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46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第41週（10/05 ~ 10/11）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本月客訴總量（26年10月）</a:t>
            </a:r>
            <a:endParaRPr lang="en-US" sz="1100" dirty="0"/>
          </a:p>
        </p:txBody>
      </p:sp>
      <p:pic>
        <p:nvPicPr>
          <p:cNvPr id="9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764" y="7772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224 </a:t>
            </a:r>
            <a:pPr indent="0" marL="0">
              <a:buNone/>
            </a:pPr>
            <a:r>
              <a:rPr lang="en-US" sz="12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864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1~11日累計，較上月同期（9/1~9/11）190件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8998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13" name="Text 10"/>
          <p:cNvSpPr/>
          <p:nvPr/>
        </p:nvSpPr>
        <p:spPr>
          <a:xfrm>
            <a:off x="218998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▲17.9%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6898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16" name="Text 13"/>
          <p:cNvSpPr/>
          <p:nvPr/>
        </p:nvSpPr>
        <p:spPr>
          <a:xfrm>
            <a:off x="345186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客訴密度指標（件/站）</a:t>
            </a:r>
            <a:endParaRPr lang="en-US" sz="1100" dirty="0"/>
          </a:p>
        </p:txBody>
      </p:sp>
      <p:pic>
        <p:nvPicPr>
          <p:cNvPr id="17" name="Image 1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7772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0.4 </a:t>
            </a:r>
            <a:pPr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件/站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345186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每站平均客訴量，暫代萬人客訴率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9320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1" name="Text 17"/>
          <p:cNvSpPr/>
          <p:nvPr/>
        </p:nvSpPr>
        <p:spPr>
          <a:xfrm>
            <a:off x="509320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▲17.6%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24" name="Text 20"/>
          <p:cNvSpPr/>
          <p:nvPr/>
        </p:nvSpPr>
        <p:spPr>
          <a:xfrm>
            <a:off x="635508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本季客訴總量（26年Q3）</a:t>
            </a:r>
            <a:endParaRPr lang="en-US" sz="1100" dirty="0"/>
          </a:p>
        </p:txBody>
      </p:sp>
      <p:pic>
        <p:nvPicPr>
          <p:cNvPr id="25" name="Image 2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7772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1795 </a:t>
            </a:r>
            <a:pPr indent="0" marL="0">
              <a:buNone/>
            </a:pPr>
            <a:r>
              <a:rPr lang="en-US" sz="12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27" name="Text 22"/>
          <p:cNvSpPr/>
          <p:nvPr/>
        </p:nvSpPr>
        <p:spPr>
          <a:xfrm>
            <a:off x="635508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較上季（1478件）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9642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9" name="Text 24"/>
          <p:cNvSpPr/>
          <p:nvPr/>
        </p:nvSpPr>
        <p:spPr>
          <a:xfrm>
            <a:off x="79964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▲21.4%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07542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07542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2" name="Text 27"/>
          <p:cNvSpPr/>
          <p:nvPr/>
        </p:nvSpPr>
        <p:spPr>
          <a:xfrm>
            <a:off x="925830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機台問題佔比（26年Q3）</a:t>
            </a:r>
            <a:endParaRPr lang="en-US" sz="1100" dirty="0"/>
          </a:p>
        </p:txBody>
      </p:sp>
      <p:pic>
        <p:nvPicPr>
          <p:cNvPr id="33" name="Image 3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424" y="7772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830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64.7</a:t>
            </a:r>
            <a:pPr indent="0" marL="0">
              <a:buNone/>
            </a:pPr>
            <a:r>
              <a:rPr lang="en-US" sz="12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925830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較上季佔比變化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89964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37" name="Text 31"/>
          <p:cNvSpPr/>
          <p:nvPr/>
        </p:nvSpPr>
        <p:spPr>
          <a:xfrm>
            <a:off x="1089964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▲26.1%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657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9" name="Text 33"/>
          <p:cNvSpPr/>
          <p:nvPr/>
        </p:nvSpPr>
        <p:spPr>
          <a:xfrm>
            <a:off x="50292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總客訴量與客訴密度趨勢圖（MoM，近5個月）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365760" y="2423160"/>
          <a:ext cx="521208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1" name="Shape 34"/>
          <p:cNvSpPr/>
          <p:nvPr/>
        </p:nvSpPr>
        <p:spPr>
          <a:xfrm>
            <a:off x="58521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2" name="Text 35"/>
          <p:cNvSpPr/>
          <p:nvPr/>
        </p:nvSpPr>
        <p:spPr>
          <a:xfrm>
            <a:off x="5989320" y="20482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客訴主題結構比變化（QoQ）</a:t>
            </a:r>
            <a:endParaRPr lang="en-US" sz="1300" dirty="0"/>
          </a:p>
        </p:txBody>
      </p:sp>
      <p:graphicFrame>
        <p:nvGraphicFramePr>
          <p:cNvPr id="43" name="Chart 1" descr=""/>
          <p:cNvGraphicFramePr/>
          <p:nvPr/>
        </p:nvGraphicFramePr>
        <p:xfrm>
          <a:off x="5852160" y="2423160"/>
          <a:ext cx="594360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4" name="Shape 36"/>
          <p:cNvSpPr/>
          <p:nvPr/>
        </p:nvSpPr>
        <p:spPr>
          <a:xfrm>
            <a:off x="365760" y="461772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5" name="Text 37"/>
          <p:cNvSpPr/>
          <p:nvPr/>
        </p:nvSpPr>
        <p:spPr>
          <a:xfrm>
            <a:off x="502920" y="459028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客服觀點與改善行動建議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365760" y="4946904"/>
            <a:ext cx="11430000" cy="566928"/>
          </a:xfrm>
          <a:prstGeom prst="roundRect">
            <a:avLst>
              <a:gd name="adj" fmla="val 9677"/>
            </a:avLst>
          </a:prstGeom>
          <a:solidFill>
            <a:srgbClr val="060E9F"/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365760" y="4946904"/>
            <a:ext cx="54864" cy="566928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8" name="Text 40"/>
          <p:cNvSpPr/>
          <p:nvPr/>
        </p:nvSpPr>
        <p:spPr>
          <a:xfrm>
            <a:off x="566928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重點結論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21945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本月累計客訴量較上月同期上升 17.9%，本季較上季上升 21.4%，整體呈現上升趨勢，需留意。 本季變化最大：「APP帳號設定問題」下降 26.8 個百分點，建議優先關注。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5632704"/>
            <a:ext cx="11430000" cy="530352"/>
          </a:xfrm>
          <a:prstGeom prst="roundRect">
            <a:avLst>
              <a:gd name="adj" fmla="val 10345"/>
            </a:avLst>
          </a:prstGeom>
          <a:solidFill>
            <a:srgbClr val="FFF4EF"/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365760" y="5632704"/>
            <a:ext cx="54864" cy="53035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2" name="Text 44"/>
          <p:cNvSpPr/>
          <p:nvPr/>
        </p:nvSpPr>
        <p:spPr>
          <a:xfrm>
            <a:off x="566928" y="5687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本季結構變化重點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2194560" y="56875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本季「APP帳號設定問題」佔比較上季下降 26.8 個百分點（28.9% → 2.1%），為本季結構變化最大的問題類型，改善成效可留意是否延續。（資料累積中，須滿一年以上同季比較才能判斷是否為季節性規律）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2026-10-13T03:53:15Z</dcterms:created>
  <dcterms:modified xsi:type="dcterms:W3CDTF">2026-10-13T03:53:15Z</dcterms:modified>
</cp:coreProperties>
</file>