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客訴總量（件）</c:v>
                </c:pt>
              </c:strCache>
            </c:strRef>
          </c:tx>
          <c:spPr>
            <a:solidFill>
              <a:srgbClr val="060E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3月</c:v>
                  </c:pt>
                  <c:pt idx="1">
                    <c:v>4月</c:v>
                  </c:pt>
                  <c:pt idx="2">
                    <c:v>5月</c:v>
                  </c:pt>
                  <c:pt idx="3">
                    <c:v>6月</c:v>
                  </c:pt>
                  <c:pt idx="4">
                    <c:v>7月</c:v>
                  </c:pt>
                  <c:pt idx="5">
                    <c:v>8月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1045</c:v>
                </c:pt>
                <c:pt idx="1">
                  <c:v>600</c:v>
                </c:pt>
                <c:pt idx="2">
                  <c:v>880</c:v>
                </c:pt>
                <c:pt idx="3">
                  <c:v>598</c:v>
                </c:pt>
                <c:pt idx="4">
                  <c:v>678</c:v>
                </c:pt>
                <c:pt idx="5">
                  <c:v>508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客訴密度（件/站）</c:v>
                </c:pt>
              </c:strCache>
            </c:strRef>
          </c:tx>
          <c:spPr>
            <a:solidFill>
              <a:srgbClr val="FF5000"/>
            </a:solidFill>
            <a:ln w="31750" cap="flat">
              <a:solidFill>
                <a:srgbClr val="FF5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000"/>
              </a:solidFill>
              <a:ln w="9525" cap="flat">
                <a:solidFill>
                  <a:srgbClr val="FF5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3月</c:v>
                  </c:pt>
                  <c:pt idx="1">
                    <c:v>4月</c:v>
                  </c:pt>
                  <c:pt idx="2">
                    <c:v>5月</c:v>
                  </c:pt>
                  <c:pt idx="3">
                    <c:v>6月</c:v>
                  </c:pt>
                  <c:pt idx="4">
                    <c:v>7月</c:v>
                  </c:pt>
                  <c:pt idx="5">
                    <c:v>8月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1.99</c:v>
                </c:pt>
                <c:pt idx="1">
                  <c:v>1.14</c:v>
                </c:pt>
                <c:pt idx="2">
                  <c:v>1.68</c:v>
                </c:pt>
                <c:pt idx="3">
                  <c:v>1.14</c:v>
                </c:pt>
                <c:pt idx="4">
                  <c:v>1.29</c:v>
                </c:pt>
                <c:pt idx="5">
                  <c:v>0.97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APP帳號設定問題</c:v>
                </c:pt>
              </c:strCache>
            </c:strRef>
          </c:tx>
          <c:spPr>
            <a:solidFill>
              <a:srgbClr val="BA751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26年Q1</c:v>
                  </c:pt>
                  <c:pt idx="1">
                    <c:v>26年Q2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機台問題</c:v>
                </c:pt>
              </c:strCache>
            </c:strRef>
          </c:tx>
          <c:spPr>
            <a:solidFill>
              <a:srgbClr val="060E9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26年Q1</c:v>
                  </c:pt>
                  <c:pt idx="1">
                    <c:v>26年Q2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52.2</c:v>
                </c:pt>
                <c:pt idx="1">
                  <c:v>45.4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回收點數問題</c:v>
                </c:pt>
              </c:strCache>
            </c:strRef>
          </c:tx>
          <c:spPr>
            <a:solidFill>
              <a:srgbClr val="0076A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26年Q1</c:v>
                  </c:pt>
                  <c:pt idx="1">
                    <c:v>26年Q2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</c:v>
                </c:pt>
                <c:pt idx="1">
                  <c:v>10.7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顧客關係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26年Q1</c:v>
                  </c:pt>
                  <c:pt idx="1">
                    <c:v>26年Q2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11.8</c:v>
                </c:pt>
                <c:pt idx="1">
                  <c:v>10.6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優惠券問題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26年Q1</c:v>
                  </c:pt>
                  <c:pt idx="1">
                    <c:v>26年Q2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11.3</c:v>
                </c:pt>
                <c:pt idx="1">
                  <c:v>6.3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APP使用問題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26年Q1</c:v>
                  </c:pt>
                  <c:pt idx="1">
                    <c:v>26年Q2</c:v>
                  </c:pt>
                </c:lvl>
              </c:multiLvlStrCache>
            </c:multiLvl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6.3</c:v>
                </c:pt>
                <c:pt idx="1">
                  <c:v>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Noto Sans TC Bold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8888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888888"/>
                    </a:solidFill>
                    <a:latin typeface="Arial"/>
                  </a:rPr>
                  <a:t>客訴佔比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6" Type="http://schemas.openxmlformats.org/officeDocument/2006/relationships/chart" Target="/ppt/charts/chart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ecoco 客服週報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第35週（08/24 ~ 08/30）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本週客訴總件數 (第35週)</a:t>
            </a:r>
            <a:endParaRPr lang="en-US" sz="1200" dirty="0"/>
          </a:p>
        </p:txBody>
      </p:sp>
      <p:pic>
        <p:nvPicPr>
          <p:cNvPr id="8" name="Image 0" descr="D:\info\0507_Weekly-Report\Operations-Weekly-Report\automation\icons\heads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188" y="850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76 </a:t>
            </a:r>
            <a:pPr indent="0" marL="0">
              <a:buNone/>
            </a:pPr>
            <a:r>
              <a:rPr lang="en-US" sz="13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4864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較上週 (61件) 增加 15 件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15341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12" name="Text 9"/>
          <p:cNvSpPr/>
          <p:nvPr/>
        </p:nvSpPr>
        <p:spPr>
          <a:xfrm>
            <a:off x="215341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▲24.6%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326898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6898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</p:sp>
      <p:sp>
        <p:nvSpPr>
          <p:cNvPr id="15" name="Text 12"/>
          <p:cNvSpPr/>
          <p:nvPr/>
        </p:nvSpPr>
        <p:spPr>
          <a:xfrm>
            <a:off x="345186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回報最高主題</a:t>
            </a:r>
            <a:endParaRPr lang="en-US" sz="1200" dirty="0"/>
          </a:p>
        </p:txBody>
      </p:sp>
      <p:pic>
        <p:nvPicPr>
          <p:cNvPr id="16" name="Image 1" descr="D:\info\0507_Weekly-Report\Operations-Weekly-Report\automation\icons\war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85039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186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其他建議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45186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佔比 14.5%（共 11 件）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505663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0" name="Text 16"/>
          <p:cNvSpPr/>
          <p:nvPr/>
        </p:nvSpPr>
        <p:spPr>
          <a:xfrm>
            <a:off x="505663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▲3%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17220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7220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</p:sp>
      <p:sp>
        <p:nvSpPr>
          <p:cNvPr id="23" name="Text 19"/>
          <p:cNvSpPr/>
          <p:nvPr/>
        </p:nvSpPr>
        <p:spPr>
          <a:xfrm>
            <a:off x="635508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客訴量最高站點</a:t>
            </a:r>
            <a:endParaRPr lang="en-US" sz="1200" dirty="0"/>
          </a:p>
        </p:txBody>
      </p:sp>
      <p:pic>
        <p:nvPicPr>
          <p:cNvPr id="24" name="Image 2" descr="D:\info\0507_Weekly-Report\Operations-Weekly-Report\automation\icons\pin_dark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85039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萬家福中壢店方舟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5508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桃園市（本週 5 件）</a:t>
            </a:r>
            <a:endParaRPr lang="en-US" sz="920" dirty="0"/>
          </a:p>
        </p:txBody>
      </p:sp>
      <p:sp>
        <p:nvSpPr>
          <p:cNvPr id="27" name="Shape 22"/>
          <p:cNvSpPr/>
          <p:nvPr/>
        </p:nvSpPr>
        <p:spPr>
          <a:xfrm>
            <a:off x="795985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8" name="Text 23"/>
          <p:cNvSpPr/>
          <p:nvPr/>
        </p:nvSpPr>
        <p:spPr>
          <a:xfrm>
            <a:off x="795985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▲5件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907542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07542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</p:sp>
      <p:sp>
        <p:nvSpPr>
          <p:cNvPr id="31" name="Text 26"/>
          <p:cNvSpPr/>
          <p:nvPr/>
        </p:nvSpPr>
        <p:spPr>
          <a:xfrm>
            <a:off x="925830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非機台問題佔比</a:t>
            </a:r>
            <a:endParaRPr lang="en-US" sz="1200" dirty="0"/>
          </a:p>
        </p:txBody>
      </p:sp>
      <p:pic>
        <p:nvPicPr>
          <p:cNvPr id="32" name="Image 3" descr="D:\info\0507_Weekly-Report\Operations-Weekly-Report\automation\icons\userco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85039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5830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44.7</a:t>
            </a:r>
            <a:pPr indent="0" marL="0">
              <a:buNone/>
            </a:pPr>
            <a:r>
              <a:rPr lang="en-US" sz="13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925830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代表案例類型：其他建議</a:t>
            </a:r>
            <a:endParaRPr lang="en-US" sz="920" dirty="0"/>
          </a:p>
        </p:txBody>
      </p:sp>
      <p:sp>
        <p:nvSpPr>
          <p:cNvPr id="35" name="Shape 29"/>
          <p:cNvSpPr/>
          <p:nvPr/>
        </p:nvSpPr>
        <p:spPr>
          <a:xfrm>
            <a:off x="1086307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36" name="Text 30"/>
          <p:cNvSpPr/>
          <p:nvPr/>
        </p:nvSpPr>
        <p:spPr>
          <a:xfrm>
            <a:off x="1086307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▲0.4%</a:t>
            </a:r>
            <a:endParaRPr lang="en-US" sz="1020" dirty="0"/>
          </a:p>
        </p:txBody>
      </p:sp>
      <p:sp>
        <p:nvSpPr>
          <p:cNvPr id="37" name="Shape 31"/>
          <p:cNvSpPr/>
          <p:nvPr/>
        </p:nvSpPr>
        <p:spPr>
          <a:xfrm>
            <a:off x="36576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8" name="Text 32"/>
          <p:cNvSpPr/>
          <p:nvPr/>
        </p:nvSpPr>
        <p:spPr>
          <a:xfrm>
            <a:off x="502920" y="243230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客訴趨勢分析（近4週）　單位：件數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07208"/>
          <a:ext cx="7132320" cy="3017520"/>
        </p:xfrm>
        <a:graphic>
          <a:graphicData uri="http://schemas.openxmlformats.org/drawingml/2006/table">
            <a:tbl>
              <a:tblPr/>
              <a:tblGrid>
                <a:gridCol w="1024128"/>
                <a:gridCol w="868680"/>
                <a:gridCol w="868680"/>
                <a:gridCol w="868680"/>
                <a:gridCol w="868680"/>
                <a:gridCol w="868680"/>
                <a:gridCol w="868680"/>
                <a:gridCol w="905256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週次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機台問題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APP帳號設定問題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回收點數問題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顧客關係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優惠券問題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APP使用問題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加總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第32週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19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157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第33週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165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第34週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▼66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61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第35週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</a:tbl>
          </a:graphicData>
        </a:graphic>
      </p:graphicFrame>
      <p:sp>
        <p:nvSpPr>
          <p:cNvPr id="40" name="Shape 33"/>
          <p:cNvSpPr/>
          <p:nvPr/>
        </p:nvSpPr>
        <p:spPr>
          <a:xfrm>
            <a:off x="777240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1" name="Text 34"/>
          <p:cNvSpPr/>
          <p:nvPr/>
        </p:nvSpPr>
        <p:spPr>
          <a:xfrm>
            <a:off x="7909560" y="24323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非機台問題 Top 3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772400" y="2807208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4EF"/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7772400" y="2807208"/>
            <a:ext cx="54864" cy="118872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4" name="Text 37"/>
          <p:cNvSpPr/>
          <p:nvPr/>
        </p:nvSpPr>
        <p:spPr>
          <a:xfrm>
            <a:off x="7918704" y="29169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700" dirty="0"/>
          </a:p>
        </p:txBody>
      </p:sp>
      <p:sp>
        <p:nvSpPr>
          <p:cNvPr id="45" name="Text 38"/>
          <p:cNvSpPr/>
          <p:nvPr/>
        </p:nvSpPr>
        <p:spPr>
          <a:xfrm>
            <a:off x="8394192" y="2898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其他建議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8394192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11件</a:t>
            </a:r>
            <a:pPr indent="0" marL="0">
              <a:buNone/>
            </a:pPr>
            <a:r>
              <a:rPr lang="en-US" sz="11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14.5%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8" name="Shape 41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9" name="Shape 42"/>
          <p:cNvSpPr/>
          <p:nvPr/>
        </p:nvSpPr>
        <p:spPr>
          <a:xfrm>
            <a:off x="7772400" y="4151376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6FB"/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7772400" y="4151376"/>
            <a:ext cx="54864" cy="118872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1" name="Text 44"/>
          <p:cNvSpPr/>
          <p:nvPr/>
        </p:nvSpPr>
        <p:spPr>
          <a:xfrm>
            <a:off x="7918704" y="4261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700" dirty="0"/>
          </a:p>
        </p:txBody>
      </p:sp>
      <p:sp>
        <p:nvSpPr>
          <p:cNvPr id="52" name="Text 45"/>
          <p:cNvSpPr/>
          <p:nvPr/>
        </p:nvSpPr>
        <p:spPr>
          <a:xfrm>
            <a:off x="8394192" y="4242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endParaRPr lang="en-US" sz="1250" dirty="0"/>
          </a:p>
        </p:txBody>
      </p:sp>
      <p:sp>
        <p:nvSpPr>
          <p:cNvPr id="53" name="Text 46"/>
          <p:cNvSpPr/>
          <p:nvPr/>
        </p:nvSpPr>
        <p:spPr>
          <a:xfrm>
            <a:off x="8394192" y="4626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8件</a:t>
            </a:r>
            <a:pPr indent="0" marL="0">
              <a:buNone/>
            </a:pPr>
            <a:r>
              <a:rPr lang="en-US" sz="11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10.5%</a:t>
            </a:r>
            <a:endParaRPr lang="en-US" sz="1700" dirty="0"/>
          </a:p>
        </p:txBody>
      </p:sp>
      <p:sp>
        <p:nvSpPr>
          <p:cNvPr id="54" name="Shape 47"/>
          <p:cNvSpPr/>
          <p:nvPr/>
        </p:nvSpPr>
        <p:spPr>
          <a:xfrm>
            <a:off x="8394192" y="5138928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5" name="Shape 48"/>
          <p:cNvSpPr/>
          <p:nvPr/>
        </p:nvSpPr>
        <p:spPr>
          <a:xfrm>
            <a:off x="8394192" y="5138928"/>
            <a:ext cx="2327564" cy="64008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6" name="Shape 49"/>
          <p:cNvSpPr/>
          <p:nvPr/>
        </p:nvSpPr>
        <p:spPr>
          <a:xfrm>
            <a:off x="7772400" y="5495544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5F7FF"/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7772400" y="5495544"/>
            <a:ext cx="54864" cy="118872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58" name="Text 51"/>
          <p:cNvSpPr/>
          <p:nvPr/>
        </p:nvSpPr>
        <p:spPr>
          <a:xfrm>
            <a:off x="7918704" y="56052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700" dirty="0"/>
          </a:p>
        </p:txBody>
      </p:sp>
      <p:sp>
        <p:nvSpPr>
          <p:cNvPr id="59" name="Text 52"/>
          <p:cNvSpPr/>
          <p:nvPr/>
        </p:nvSpPr>
        <p:spPr>
          <a:xfrm>
            <a:off x="8394192" y="5586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APP畫面顯示與機台狀態不符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8394192" y="5971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4件</a:t>
            </a:r>
            <a:pPr indent="0" marL="0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5.3%</a:t>
            </a:r>
            <a:endParaRPr lang="en-US" sz="1700" dirty="0"/>
          </a:p>
        </p:txBody>
      </p:sp>
      <p:sp>
        <p:nvSpPr>
          <p:cNvPr id="61" name="Shape 54"/>
          <p:cNvSpPr/>
          <p:nvPr/>
        </p:nvSpPr>
        <p:spPr>
          <a:xfrm>
            <a:off x="8394192" y="6483096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2" name="Shape 55"/>
          <p:cNvSpPr/>
          <p:nvPr/>
        </p:nvSpPr>
        <p:spPr>
          <a:xfrm>
            <a:off x="8394192" y="6483096"/>
            <a:ext cx="1163782" cy="64008"/>
          </a:xfrm>
          <a:prstGeom prst="rect">
            <a:avLst/>
          </a:prstGeom>
          <a:solidFill>
            <a:srgbClr val="060E9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客訴機台類型與高頻站點分析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第35週（08/24 ~ 08/30）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7" name="Image 0" descr="D:\info\0507_Weekly-Report\Operations-Weekly-Report\automation\icons\recycl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收瓶機 ／ 方舟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09194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/>
        </p:spPr>
      </p:sp>
      <p:sp>
        <p:nvSpPr>
          <p:cNvPr id="10" name="Text 7"/>
          <p:cNvSpPr/>
          <p:nvPr/>
        </p:nvSpPr>
        <p:spPr>
          <a:xfrm>
            <a:off x="409194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58件 (98.3%)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滿艙問題（回收箱／寶特瓶）</a:t>
            </a:r>
            <a:pPr indent="0" marL="0">
              <a:buNone/>
            </a:pP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29.3% (17件)</a:t>
            </a:r>
            <a:endParaRPr lang="en-US" sz="1600" dirty="0"/>
          </a:p>
        </p:txBody>
      </p:sp>
      <p:pic>
        <p:nvPicPr>
          <p:cNvPr id="14" name="Image 1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03120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最高回報站點：A｜桃園/全聯福利中心大溪員林店站（2件）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521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17" name="Text 13"/>
          <p:cNvSpPr/>
          <p:nvPr/>
        </p:nvSpPr>
        <p:spPr>
          <a:xfrm>
            <a:off x="69494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4300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機台當機/無回應</a:t>
            </a:r>
            <a:pPr indent="0" marL="0">
              <a:buNone/>
            </a:pP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13.8% (8件)</a:t>
            </a:r>
            <a:endParaRPr lang="en-US" sz="1600" dirty="0"/>
          </a:p>
        </p:txBody>
      </p:sp>
      <p:pic>
        <p:nvPicPr>
          <p:cNvPr id="19" name="Image 2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61360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最高回報站點：E｜臺南/迷客夏臺南華平店站（4件）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8521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22" name="Text 17"/>
          <p:cNvSpPr/>
          <p:nvPr/>
        </p:nvSpPr>
        <p:spPr>
          <a:xfrm>
            <a:off x="69494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4300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pPr indent="0" marL="0">
              <a:buNone/>
            </a:pP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12.1% (7件)</a:t>
            </a:r>
            <a:endParaRPr lang="en-US" sz="1600" dirty="0"/>
          </a:p>
        </p:txBody>
      </p:sp>
      <p:pic>
        <p:nvPicPr>
          <p:cNvPr id="24" name="Image 3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19600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最高回報站點：D｜新竹/全家芎林飛鳳店站（1件）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4078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27" name="Image 4" descr="D:\info\0507_Weekly-Report\Operations-Weekly-Report\automation\icons\battery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0698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3572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二代電池機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996696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</p:sp>
      <p:sp>
        <p:nvSpPr>
          <p:cNvPr id="30" name="Text 23"/>
          <p:cNvSpPr/>
          <p:nvPr/>
        </p:nvSpPr>
        <p:spPr>
          <a:xfrm>
            <a:off x="996696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1件 (1.7%)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6023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32" name="Text 25"/>
          <p:cNvSpPr/>
          <p:nvPr/>
        </p:nvSpPr>
        <p:spPr>
          <a:xfrm>
            <a:off x="656996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01802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pPr indent="0" marL="0">
              <a:buNone/>
            </a:pP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100% (1件)</a:t>
            </a:r>
            <a:endParaRPr lang="en-US" sz="1600" dirty="0"/>
          </a:p>
        </p:txBody>
      </p:sp>
      <p:pic>
        <p:nvPicPr>
          <p:cNvPr id="34" name="Image 5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2103120"/>
            <a:ext cx="137160" cy="1371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0090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最高回報站點：B｜桃園/小北百貨桃園大有店站（1件）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365760" y="525780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AE0B8"/>
          </a:solidFill>
          <a:ln w="15875">
            <a:solidFill>
              <a:srgbClr val="FFCE00"/>
            </a:solidFill>
            <a:prstDash val="solid"/>
          </a:ln>
        </p:spPr>
      </p:sp>
      <p:pic>
        <p:nvPicPr>
          <p:cNvPr id="37" name="Image 6" descr="D:\info\0507_Weekly-Report\Operations-Weekly-Report\automation\icons\war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477256"/>
            <a:ext cx="310896" cy="31089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005840" y="5349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【本週融合洞察】收瓶機客訴集中於「滿艙問題（回收箱／寶特瓶）」（29.3%，17件），最高回報站點為 A｜桃園/全聯福利中心大溪員林店站（2件），建議優先派工檢修；電池機客訴則集中於「點數未入帳號」（100.0%，1件），建議持續追蹤。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月低回收量站點改善清單 Top 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675120" y="256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資料更新日期：2026/09/04（區間2026/08/05-09/04）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371600"/>
                <a:gridCol w="914400"/>
                <a:gridCol w="2423160"/>
                <a:gridCol w="1371600"/>
                <a:gridCol w="1554480"/>
                <a:gridCol w="164592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等級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Hive排名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（總540）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縣市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站點名稱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機型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租賃/買斷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近30日合計（瓶）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月增減率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528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衛生福利部雙和醫院第一醫療大樓站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529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南山高中大中一樓站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513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全聯福利中心三民十全三店站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112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持平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512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全聯福利中心小港宏平店站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823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持平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511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屏東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全聯福利中心屏東瑞民店站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1,075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持平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510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雲林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全聯福利中心林內中正店站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1,100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持平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E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466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久昌好日和站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1,100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持平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E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450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嘉義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嘉義新港圖書館站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1,100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持平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509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豐譽億載安居站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1,162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持平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508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健美洋行南一中體育館站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1,392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持平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66460" y="129844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66460" y="1298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0" y="12984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9" name="Image 0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353312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07808" y="12984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966460" y="16824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66460" y="16824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966460" y="206654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66460" y="20665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66460" y="245059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66460" y="2450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66460" y="283464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66460" y="28346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966460" y="32186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966460" y="32186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966460" y="360273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66460" y="3602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315200" y="360273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24" name="Image 1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16" y="3657600"/>
            <a:ext cx="146304" cy="14630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607808" y="3602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966460" y="398678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966460" y="39867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966460" y="437083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966460" y="4370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7315200" y="437083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31" name="Image 2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4425696"/>
            <a:ext cx="146304" cy="14630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607808" y="4370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966460" y="475488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966460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65760" y="5276088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5F7FF"/>
          </a:solidFill>
          <a:ln w="9525">
            <a:solidFill>
              <a:srgbClr val="8EB9C9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94360" y="53492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資料來源：Hive，一般站依近 30 個台灣日曆日實際清運的塑膠＋鋁罐瓶數分 S～F；三台以上有效收瓶機獨立列為 ARK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594360" y="5596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等級+加分/瓶量：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594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9525">
            <a:solidFill>
              <a:srgbClr val="FF500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94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S+18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1133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17,000瓶以上</a:t>
            </a:r>
            <a:endParaRPr lang="en-US" sz="700" dirty="0"/>
          </a:p>
        </p:txBody>
      </p:sp>
      <p:sp>
        <p:nvSpPr>
          <p:cNvPr id="41" name="Shape 35"/>
          <p:cNvSpPr/>
          <p:nvPr/>
        </p:nvSpPr>
        <p:spPr>
          <a:xfrm>
            <a:off x="1965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9525">
            <a:solidFill>
              <a:srgbClr val="0076A9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1965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A+12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2505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13,300～16,999瓶</a:t>
            </a:r>
            <a:endParaRPr lang="en-US" sz="700" dirty="0"/>
          </a:p>
        </p:txBody>
      </p:sp>
      <p:sp>
        <p:nvSpPr>
          <p:cNvPr id="44" name="Shape 38"/>
          <p:cNvSpPr/>
          <p:nvPr/>
        </p:nvSpPr>
        <p:spPr>
          <a:xfrm>
            <a:off x="3337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9525">
            <a:solidFill>
              <a:srgbClr val="060E9F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3337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B+8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3877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11,100～13,299瓶</a:t>
            </a:r>
            <a:endParaRPr lang="en-US" sz="700" dirty="0"/>
          </a:p>
        </p:txBody>
      </p:sp>
      <p:sp>
        <p:nvSpPr>
          <p:cNvPr id="47" name="Shape 41"/>
          <p:cNvSpPr/>
          <p:nvPr/>
        </p:nvSpPr>
        <p:spPr>
          <a:xfrm>
            <a:off x="47091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4F86A0">
              <a:alpha val="15000"/>
            </a:srgbClr>
          </a:solidFill>
          <a:ln w="9525">
            <a:solidFill>
              <a:srgbClr val="4F86A0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7091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6A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C+4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52486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9,000～11,099瓶</a:t>
            </a:r>
            <a:endParaRPr lang="en-US" sz="700" dirty="0"/>
          </a:p>
        </p:txBody>
      </p:sp>
      <p:sp>
        <p:nvSpPr>
          <p:cNvPr id="50" name="Shape 44"/>
          <p:cNvSpPr/>
          <p:nvPr/>
        </p:nvSpPr>
        <p:spPr>
          <a:xfrm>
            <a:off x="60807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0807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D+2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66202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6,900～8,999瓶</a:t>
            </a:r>
            <a:endParaRPr lang="en-US" sz="700" dirty="0"/>
          </a:p>
        </p:txBody>
      </p:sp>
      <p:sp>
        <p:nvSpPr>
          <p:cNvPr id="53" name="Shape 47"/>
          <p:cNvSpPr/>
          <p:nvPr/>
        </p:nvSpPr>
        <p:spPr>
          <a:xfrm>
            <a:off x="7452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7452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E+1</a:t>
            </a:r>
            <a:endParaRPr lang="en-US" sz="850" dirty="0"/>
          </a:p>
        </p:txBody>
      </p:sp>
      <p:sp>
        <p:nvSpPr>
          <p:cNvPr id="55" name="Text 49"/>
          <p:cNvSpPr/>
          <p:nvPr/>
        </p:nvSpPr>
        <p:spPr>
          <a:xfrm>
            <a:off x="7991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4,100～6,899瓶</a:t>
            </a:r>
            <a:endParaRPr lang="en-US" sz="700" dirty="0"/>
          </a:p>
        </p:txBody>
      </p:sp>
      <p:sp>
        <p:nvSpPr>
          <p:cNvPr id="56" name="Shape 50"/>
          <p:cNvSpPr/>
          <p:nvPr/>
        </p:nvSpPr>
        <p:spPr>
          <a:xfrm>
            <a:off x="8823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8823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F+0</a:t>
            </a:r>
            <a:endParaRPr lang="en-US" sz="850" dirty="0"/>
          </a:p>
        </p:txBody>
      </p:sp>
      <p:sp>
        <p:nvSpPr>
          <p:cNvPr id="58" name="Text 52"/>
          <p:cNvSpPr/>
          <p:nvPr/>
        </p:nvSpPr>
        <p:spPr>
          <a:xfrm>
            <a:off x="9363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4,100瓶以下</a:t>
            </a:r>
            <a:endParaRPr lang="en-US" sz="700" dirty="0"/>
          </a:p>
        </p:txBody>
      </p:sp>
      <p:sp>
        <p:nvSpPr>
          <p:cNvPr id="59" name="Shape 53"/>
          <p:cNvSpPr/>
          <p:nvPr/>
        </p:nvSpPr>
        <p:spPr>
          <a:xfrm>
            <a:off x="10195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9C7A00">
              <a:alpha val="15000"/>
            </a:srgbClr>
          </a:solidFill>
          <a:ln w="9525">
            <a:solidFill>
              <a:srgbClr val="9C7A00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10195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ARK+8</a:t>
            </a:r>
            <a:endParaRPr lang="en-US" sz="850" dirty="0"/>
          </a:p>
        </p:txBody>
      </p:sp>
      <p:sp>
        <p:nvSpPr>
          <p:cNvPr id="61" name="Text 55"/>
          <p:cNvSpPr/>
          <p:nvPr/>
        </p:nvSpPr>
        <p:spPr>
          <a:xfrm>
            <a:off x="10735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3台有效收瓶機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73152" cy="310896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2801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客訴趨勢洞察（MoM／QoQ）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326880" y="146304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0" y="1463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第35週（08/24 ~ 08/30）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本月客訴總量（26年8月）</a:t>
            </a:r>
            <a:endParaRPr lang="en-US" sz="1100" dirty="0"/>
          </a:p>
        </p:txBody>
      </p:sp>
      <p:pic>
        <p:nvPicPr>
          <p:cNvPr id="9" name="Image 0" descr="D:\info\0507_Weekly-Report\Operations-Weekly-Report\automation\icons\heads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3764" y="777240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508 </a:t>
            </a:r>
            <a:pPr indent="0" marL="0">
              <a:buNone/>
            </a:pPr>
            <a:r>
              <a:rPr lang="en-US" sz="12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4864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較上月（678件）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8998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</p:sp>
      <p:sp>
        <p:nvSpPr>
          <p:cNvPr id="13" name="Text 10"/>
          <p:cNvSpPr/>
          <p:nvPr/>
        </p:nvSpPr>
        <p:spPr>
          <a:xfrm>
            <a:off x="218998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▼25.1%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6898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6898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</p:sp>
      <p:sp>
        <p:nvSpPr>
          <p:cNvPr id="16" name="Text 13"/>
          <p:cNvSpPr/>
          <p:nvPr/>
        </p:nvSpPr>
        <p:spPr>
          <a:xfrm>
            <a:off x="345186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客訴密度指標（件/站）</a:t>
            </a:r>
            <a:endParaRPr lang="en-US" sz="1100" dirty="0"/>
          </a:p>
        </p:txBody>
      </p:sp>
      <p:pic>
        <p:nvPicPr>
          <p:cNvPr id="17" name="Image 1" descr="D:\info\0507_Weekly-Report\Operations-Weekly-Report\automation\icons\pin_dark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77724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186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0.97 </a:t>
            </a:r>
            <a:pPr indent="0" marL="0">
              <a:buNone/>
            </a:pP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件/站</a:t>
            </a:r>
            <a:endParaRPr lang="en-US" sz="2500" dirty="0"/>
          </a:p>
        </p:txBody>
      </p:sp>
      <p:sp>
        <p:nvSpPr>
          <p:cNvPr id="19" name="Text 15"/>
          <p:cNvSpPr/>
          <p:nvPr/>
        </p:nvSpPr>
        <p:spPr>
          <a:xfrm>
            <a:off x="345186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每站平均客訴量，暫代萬人客訴率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9320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</p:sp>
      <p:sp>
        <p:nvSpPr>
          <p:cNvPr id="21" name="Text 17"/>
          <p:cNvSpPr/>
          <p:nvPr/>
        </p:nvSpPr>
        <p:spPr>
          <a:xfrm>
            <a:off x="509320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▼24.8%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17220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7220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</p:sp>
      <p:sp>
        <p:nvSpPr>
          <p:cNvPr id="24" name="Text 20"/>
          <p:cNvSpPr/>
          <p:nvPr/>
        </p:nvSpPr>
        <p:spPr>
          <a:xfrm>
            <a:off x="635508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本季客訴總量（26年Q2）</a:t>
            </a:r>
            <a:endParaRPr lang="en-US" sz="1100" dirty="0"/>
          </a:p>
        </p:txBody>
      </p:sp>
      <p:pic>
        <p:nvPicPr>
          <p:cNvPr id="25" name="Image 2" descr="D:\info\0507_Weekly-Report\Operations-Weekly-Report\automation\icons\warn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04" y="777240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5508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2078 </a:t>
            </a:r>
            <a:pPr indent="0" marL="0">
              <a:buNone/>
            </a:pPr>
            <a:r>
              <a:rPr lang="en-US" sz="12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500" dirty="0"/>
          </a:p>
        </p:txBody>
      </p:sp>
      <p:sp>
        <p:nvSpPr>
          <p:cNvPr id="27" name="Text 22"/>
          <p:cNvSpPr/>
          <p:nvPr/>
        </p:nvSpPr>
        <p:spPr>
          <a:xfrm>
            <a:off x="635508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較上季（2125件）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799642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</p:sp>
      <p:sp>
        <p:nvSpPr>
          <p:cNvPr id="29" name="Text 24"/>
          <p:cNvSpPr/>
          <p:nvPr/>
        </p:nvSpPr>
        <p:spPr>
          <a:xfrm>
            <a:off x="799642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▼2.2%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907542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07542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</p:sp>
      <p:sp>
        <p:nvSpPr>
          <p:cNvPr id="32" name="Text 27"/>
          <p:cNvSpPr/>
          <p:nvPr/>
        </p:nvSpPr>
        <p:spPr>
          <a:xfrm>
            <a:off x="925830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機台問題佔比（26年Q2）</a:t>
            </a:r>
            <a:endParaRPr lang="en-US" sz="1100" dirty="0"/>
          </a:p>
        </p:txBody>
      </p:sp>
      <p:pic>
        <p:nvPicPr>
          <p:cNvPr id="33" name="Image 3" descr="D:\info\0507_Weekly-Report\Operations-Weekly-Report\automation\icons\recycl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3424" y="777240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5830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45.4</a:t>
            </a:r>
            <a:pPr indent="0" marL="0">
              <a:buNone/>
            </a:pPr>
            <a:r>
              <a:rPr lang="en-US" sz="12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500" dirty="0"/>
          </a:p>
        </p:txBody>
      </p:sp>
      <p:sp>
        <p:nvSpPr>
          <p:cNvPr id="35" name="Text 29"/>
          <p:cNvSpPr/>
          <p:nvPr/>
        </p:nvSpPr>
        <p:spPr>
          <a:xfrm>
            <a:off x="925830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較上季佔比變化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1089964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37" name="Text 31"/>
          <p:cNvSpPr/>
          <p:nvPr/>
        </p:nvSpPr>
        <p:spPr>
          <a:xfrm>
            <a:off x="1089964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▼6.8%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365760" y="2075688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9" name="Text 33"/>
          <p:cNvSpPr/>
          <p:nvPr/>
        </p:nvSpPr>
        <p:spPr>
          <a:xfrm>
            <a:off x="502920" y="204825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總客訴量與客訴密度趨勢圖（MoM，近6個月）</a:t>
            </a:r>
            <a:endParaRPr lang="en-US" sz="13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365760" y="2423160"/>
          <a:ext cx="5212080" cy="1938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1" name="Shape 34"/>
          <p:cNvSpPr/>
          <p:nvPr/>
        </p:nvSpPr>
        <p:spPr>
          <a:xfrm>
            <a:off x="5852160" y="2075688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2" name="Text 35"/>
          <p:cNvSpPr/>
          <p:nvPr/>
        </p:nvSpPr>
        <p:spPr>
          <a:xfrm>
            <a:off x="5989320" y="2048256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客訴主題結構比變化（QoQ）</a:t>
            </a:r>
            <a:endParaRPr lang="en-US" sz="1300" dirty="0"/>
          </a:p>
        </p:txBody>
      </p:sp>
      <p:graphicFrame>
        <p:nvGraphicFramePr>
          <p:cNvPr id="43" name="Chart 1" descr=""/>
          <p:cNvGraphicFramePr/>
          <p:nvPr/>
        </p:nvGraphicFramePr>
        <p:xfrm>
          <a:off x="5852160" y="2423160"/>
          <a:ext cx="5943600" cy="1938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4" name="Shape 36"/>
          <p:cNvSpPr/>
          <p:nvPr/>
        </p:nvSpPr>
        <p:spPr>
          <a:xfrm>
            <a:off x="365760" y="461772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5" name="Text 37"/>
          <p:cNvSpPr/>
          <p:nvPr/>
        </p:nvSpPr>
        <p:spPr>
          <a:xfrm>
            <a:off x="502920" y="4590288"/>
            <a:ext cx="11292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客服觀點與改善行動建議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365760" y="4946904"/>
            <a:ext cx="11430000" cy="566928"/>
          </a:xfrm>
          <a:prstGeom prst="roundRect">
            <a:avLst>
              <a:gd name="adj" fmla="val 9677"/>
            </a:avLst>
          </a:prstGeom>
          <a:solidFill>
            <a:srgbClr val="060E9F"/>
          </a:solidFill>
          <a:ln w="9525">
            <a:solidFill>
              <a:srgbClr val="060E9F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365760" y="4946904"/>
            <a:ext cx="54864" cy="566928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48" name="Text 40"/>
          <p:cNvSpPr/>
          <p:nvPr/>
        </p:nvSpPr>
        <p:spPr>
          <a:xfrm>
            <a:off x="566928" y="5001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重點結論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2194560" y="50017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本月客訴量較上月下降 25.1%，本季較上季下降 2.2%，整體呈現改善趨勢。 本季變化最大：「APP帳號設定問題」上升 13.7 個百分點，建議優先關注。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365760" y="5632704"/>
            <a:ext cx="11430000" cy="530352"/>
          </a:xfrm>
          <a:prstGeom prst="roundRect">
            <a:avLst>
              <a:gd name="adj" fmla="val 10345"/>
            </a:avLst>
          </a:prstGeom>
          <a:solidFill>
            <a:srgbClr val="FFF4EF"/>
          </a:solidFill>
          <a:ln w="9525">
            <a:solidFill>
              <a:srgbClr val="FF5000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365760" y="5632704"/>
            <a:ext cx="54864" cy="53035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52" name="Text 44"/>
          <p:cNvSpPr/>
          <p:nvPr/>
        </p:nvSpPr>
        <p:spPr>
          <a:xfrm>
            <a:off x="566928" y="56875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本季結構變化重點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2194560" y="56875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本季「APP帳號設定問題」佔比較上季上升 13.7 個百分點（8.0% → 21.7%），為本季結構變化最大的問題類型，建議追蹤後續走勢並評估對應改善措施。（資料累積中，須滿一年以上同季比較才能判斷是否為季節性規律）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2026-09-04T03:46:12Z</dcterms:created>
  <dcterms:modified xsi:type="dcterms:W3CDTF">2026-09-04T03:46:12Z</dcterms:modified>
</cp:coreProperties>
</file>