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10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佔比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0E9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C9C-4F5D-B669-38CA8C155DF0}"/>
              </c:ext>
            </c:extLst>
          </c:dPt>
          <c:dPt>
            <c:idx val="1"/>
            <c:bubble3D val="0"/>
            <c:spPr>
              <a:solidFill>
                <a:srgbClr val="FF5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C9C-4F5D-B669-38CA8C155DF0}"/>
              </c:ext>
            </c:extLst>
          </c:dPt>
          <c:dPt>
            <c:idx val="2"/>
            <c:bubble3D val="0"/>
            <c:spPr>
              <a:solidFill>
                <a:srgbClr val="0076A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C9C-4F5D-B669-38CA8C155DF0}"/>
              </c:ext>
            </c:extLst>
          </c:dPt>
          <c:dPt>
            <c:idx val="3"/>
            <c:bubble3D val="0"/>
            <c:spPr>
              <a:solidFill>
                <a:srgbClr val="FFCE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C9C-4F5D-B669-38CA8C155DF0}"/>
              </c:ext>
            </c:extLst>
          </c:dPt>
          <c:dPt>
            <c:idx val="4"/>
            <c:bubble3D val="0"/>
            <c:spPr>
              <a:solidFill>
                <a:srgbClr val="8EB8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C9C-4F5D-B669-38CA8C155DF0}"/>
              </c:ext>
            </c:extLst>
          </c:dPt>
          <c:dPt>
            <c:idx val="5"/>
            <c:bubble3D val="0"/>
            <c:spPr>
              <a:solidFill>
                <a:srgbClr val="FAE0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9C9C-4F5D-B669-38CA8C155DF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C9C-4F5D-B669-38CA8C155DF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C9C-4F5D-B669-38CA8C155DF0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C9C-4F5D-B669-38CA8C155DF0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C9C-4F5D-B669-38CA8C155DF0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C9C-4F5D-B669-38CA8C155DF0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9C9C-4F5D-B669-38CA8C155DF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zh-TW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APP帳號設定問題</c:v>
                </c:pt>
                <c:pt idx="1">
                  <c:v>機台問題</c:v>
                </c:pt>
                <c:pt idx="2">
                  <c:v>回收點數問題</c:v>
                </c:pt>
                <c:pt idx="3">
                  <c:v>顧客關係</c:v>
                </c:pt>
                <c:pt idx="4">
                  <c:v>優惠券問題</c:v>
                </c:pt>
                <c:pt idx="5">
                  <c:v>APP使用問題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</c:v>
                </c:pt>
                <c:pt idx="1">
                  <c:v>117</c:v>
                </c:pt>
                <c:pt idx="2">
                  <c:v>20</c:v>
                </c:pt>
                <c:pt idx="3">
                  <c:v>26</c:v>
                </c:pt>
                <c:pt idx="4">
                  <c:v>12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9C9C-4F5D-B669-38CA8C155D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機台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5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CC8-4DC7-ADC3-5F241C881981}"/>
              </c:ext>
            </c:extLst>
          </c:dPt>
          <c:dPt>
            <c:idx val="1"/>
            <c:bubble3D val="0"/>
            <c:spPr>
              <a:solidFill>
                <a:srgbClr val="060E9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CC8-4DC7-ADC3-5F241C881981}"/>
              </c:ext>
            </c:extLst>
          </c:dPt>
          <c:dPt>
            <c:idx val="2"/>
            <c:bubble3D val="0"/>
            <c:spPr>
              <a:solidFill>
                <a:srgbClr val="0076A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CC8-4DC7-ADC3-5F241C881981}"/>
              </c:ext>
            </c:extLst>
          </c:dPt>
          <c:dPt>
            <c:idx val="3"/>
            <c:bubble3D val="0"/>
            <c:spPr>
              <a:solidFill>
                <a:srgbClr val="FFCE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CC8-4DC7-ADC3-5F241C881981}"/>
              </c:ext>
            </c:extLst>
          </c:dPt>
          <c:dPt>
            <c:idx val="4"/>
            <c:bubble3D val="0"/>
            <c:spPr>
              <a:solidFill>
                <a:srgbClr val="8EB8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CC8-4DC7-ADC3-5F241C881981}"/>
              </c:ext>
            </c:extLst>
          </c:dPt>
          <c:dPt>
            <c:idx val="5"/>
            <c:bubble3D val="0"/>
            <c:spPr>
              <a:solidFill>
                <a:srgbClr val="B8BEC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CC8-4DC7-ADC3-5F241C881981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CC8-4DC7-ADC3-5F241C881981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CC8-4DC7-ADC3-5F241C881981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CC8-4DC7-ADC3-5F241C881981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CC8-4DC7-ADC3-5F241C881981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CC8-4DC7-ADC3-5F241C881981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BCC8-4DC7-ADC3-5F241C88198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zh-TW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寶特瓶滿艙</c:v>
                </c:pt>
                <c:pt idx="1">
                  <c:v>回收箱滿艙</c:v>
                </c:pt>
                <c:pt idx="2">
                  <c:v>履帶未作動或異常抖動</c:v>
                </c:pt>
                <c:pt idx="3">
                  <c:v>辨識失敗異常或錯誤</c:v>
                </c:pt>
                <c:pt idx="4">
                  <c:v>機台需維護/故障提醒</c:v>
                </c:pt>
                <c:pt idx="5">
                  <c:v>其他機台問題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27</c:v>
                </c:pt>
                <c:pt idx="1">
                  <c:v>24</c:v>
                </c:pt>
                <c:pt idx="2">
                  <c:v>12</c:v>
                </c:pt>
                <c:pt idx="3">
                  <c:v>11</c:v>
                </c:pt>
                <c:pt idx="4">
                  <c:v>11</c:v>
                </c:pt>
                <c:pt idx="5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BCC8-4DC7-ADC3-5F241C8819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2193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54864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客服課　07/20 ~ 07/26　客訴問題分析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64592" y="329184"/>
            <a:ext cx="45720" cy="201168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246888" y="33832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客訴趨勢分析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5906774"/>
              </p:ext>
            </p:extLst>
          </p:nvPr>
        </p:nvGraphicFramePr>
        <p:xfrm>
          <a:off x="329838" y="529535"/>
          <a:ext cx="8567276" cy="1764975"/>
        </p:xfrm>
        <a:graphic>
          <a:graphicData uri="http://schemas.openxmlformats.org/drawingml/2006/table">
            <a:tbl>
              <a:tblPr/>
              <a:tblGrid>
                <a:gridCol w="10017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94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94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94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9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95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95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0139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5299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週次/期間</a:t>
                      </a:r>
                      <a:endParaRPr lang="en-US" sz="9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5404" marR="95404" marT="47702" marB="47702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收瓶機/方舟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5404" marR="95404" marT="47702" marB="47702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二代電池機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5404" marR="95404" marT="47702" marB="47702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註冊帳號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5404" marR="95404" marT="47702" marB="47702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回收點數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5404" marR="95404" marT="47702" marB="47702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優惠券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5404" marR="95404" marT="47702" marB="47702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APP使用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5404" marR="95404" marT="47702" marB="47702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顧客關係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5404" marR="95404" marT="47702" marB="47702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加總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5404" marR="95404" marT="47702" marB="47702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99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27週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06/29-07/05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5404" marR="95404" marT="47702" marB="4770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103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5404" marR="95404" marT="47702" marB="4770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6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5404" marR="95404" marT="47702" marB="4770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9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5404" marR="95404" marT="47702" marB="4770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7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5404" marR="95404" marT="47702" marB="4770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14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5404" marR="95404" marT="47702" marB="4770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8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5404" marR="95404" marT="47702" marB="4770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24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5404" marR="95404" marT="47702" marB="4770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152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5404" marR="95404" marT="47702" marB="4770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99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28週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07/06-07/12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5404" marR="95404" marT="47702" marB="4770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112</a:t>
                      </a:r>
                      <a:r>
                        <a:rPr lang="en-US" sz="70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▲9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5404" marR="95404" marT="47702" marB="4770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7</a:t>
                      </a:r>
                      <a:r>
                        <a:rPr lang="en-US" sz="70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▲1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5404" marR="95404" marT="47702" marB="4770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</a:t>
                      </a:r>
                      <a:r>
                        <a:rPr lang="en-US" sz="70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▼7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5404" marR="95404" marT="47702" marB="4770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14</a:t>
                      </a:r>
                      <a:r>
                        <a:rPr lang="en-US" sz="70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▲7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5404" marR="95404" marT="47702" marB="4770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10</a:t>
                      </a:r>
                      <a:r>
                        <a:rPr lang="en-US" sz="70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▼4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5404" marR="95404" marT="47702" marB="4770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8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5404" marR="95404" marT="47702" marB="4770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12</a:t>
                      </a:r>
                      <a:r>
                        <a:rPr lang="en-US" sz="70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▼12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5404" marR="95404" marT="47702" marB="4770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138</a:t>
                      </a:r>
                      <a:r>
                        <a:rPr lang="en-US" sz="70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▼14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5404" marR="95404" marT="47702" marB="4770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99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29週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07/13-07/19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5404" marR="95404" marT="47702" marB="4770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97</a:t>
                      </a:r>
                      <a:r>
                        <a:rPr lang="en-US" sz="70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▼15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5404" marR="95404" marT="47702" marB="4770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5</a:t>
                      </a:r>
                      <a:r>
                        <a:rPr lang="en-US" sz="70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▼2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5404" marR="95404" marT="47702" marB="4770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7</a:t>
                      </a:r>
                      <a:r>
                        <a:rPr lang="en-US" sz="70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▲5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5404" marR="95404" marT="47702" marB="4770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11</a:t>
                      </a:r>
                      <a:r>
                        <a:rPr lang="en-US" sz="70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▼3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5404" marR="95404" marT="47702" marB="4770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15</a:t>
                      </a:r>
                      <a:r>
                        <a:rPr lang="en-US" sz="70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▲5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5404" marR="95404" marT="47702" marB="4770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</a:t>
                      </a:r>
                      <a:r>
                        <a:rPr lang="en-US" sz="70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▼7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5404" marR="95404" marT="47702" marB="4770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18</a:t>
                      </a:r>
                      <a:r>
                        <a:rPr lang="en-US" sz="70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▲6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5404" marR="95404" marT="47702" marB="4770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138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5404" marR="95404" marT="47702" marB="4770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99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30週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07/20-07/26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5404" marR="95404" marT="47702" marB="4770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132</a:t>
                      </a:r>
                      <a:r>
                        <a:rPr lang="en-US" sz="70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▲35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5404" marR="95404" marT="47702" marB="4770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17</a:t>
                      </a:r>
                      <a:r>
                        <a:rPr lang="en-US" sz="70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▲12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5404" marR="95404" marT="47702" marB="4770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6</a:t>
                      </a:r>
                      <a:r>
                        <a:rPr lang="en-US" sz="70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▼1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5404" marR="95404" marT="47702" marB="4770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20</a:t>
                      </a:r>
                      <a:r>
                        <a:rPr lang="en-US" sz="70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▲9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5404" marR="95404" marT="47702" marB="4770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12</a:t>
                      </a:r>
                      <a:r>
                        <a:rPr lang="en-US" sz="70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▼3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5404" marR="95404" marT="47702" marB="4770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4</a:t>
                      </a:r>
                      <a:r>
                        <a:rPr lang="en-US" sz="70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▲3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5404" marR="95404" marT="47702" marB="4770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26</a:t>
                      </a:r>
                      <a:r>
                        <a:rPr lang="en-US" sz="70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▲8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5404" marR="95404" marT="47702" marB="4770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186</a:t>
                      </a:r>
                      <a:r>
                        <a:rPr lang="en-US" sz="70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▲48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5404" marR="95404" marT="47702" marB="47702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64592" y="2404872"/>
            <a:ext cx="45720" cy="201168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4"/>
          <p:cNvSpPr/>
          <p:nvPr/>
        </p:nvSpPr>
        <p:spPr>
          <a:xfrm>
            <a:off x="246888" y="2414016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當週客訴佔比 + 主分類佔比（07/20 ~ 07/26）</a:t>
            </a:r>
            <a:endParaRPr lang="en-US" sz="10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64008" y="2642616"/>
          <a:ext cx="3529584" cy="23408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5"/>
          <p:cNvSpPr/>
          <p:nvPr/>
        </p:nvSpPr>
        <p:spPr>
          <a:xfrm>
            <a:off x="3703320" y="2706624"/>
            <a:ext cx="182880" cy="182880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6"/>
          <p:cNvSpPr/>
          <p:nvPr/>
        </p:nvSpPr>
        <p:spPr>
          <a:xfrm>
            <a:off x="3941064" y="267004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APP帳號設定問題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941064" y="286207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6件　3.2%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703320" y="3095244"/>
            <a:ext cx="182880" cy="182880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9"/>
          <p:cNvSpPr/>
          <p:nvPr/>
        </p:nvSpPr>
        <p:spPr>
          <a:xfrm>
            <a:off x="3941064" y="305866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機台問題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941064" y="325069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117件　62.9%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3703320" y="3483864"/>
            <a:ext cx="182880" cy="182880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2"/>
          <p:cNvSpPr/>
          <p:nvPr/>
        </p:nvSpPr>
        <p:spPr>
          <a:xfrm>
            <a:off x="3941064" y="344728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回收點數問題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941064" y="363931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20件　10.8%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3703320" y="3872484"/>
            <a:ext cx="182880" cy="182880"/>
          </a:xfrm>
          <a:prstGeom prst="rect">
            <a:avLst/>
          </a:prstGeom>
          <a:solidFill>
            <a:srgbClr val="FFCE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5"/>
          <p:cNvSpPr/>
          <p:nvPr/>
        </p:nvSpPr>
        <p:spPr>
          <a:xfrm>
            <a:off x="3941064" y="383590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顧客關係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3941064" y="402793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26件　14%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3703320" y="4261104"/>
            <a:ext cx="182880" cy="182880"/>
          </a:xfrm>
          <a:prstGeom prst="rect">
            <a:avLst/>
          </a:prstGeom>
          <a:solidFill>
            <a:srgbClr val="8EB8C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18"/>
          <p:cNvSpPr/>
          <p:nvPr/>
        </p:nvSpPr>
        <p:spPr>
          <a:xfrm>
            <a:off x="3941064" y="422452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優惠券問題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3941064" y="441655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12件　6.5%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3703320" y="4649724"/>
            <a:ext cx="182880" cy="182880"/>
          </a:xfrm>
          <a:prstGeom prst="rect">
            <a:avLst/>
          </a:prstGeom>
          <a:solidFill>
            <a:srgbClr val="FAE0B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1"/>
          <p:cNvSpPr/>
          <p:nvPr/>
        </p:nvSpPr>
        <p:spPr>
          <a:xfrm>
            <a:off x="3941064" y="461314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APP使用問題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3941064" y="480517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4件　2.2%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5788152" y="2642616"/>
            <a:ext cx="3264408" cy="800100"/>
          </a:xfrm>
          <a:prstGeom prst="rect">
            <a:avLst/>
          </a:prstGeom>
          <a:solidFill>
            <a:srgbClr val="FFF4EF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4"/>
          <p:cNvSpPr/>
          <p:nvPr/>
        </p:nvSpPr>
        <p:spPr>
          <a:xfrm>
            <a:off x="5788152" y="2642616"/>
            <a:ext cx="45720" cy="800100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5"/>
          <p:cNvSpPr/>
          <p:nvPr/>
        </p:nvSpPr>
        <p:spPr>
          <a:xfrm>
            <a:off x="5879592" y="269748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089904" y="26974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點數未入帳號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6089904" y="2916936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20件・10.8%</a:t>
            </a:r>
            <a:endParaRPr lang="en-US" sz="1800" dirty="0"/>
          </a:p>
        </p:txBody>
      </p:sp>
      <p:sp>
        <p:nvSpPr>
          <p:cNvPr id="32" name="Text 28"/>
          <p:cNvSpPr/>
          <p:nvPr/>
        </p:nvSpPr>
        <p:spPr>
          <a:xfrm>
            <a:off x="8348472" y="2715768"/>
            <a:ext cx="6675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600" dirty="0"/>
          </a:p>
        </p:txBody>
      </p:sp>
      <p:sp>
        <p:nvSpPr>
          <p:cNvPr id="33" name="Shape 29"/>
          <p:cNvSpPr/>
          <p:nvPr/>
        </p:nvSpPr>
        <p:spPr>
          <a:xfrm>
            <a:off x="5833872" y="3387852"/>
            <a:ext cx="3218688" cy="45720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4" name="Shape 30"/>
          <p:cNvSpPr/>
          <p:nvPr/>
        </p:nvSpPr>
        <p:spPr>
          <a:xfrm>
            <a:off x="5833872" y="3387852"/>
            <a:ext cx="347618" cy="45720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5" name="Shape 31"/>
          <p:cNvSpPr/>
          <p:nvPr/>
        </p:nvSpPr>
        <p:spPr>
          <a:xfrm>
            <a:off x="5788152" y="3465576"/>
            <a:ext cx="3264408" cy="800100"/>
          </a:xfrm>
          <a:prstGeom prst="rect">
            <a:avLst/>
          </a:prstGeom>
          <a:solidFill>
            <a:srgbClr val="EEF6FB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Shape 32"/>
          <p:cNvSpPr/>
          <p:nvPr/>
        </p:nvSpPr>
        <p:spPr>
          <a:xfrm>
            <a:off x="5788152" y="3465576"/>
            <a:ext cx="45720" cy="800100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3"/>
          <p:cNvSpPr/>
          <p:nvPr/>
        </p:nvSpPr>
        <p:spPr>
          <a:xfrm>
            <a:off x="5879592" y="352044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76A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6089904" y="352044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許願新增站點/設站建議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089904" y="3739896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6A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9件・4.8%</a:t>
            </a:r>
            <a:endParaRPr lang="en-US" sz="1800" dirty="0"/>
          </a:p>
        </p:txBody>
      </p:sp>
      <p:sp>
        <p:nvSpPr>
          <p:cNvPr id="40" name="Text 36"/>
          <p:cNvSpPr/>
          <p:nvPr/>
        </p:nvSpPr>
        <p:spPr>
          <a:xfrm>
            <a:off x="8348472" y="3538728"/>
            <a:ext cx="6675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600" dirty="0"/>
          </a:p>
        </p:txBody>
      </p:sp>
      <p:sp>
        <p:nvSpPr>
          <p:cNvPr id="41" name="Shape 37"/>
          <p:cNvSpPr/>
          <p:nvPr/>
        </p:nvSpPr>
        <p:spPr>
          <a:xfrm>
            <a:off x="5833872" y="4210812"/>
            <a:ext cx="3218688" cy="45720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2" name="Shape 38"/>
          <p:cNvSpPr/>
          <p:nvPr/>
        </p:nvSpPr>
        <p:spPr>
          <a:xfrm>
            <a:off x="5833872" y="4210812"/>
            <a:ext cx="154497" cy="45720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3" name="Shape 39"/>
          <p:cNvSpPr/>
          <p:nvPr/>
        </p:nvSpPr>
        <p:spPr>
          <a:xfrm>
            <a:off x="5788152" y="4288536"/>
            <a:ext cx="3264408" cy="800100"/>
          </a:xfrm>
          <a:prstGeom prst="rect">
            <a:avLst/>
          </a:prstGeom>
          <a:solidFill>
            <a:srgbClr val="F5F7FF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Shape 40"/>
          <p:cNvSpPr/>
          <p:nvPr/>
        </p:nvSpPr>
        <p:spPr>
          <a:xfrm>
            <a:off x="5788152" y="4288536"/>
            <a:ext cx="45720" cy="800100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5" name="Text 41"/>
          <p:cNvSpPr/>
          <p:nvPr/>
        </p:nvSpPr>
        <p:spPr>
          <a:xfrm>
            <a:off x="5879592" y="434340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900" dirty="0"/>
          </a:p>
        </p:txBody>
      </p:sp>
      <p:sp>
        <p:nvSpPr>
          <p:cNvPr id="46" name="Text 42"/>
          <p:cNvSpPr/>
          <p:nvPr/>
        </p:nvSpPr>
        <p:spPr>
          <a:xfrm>
            <a:off x="6089904" y="434340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其他建議</a:t>
            </a:r>
            <a:endParaRPr lang="en-US" sz="1000" dirty="0"/>
          </a:p>
        </p:txBody>
      </p:sp>
      <p:sp>
        <p:nvSpPr>
          <p:cNvPr id="47" name="Text 43"/>
          <p:cNvSpPr/>
          <p:nvPr/>
        </p:nvSpPr>
        <p:spPr>
          <a:xfrm>
            <a:off x="6089904" y="4562856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7件・3.8%</a:t>
            </a:r>
            <a:endParaRPr lang="en-US" sz="1800" dirty="0"/>
          </a:p>
        </p:txBody>
      </p:sp>
      <p:sp>
        <p:nvSpPr>
          <p:cNvPr id="48" name="Text 44"/>
          <p:cNvSpPr/>
          <p:nvPr/>
        </p:nvSpPr>
        <p:spPr>
          <a:xfrm>
            <a:off x="8348472" y="4361688"/>
            <a:ext cx="6675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600" dirty="0"/>
          </a:p>
        </p:txBody>
      </p:sp>
      <p:sp>
        <p:nvSpPr>
          <p:cNvPr id="49" name="Shape 45"/>
          <p:cNvSpPr/>
          <p:nvPr/>
        </p:nvSpPr>
        <p:spPr>
          <a:xfrm>
            <a:off x="5833872" y="5033772"/>
            <a:ext cx="3218688" cy="45720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0" name="Shape 46"/>
          <p:cNvSpPr/>
          <p:nvPr/>
        </p:nvSpPr>
        <p:spPr>
          <a:xfrm>
            <a:off x="5833872" y="5033772"/>
            <a:ext cx="122310" cy="45720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4A392939-4ECD-DB32-426C-15A67EDADABB}"/>
              </a:ext>
            </a:extLst>
          </p:cNvPr>
          <p:cNvSpPr txBox="1"/>
          <p:nvPr/>
        </p:nvSpPr>
        <p:spPr>
          <a:xfrm>
            <a:off x="7580376" y="2958417"/>
            <a:ext cx="1600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TW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TC" pitchFamily="34" charset="0"/>
                <a:ea typeface="Noto Sans TC" pitchFamily="34" charset="-122"/>
              </a:rPr>
              <a:t>收瓶機*</a:t>
            </a:r>
            <a:r>
              <a:rPr lang="en-US" altLang="zh-TW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TC" pitchFamily="34" charset="0"/>
                <a:ea typeface="Noto Sans TC" pitchFamily="34" charset="-122"/>
              </a:rPr>
              <a:t>13 &amp; </a:t>
            </a:r>
            <a:r>
              <a:rPr lang="zh-TW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TC" pitchFamily="34" charset="0"/>
                <a:ea typeface="Noto Sans TC" pitchFamily="34" charset="-122"/>
              </a:rPr>
              <a:t>電池機*</a:t>
            </a:r>
            <a:r>
              <a:rPr lang="en-US" altLang="zh-TW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TC" pitchFamily="34" charset="0"/>
                <a:ea typeface="Noto Sans TC" pitchFamily="34" charset="-122"/>
              </a:rPr>
              <a:t>4</a:t>
            </a:r>
            <a:endParaRPr lang="en-US" altLang="zh-TW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54864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客服課　07/20 ~ 07/26　機台問題佔比 與 熱門站點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64592" y="329184"/>
            <a:ext cx="45720" cy="201168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246888" y="33832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客訴詳情與分類佔比</a:t>
            </a:r>
            <a:endParaRPr lang="en-US" sz="10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4008" y="475488"/>
          <a:ext cx="2788920" cy="155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2907792" y="530352"/>
            <a:ext cx="137160" cy="137160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4"/>
          <p:cNvSpPr/>
          <p:nvPr/>
        </p:nvSpPr>
        <p:spPr>
          <a:xfrm>
            <a:off x="3090672" y="493776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寶特瓶滿艙　27件（23.1%）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907792" y="754380"/>
            <a:ext cx="137160" cy="137160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6"/>
          <p:cNvSpPr/>
          <p:nvPr/>
        </p:nvSpPr>
        <p:spPr>
          <a:xfrm>
            <a:off x="3090672" y="7178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回收箱滿艙　24件（20.5%）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907792" y="978408"/>
            <a:ext cx="137160" cy="137160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8"/>
          <p:cNvSpPr/>
          <p:nvPr/>
        </p:nvSpPr>
        <p:spPr>
          <a:xfrm>
            <a:off x="3090672" y="941832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履帶未作動或異常抖動　12件（10.3%）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907792" y="1202436"/>
            <a:ext cx="137160" cy="137160"/>
          </a:xfrm>
          <a:prstGeom prst="rect">
            <a:avLst/>
          </a:prstGeom>
          <a:solidFill>
            <a:srgbClr val="FFCE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0"/>
          <p:cNvSpPr/>
          <p:nvPr/>
        </p:nvSpPr>
        <p:spPr>
          <a:xfrm>
            <a:off x="3090672" y="1165860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辨識失敗異常或錯誤　11件（9.4%）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907792" y="1426464"/>
            <a:ext cx="137160" cy="137160"/>
          </a:xfrm>
          <a:prstGeom prst="rect">
            <a:avLst/>
          </a:prstGeom>
          <a:solidFill>
            <a:srgbClr val="8EB8C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2"/>
          <p:cNvSpPr/>
          <p:nvPr/>
        </p:nvSpPr>
        <p:spPr>
          <a:xfrm>
            <a:off x="3090672" y="1389888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機台需維護/故障提醒　11件（9.4%）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907792" y="1650492"/>
            <a:ext cx="137160" cy="137160"/>
          </a:xfrm>
          <a:prstGeom prst="rect">
            <a:avLst/>
          </a:prstGeom>
          <a:solidFill>
            <a:srgbClr val="B8BEC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4"/>
          <p:cNvSpPr/>
          <p:nvPr/>
        </p:nvSpPr>
        <p:spPr>
          <a:xfrm>
            <a:off x="3090672" y="1613916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其他機台問題　32件（27.4%）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596128" y="475488"/>
            <a:ext cx="1005840" cy="1554480"/>
          </a:xfrm>
          <a:prstGeom prst="rect">
            <a:avLst/>
          </a:prstGeom>
          <a:solidFill>
            <a:srgbClr val="FFF3EC"/>
          </a:solidFill>
          <a:ln w="12700">
            <a:solidFill>
              <a:srgbClr val="FF50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6"/>
          <p:cNvSpPr/>
          <p:nvPr/>
        </p:nvSpPr>
        <p:spPr>
          <a:xfrm>
            <a:off x="5596128" y="53035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收瓶機/方舟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596128" y="731520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3200" dirty="0"/>
          </a:p>
        </p:txBody>
      </p:sp>
      <p:sp>
        <p:nvSpPr>
          <p:cNvPr id="21" name="Text 18"/>
          <p:cNvSpPr/>
          <p:nvPr/>
        </p:nvSpPr>
        <p:spPr>
          <a:xfrm>
            <a:off x="5596128" y="160934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（132件）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6693408" y="475488"/>
            <a:ext cx="1005840" cy="1554480"/>
          </a:xfrm>
          <a:prstGeom prst="rect">
            <a:avLst/>
          </a:prstGeom>
          <a:solidFill>
            <a:srgbClr val="EDF5FB"/>
          </a:solidFill>
          <a:ln w="12700">
            <a:solidFill>
              <a:srgbClr val="8EB8C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0"/>
          <p:cNvSpPr/>
          <p:nvPr/>
        </p:nvSpPr>
        <p:spPr>
          <a:xfrm>
            <a:off x="6693408" y="53035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電池機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693408" y="731520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76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3200" dirty="0"/>
          </a:p>
        </p:txBody>
      </p:sp>
      <p:sp>
        <p:nvSpPr>
          <p:cNvPr id="25" name="Text 22"/>
          <p:cNvSpPr/>
          <p:nvPr/>
        </p:nvSpPr>
        <p:spPr>
          <a:xfrm>
            <a:off x="6693408" y="160934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（17件）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164592" y="2121408"/>
            <a:ext cx="45720" cy="201168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4"/>
          <p:cNvSpPr/>
          <p:nvPr/>
        </p:nvSpPr>
        <p:spPr>
          <a:xfrm>
            <a:off x="246888" y="213055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收瓶機、電池機客訴 Top 3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669280" y="2121408"/>
            <a:ext cx="45720" cy="201168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6"/>
          <p:cNvSpPr/>
          <p:nvPr/>
        </p:nvSpPr>
        <p:spPr>
          <a:xfrm>
            <a:off x="5751576" y="213055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本週熱點站點（第30週：07/20 ~ 07/26）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164592" y="2304288"/>
            <a:ext cx="658368" cy="1078992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8"/>
          <p:cNvSpPr/>
          <p:nvPr/>
        </p:nvSpPr>
        <p:spPr>
          <a:xfrm>
            <a:off x="164592" y="2304288"/>
            <a:ext cx="65836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收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瓶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841248" y="2322576"/>
            <a:ext cx="4736592" cy="333756"/>
          </a:xfrm>
          <a:prstGeom prst="rect">
            <a:avLst/>
          </a:prstGeom>
          <a:solidFill>
            <a:srgbClr val="EDF3FF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0"/>
          <p:cNvSpPr/>
          <p:nvPr/>
        </p:nvSpPr>
        <p:spPr>
          <a:xfrm>
            <a:off x="896112" y="2386584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1133856" y="2386584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寶特瓶滿艙</a:t>
            </a:r>
            <a:endParaRPr lang="en-US" sz="950" b="1" dirty="0"/>
          </a:p>
        </p:txBody>
      </p:sp>
      <p:sp>
        <p:nvSpPr>
          <p:cNvPr id="35" name="Text 32"/>
          <p:cNvSpPr/>
          <p:nvPr/>
        </p:nvSpPr>
        <p:spPr>
          <a:xfrm>
            <a:off x="4809744" y="2359152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1133856" y="2610612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7" name="Shape 34"/>
          <p:cNvSpPr/>
          <p:nvPr/>
        </p:nvSpPr>
        <p:spPr>
          <a:xfrm>
            <a:off x="1133856" y="2610612"/>
            <a:ext cx="584302" cy="34747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8" name="Shape 35"/>
          <p:cNvSpPr/>
          <p:nvPr/>
        </p:nvSpPr>
        <p:spPr>
          <a:xfrm>
            <a:off x="841248" y="2674620"/>
            <a:ext cx="4736592" cy="333756"/>
          </a:xfrm>
          <a:prstGeom prst="rect">
            <a:avLst/>
          </a:prstGeom>
          <a:solidFill>
            <a:srgbClr val="F4F8FF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6"/>
          <p:cNvSpPr/>
          <p:nvPr/>
        </p:nvSpPr>
        <p:spPr>
          <a:xfrm>
            <a:off x="896112" y="273862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1133856" y="2738628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回收箱滿艙</a:t>
            </a:r>
            <a:endParaRPr lang="en-US" sz="950" b="1" dirty="0"/>
          </a:p>
        </p:txBody>
      </p:sp>
      <p:sp>
        <p:nvSpPr>
          <p:cNvPr id="41" name="Text 38"/>
          <p:cNvSpPr/>
          <p:nvPr/>
        </p:nvSpPr>
        <p:spPr>
          <a:xfrm>
            <a:off x="4809744" y="2711196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60E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2000" dirty="0"/>
          </a:p>
        </p:txBody>
      </p:sp>
      <p:sp>
        <p:nvSpPr>
          <p:cNvPr id="42" name="Shape 39"/>
          <p:cNvSpPr/>
          <p:nvPr/>
        </p:nvSpPr>
        <p:spPr>
          <a:xfrm>
            <a:off x="1133856" y="2962656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3" name="Shape 40"/>
          <p:cNvSpPr/>
          <p:nvPr/>
        </p:nvSpPr>
        <p:spPr>
          <a:xfrm>
            <a:off x="1133856" y="2962656"/>
            <a:ext cx="584302" cy="34747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4" name="Shape 41"/>
          <p:cNvSpPr/>
          <p:nvPr/>
        </p:nvSpPr>
        <p:spPr>
          <a:xfrm>
            <a:off x="841248" y="3026664"/>
            <a:ext cx="4736592" cy="333756"/>
          </a:xfrm>
          <a:prstGeom prst="rect">
            <a:avLst/>
          </a:prstGeom>
          <a:solidFill>
            <a:srgbClr val="F9FBFF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Text 42"/>
          <p:cNvSpPr/>
          <p:nvPr/>
        </p:nvSpPr>
        <p:spPr>
          <a:xfrm>
            <a:off x="896112" y="3090672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6A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1133856" y="309067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點數未入帳號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4809744" y="3063240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76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2000" dirty="0"/>
          </a:p>
        </p:txBody>
      </p:sp>
      <p:sp>
        <p:nvSpPr>
          <p:cNvPr id="48" name="Shape 45"/>
          <p:cNvSpPr/>
          <p:nvPr/>
        </p:nvSpPr>
        <p:spPr>
          <a:xfrm>
            <a:off x="1133856" y="3314700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9" name="Shape 46"/>
          <p:cNvSpPr/>
          <p:nvPr/>
        </p:nvSpPr>
        <p:spPr>
          <a:xfrm>
            <a:off x="1133856" y="3314700"/>
            <a:ext cx="389534" cy="34747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0" name="Shape 47"/>
          <p:cNvSpPr/>
          <p:nvPr/>
        </p:nvSpPr>
        <p:spPr>
          <a:xfrm>
            <a:off x="164592" y="3396996"/>
            <a:ext cx="658368" cy="731520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1" name="Text 48"/>
          <p:cNvSpPr/>
          <p:nvPr/>
        </p:nvSpPr>
        <p:spPr>
          <a:xfrm>
            <a:off x="164592" y="3396996"/>
            <a:ext cx="6583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電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池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</a:t>
            </a:r>
            <a:endParaRPr 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841248" y="3415284"/>
            <a:ext cx="4736592" cy="327355"/>
          </a:xfrm>
          <a:prstGeom prst="rect">
            <a:avLst/>
          </a:prstGeom>
          <a:solidFill>
            <a:srgbClr val="F0FDF7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Text 50"/>
          <p:cNvSpPr/>
          <p:nvPr/>
        </p:nvSpPr>
        <p:spPr>
          <a:xfrm>
            <a:off x="896112" y="3479292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6A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1133856" y="347929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點數未入帳號</a:t>
            </a:r>
            <a:endParaRPr lang="en-US" sz="950" dirty="0"/>
          </a:p>
        </p:txBody>
      </p:sp>
      <p:sp>
        <p:nvSpPr>
          <p:cNvPr id="55" name="Text 52"/>
          <p:cNvSpPr/>
          <p:nvPr/>
        </p:nvSpPr>
        <p:spPr>
          <a:xfrm>
            <a:off x="4809744" y="3451860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76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2000" dirty="0"/>
          </a:p>
        </p:txBody>
      </p:sp>
      <p:sp>
        <p:nvSpPr>
          <p:cNvPr id="56" name="Shape 53"/>
          <p:cNvSpPr/>
          <p:nvPr/>
        </p:nvSpPr>
        <p:spPr>
          <a:xfrm>
            <a:off x="1133856" y="3694176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7" name="Shape 54"/>
          <p:cNvSpPr/>
          <p:nvPr/>
        </p:nvSpPr>
        <p:spPr>
          <a:xfrm>
            <a:off x="1133856" y="3694176"/>
            <a:ext cx="779069" cy="34747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8" name="Shape 55"/>
          <p:cNvSpPr/>
          <p:nvPr/>
        </p:nvSpPr>
        <p:spPr>
          <a:xfrm>
            <a:off x="841248" y="3760927"/>
            <a:ext cx="4736592" cy="327355"/>
          </a:xfrm>
          <a:prstGeom prst="rect">
            <a:avLst/>
          </a:prstGeom>
          <a:solidFill>
            <a:srgbClr val="F7FAFE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Text 56"/>
          <p:cNvSpPr/>
          <p:nvPr/>
        </p:nvSpPr>
        <p:spPr>
          <a:xfrm>
            <a:off x="896112" y="3824935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B8C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1133856" y="3824935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投入物卡住_瓶罐/電池</a:t>
            </a:r>
            <a:endParaRPr lang="en-US" sz="950" dirty="0"/>
          </a:p>
        </p:txBody>
      </p:sp>
      <p:sp>
        <p:nvSpPr>
          <p:cNvPr id="61" name="Text 58"/>
          <p:cNvSpPr/>
          <p:nvPr/>
        </p:nvSpPr>
        <p:spPr>
          <a:xfrm>
            <a:off x="4809744" y="3797503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8EB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2000" dirty="0"/>
          </a:p>
        </p:txBody>
      </p:sp>
      <p:sp>
        <p:nvSpPr>
          <p:cNvPr id="62" name="Shape 59"/>
          <p:cNvSpPr/>
          <p:nvPr/>
        </p:nvSpPr>
        <p:spPr>
          <a:xfrm>
            <a:off x="1133856" y="4039819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3" name="Shape 60"/>
          <p:cNvSpPr/>
          <p:nvPr/>
        </p:nvSpPr>
        <p:spPr>
          <a:xfrm>
            <a:off x="1133856" y="4039819"/>
            <a:ext cx="584302" cy="34747"/>
          </a:xfrm>
          <a:prstGeom prst="rect">
            <a:avLst/>
          </a:prstGeom>
          <a:solidFill>
            <a:srgbClr val="8EB8C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4" name="Shape 61"/>
          <p:cNvSpPr/>
          <p:nvPr/>
        </p:nvSpPr>
        <p:spPr>
          <a:xfrm>
            <a:off x="164592" y="4151376"/>
            <a:ext cx="5376672" cy="548640"/>
          </a:xfrm>
          <a:prstGeom prst="rect">
            <a:avLst/>
          </a:prstGeom>
          <a:solidFill>
            <a:srgbClr val="FAE0B8"/>
          </a:solidFill>
          <a:ln w="12700">
            <a:solidFill>
              <a:srgbClr val="FFCE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5" name="Text 62"/>
          <p:cNvSpPr/>
          <p:nvPr/>
        </p:nvSpPr>
        <p:spPr>
          <a:xfrm>
            <a:off x="256032" y="4169664"/>
            <a:ext cx="5230368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B48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【注意】點數未入帳號 持續高位｜本週20件（10.8%）。</a:t>
            </a:r>
            <a:endParaRPr lang="en-US" sz="1500" dirty="0"/>
          </a:p>
        </p:txBody>
      </p:sp>
      <p:sp>
        <p:nvSpPr>
          <p:cNvPr id="66" name="Shape 63"/>
          <p:cNvSpPr/>
          <p:nvPr/>
        </p:nvSpPr>
        <p:spPr>
          <a:xfrm>
            <a:off x="5669280" y="2304288"/>
            <a:ext cx="3337560" cy="237744"/>
          </a:xfrm>
          <a:prstGeom prst="rect">
            <a:avLst/>
          </a:prstGeom>
          <a:solidFill>
            <a:srgbClr val="FAE0B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7" name="Text 64"/>
          <p:cNvSpPr/>
          <p:nvPr/>
        </p:nvSpPr>
        <p:spPr>
          <a:xfrm>
            <a:off x="5724144" y="230428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臺南</a:t>
            </a:r>
            <a:endParaRPr lang="en-US" sz="1200" dirty="0"/>
          </a:p>
        </p:txBody>
      </p:sp>
      <p:sp>
        <p:nvSpPr>
          <p:cNvPr id="68" name="Text 65"/>
          <p:cNvSpPr/>
          <p:nvPr/>
        </p:nvSpPr>
        <p:spPr>
          <a:xfrm>
            <a:off x="8412480" y="2304288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300" dirty="0"/>
          </a:p>
        </p:txBody>
      </p:sp>
      <p:sp>
        <p:nvSpPr>
          <p:cNvPr id="69" name="Text 66"/>
          <p:cNvSpPr/>
          <p:nvPr/>
        </p:nvSpPr>
        <p:spPr>
          <a:xfrm>
            <a:off x="5833872" y="2551176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</a:t>
            </a: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臺南集過來智慧回收島站</a:t>
            </a:r>
            <a:endParaRPr lang="en-US" sz="900" dirty="0"/>
          </a:p>
        </p:txBody>
      </p:sp>
      <p:sp>
        <p:nvSpPr>
          <p:cNvPr id="70" name="Text 67"/>
          <p:cNvSpPr/>
          <p:nvPr/>
        </p:nvSpPr>
        <p:spPr>
          <a:xfrm>
            <a:off x="8412480" y="255117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71" name="Text 68"/>
          <p:cNvSpPr/>
          <p:nvPr/>
        </p:nvSpPr>
        <p:spPr>
          <a:xfrm>
            <a:off x="5833872" y="2756916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</a:t>
            </a: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輕鬆購五金百貨永康中山旗艦門市站</a:t>
            </a:r>
            <a:endParaRPr lang="en-US" sz="900" dirty="0"/>
          </a:p>
        </p:txBody>
      </p:sp>
      <p:sp>
        <p:nvSpPr>
          <p:cNvPr id="72" name="Text 69"/>
          <p:cNvSpPr/>
          <p:nvPr/>
        </p:nvSpPr>
        <p:spPr>
          <a:xfrm>
            <a:off x="8412480" y="275691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73" name="Text 70"/>
          <p:cNvSpPr/>
          <p:nvPr/>
        </p:nvSpPr>
        <p:spPr>
          <a:xfrm>
            <a:off x="5833872" y="2962656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</a:t>
            </a: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億進寢具安南店站</a:t>
            </a:r>
            <a:endParaRPr lang="en-US" sz="900" dirty="0"/>
          </a:p>
        </p:txBody>
      </p:sp>
      <p:sp>
        <p:nvSpPr>
          <p:cNvPr id="74" name="Text 71"/>
          <p:cNvSpPr/>
          <p:nvPr/>
        </p:nvSpPr>
        <p:spPr>
          <a:xfrm>
            <a:off x="8412480" y="296265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75" name="Shape 72"/>
          <p:cNvSpPr/>
          <p:nvPr/>
        </p:nvSpPr>
        <p:spPr>
          <a:xfrm>
            <a:off x="5669280" y="3186684"/>
            <a:ext cx="3337560" cy="237744"/>
          </a:xfrm>
          <a:prstGeom prst="rect">
            <a:avLst/>
          </a:prstGeom>
          <a:solidFill>
            <a:srgbClr val="FAE0B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6" name="Text 73"/>
          <p:cNvSpPr/>
          <p:nvPr/>
        </p:nvSpPr>
        <p:spPr>
          <a:xfrm>
            <a:off x="5724144" y="318668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高雄</a:t>
            </a:r>
            <a:endParaRPr lang="en-US" sz="1200" dirty="0"/>
          </a:p>
        </p:txBody>
      </p:sp>
      <p:sp>
        <p:nvSpPr>
          <p:cNvPr id="77" name="Text 74"/>
          <p:cNvSpPr/>
          <p:nvPr/>
        </p:nvSpPr>
        <p:spPr>
          <a:xfrm>
            <a:off x="8412480" y="3186684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300" dirty="0"/>
          </a:p>
        </p:txBody>
      </p:sp>
      <p:sp>
        <p:nvSpPr>
          <p:cNvPr id="78" name="Text 75"/>
          <p:cNvSpPr/>
          <p:nvPr/>
        </p:nvSpPr>
        <p:spPr>
          <a:xfrm>
            <a:off x="5833872" y="3433572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 </a:t>
            </a:r>
            <a:r>
              <a:rPr lang="en-US" sz="850" b="1" dirty="0">
                <a:solidFill>
                  <a:srgbClr val="FF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全聯福利中心苓雅三多店站</a:t>
            </a:r>
            <a:endParaRPr lang="en-US" sz="900" b="1" dirty="0">
              <a:solidFill>
                <a:srgbClr val="FF0000"/>
              </a:solidFill>
            </a:endParaRPr>
          </a:p>
        </p:txBody>
      </p:sp>
      <p:sp>
        <p:nvSpPr>
          <p:cNvPr id="79" name="Text 76"/>
          <p:cNvSpPr/>
          <p:nvPr/>
        </p:nvSpPr>
        <p:spPr>
          <a:xfrm>
            <a:off x="8412480" y="343357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80" name="Text 77"/>
          <p:cNvSpPr/>
          <p:nvPr/>
        </p:nvSpPr>
        <p:spPr>
          <a:xfrm>
            <a:off x="5833872" y="3639312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</a:t>
            </a: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億進寢具鳳林店站</a:t>
            </a:r>
            <a:endParaRPr lang="en-US" sz="900" dirty="0"/>
          </a:p>
        </p:txBody>
      </p:sp>
      <p:sp>
        <p:nvSpPr>
          <p:cNvPr id="81" name="Text 78"/>
          <p:cNvSpPr/>
          <p:nvPr/>
        </p:nvSpPr>
        <p:spPr>
          <a:xfrm>
            <a:off x="8412480" y="36393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82" name="Text 79"/>
          <p:cNvSpPr/>
          <p:nvPr/>
        </p:nvSpPr>
        <p:spPr>
          <a:xfrm>
            <a:off x="5833872" y="3845052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</a:t>
            </a: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特力屋大順店站</a:t>
            </a:r>
            <a:endParaRPr lang="en-US" sz="900" dirty="0"/>
          </a:p>
        </p:txBody>
      </p:sp>
      <p:sp>
        <p:nvSpPr>
          <p:cNvPr id="83" name="Text 80"/>
          <p:cNvSpPr/>
          <p:nvPr/>
        </p:nvSpPr>
        <p:spPr>
          <a:xfrm>
            <a:off x="8412480" y="384505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84" name="Shape 81"/>
          <p:cNvSpPr/>
          <p:nvPr/>
        </p:nvSpPr>
        <p:spPr>
          <a:xfrm>
            <a:off x="5669280" y="4069080"/>
            <a:ext cx="3337560" cy="237744"/>
          </a:xfrm>
          <a:prstGeom prst="rect">
            <a:avLst/>
          </a:prstGeom>
          <a:solidFill>
            <a:srgbClr val="FAE0B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5" name="Text 82"/>
          <p:cNvSpPr/>
          <p:nvPr/>
        </p:nvSpPr>
        <p:spPr>
          <a:xfrm>
            <a:off x="5724144" y="406908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桃園</a:t>
            </a:r>
            <a:endParaRPr lang="en-US" sz="1200" dirty="0"/>
          </a:p>
        </p:txBody>
      </p:sp>
      <p:sp>
        <p:nvSpPr>
          <p:cNvPr id="86" name="Text 83"/>
          <p:cNvSpPr/>
          <p:nvPr/>
        </p:nvSpPr>
        <p:spPr>
          <a:xfrm>
            <a:off x="8412480" y="4069080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300" dirty="0"/>
          </a:p>
        </p:txBody>
      </p:sp>
      <p:sp>
        <p:nvSpPr>
          <p:cNvPr id="87" name="Text 84"/>
          <p:cNvSpPr/>
          <p:nvPr/>
        </p:nvSpPr>
        <p:spPr>
          <a:xfrm>
            <a:off x="5833872" y="4315968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</a:t>
            </a:r>
            <a:r>
              <a:rPr lang="en-US" sz="85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康達盛通中壢店方舟站</a:t>
            </a:r>
            <a:endParaRPr lang="en-US" sz="900" b="1" dirty="0"/>
          </a:p>
        </p:txBody>
      </p:sp>
      <p:sp>
        <p:nvSpPr>
          <p:cNvPr id="88" name="Text 85"/>
          <p:cNvSpPr/>
          <p:nvPr/>
        </p:nvSpPr>
        <p:spPr>
          <a:xfrm>
            <a:off x="8412480" y="4315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89" name="Text 86"/>
          <p:cNvSpPr/>
          <p:nvPr/>
        </p:nvSpPr>
        <p:spPr>
          <a:xfrm>
            <a:off x="5833872" y="4521708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</a:t>
            </a: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全聯福利中心觀音莊敬店站</a:t>
            </a:r>
            <a:endParaRPr lang="en-US" sz="900" dirty="0"/>
          </a:p>
        </p:txBody>
      </p:sp>
      <p:sp>
        <p:nvSpPr>
          <p:cNvPr id="90" name="Text 87"/>
          <p:cNvSpPr/>
          <p:nvPr/>
        </p:nvSpPr>
        <p:spPr>
          <a:xfrm>
            <a:off x="8412480" y="452170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91" name="Text 88"/>
          <p:cNvSpPr/>
          <p:nvPr/>
        </p:nvSpPr>
        <p:spPr>
          <a:xfrm>
            <a:off x="5833872" y="4727448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</a:t>
            </a:r>
            <a:r>
              <a:rPr lang="en-US" sz="85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康達盛通中原店站</a:t>
            </a:r>
            <a:endParaRPr lang="en-US" sz="900" b="1" dirty="0"/>
          </a:p>
        </p:txBody>
      </p:sp>
      <p:sp>
        <p:nvSpPr>
          <p:cNvPr id="92" name="Text 89"/>
          <p:cNvSpPr/>
          <p:nvPr/>
        </p:nvSpPr>
        <p:spPr>
          <a:xfrm>
            <a:off x="8412480" y="472744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347</Words>
  <Application>Microsoft Office PowerPoint</Application>
  <PresentationFormat>如螢幕大小 (16:9)</PresentationFormat>
  <Paragraphs>150</Paragraphs>
  <Slides>2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5" baseType="lpstr">
      <vt:lpstr>Noto Sans TC</vt:lpstr>
      <vt:lpstr>Arial</vt:lpstr>
      <vt:lpstr>Office Theme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王茗芬</cp:lastModifiedBy>
  <cp:revision>3</cp:revision>
  <dcterms:created xsi:type="dcterms:W3CDTF">2026-07-27T03:00:07Z</dcterms:created>
  <dcterms:modified xsi:type="dcterms:W3CDTF">2026-07-27T03:17:40Z</dcterms:modified>
</cp:coreProperties>
</file>