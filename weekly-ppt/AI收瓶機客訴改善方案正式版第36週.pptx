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"/>
  </p:notesMasterIdLst>
  <p:sldIdLst>
    <p:sldId id="256" r:id="rId2"/>
  </p:sldIdLst>
  <p:sldSz cx="12192000" cy="6858000"/>
  <p:notesSz cx="6858000" cy="9144000"/>
  <p:embeddedFontLst>
    <p:embeddedFont>
      <p:font typeface="Noto Sans TC" panose="020B0200000000000000" pitchFamily="34" charset="-120"/>
      <p:regular r:id="rId4"/>
      <p:bold r:id="rId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5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font" Target="fonts/font2.fntdata"/><Relationship Id="rId4" Type="http://schemas.openxmlformats.org/officeDocument/2006/relationships/font" Target="fonts/font1.fntdata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jp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jp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05250" y="1243900"/>
            <a:ext cx="7995325" cy="5372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8625" y="1243899"/>
            <a:ext cx="3238500" cy="182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47750" y="3317962"/>
            <a:ext cx="3238500" cy="182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47675" y="5238742"/>
            <a:ext cx="3238500" cy="137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05275" y="1834455"/>
            <a:ext cx="3633787" cy="4490144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929562" y="1834455"/>
            <a:ext cx="3633787" cy="449014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3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124325" y="1853505"/>
            <a:ext cx="3595687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3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124325" y="2234505"/>
            <a:ext cx="3595687" cy="2952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3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7948612" y="1853505"/>
            <a:ext cx="3595687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3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7948612" y="2234505"/>
            <a:ext cx="3595687" cy="295275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3"/>
          <p:cNvSpPr txBox="1"/>
          <p:nvPr/>
        </p:nvSpPr>
        <p:spPr>
          <a:xfrm>
            <a:off x="428625" y="333375"/>
            <a:ext cx="58908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F2B92"/>
                </a:solidFill>
                <a:latin typeface="Noto Sans TC"/>
                <a:ea typeface="Noto Sans TC"/>
                <a:cs typeface="Noto Sans TC"/>
                <a:sym typeface="Noto Sans TC"/>
              </a:rPr>
              <a:t>AI收瓶機「大量投瓶點數延遲」UI介面優化方案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428625" y="691455"/>
            <a:ext cx="5610225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 dirty="0">
                <a:solidFill>
                  <a:srgbClr val="64748B"/>
                </a:solidFill>
                <a:latin typeface="Noto Sans TC"/>
                <a:ea typeface="Noto Sans TC"/>
                <a:cs typeface="Noto Sans TC"/>
                <a:sym typeface="Noto Sans TC"/>
              </a:rPr>
              <a:t>ECOCO x TOMRA </a:t>
            </a:r>
            <a:r>
              <a:rPr lang="en-US" sz="1125" b="0" i="0" u="none" strike="noStrike" cap="none" dirty="0" err="1">
                <a:solidFill>
                  <a:srgbClr val="64748B"/>
                </a:solidFill>
                <a:latin typeface="Noto Sans TC"/>
                <a:ea typeface="Noto Sans TC"/>
                <a:cs typeface="Noto Sans TC"/>
                <a:sym typeface="Noto Sans TC"/>
              </a:rPr>
              <a:t>服務體驗優化</a:t>
            </a:r>
            <a:endParaRPr dirty="0"/>
          </a:p>
        </p:txBody>
      </p:sp>
      <p:pic>
        <p:nvPicPr>
          <p:cNvPr id="97" name="Google Shape;97;p13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7991475" y="455265"/>
            <a:ext cx="1771650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3" descr="image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9858375" y="455265"/>
            <a:ext cx="190500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3"/>
          <p:cNvSpPr txBox="1"/>
          <p:nvPr/>
        </p:nvSpPr>
        <p:spPr>
          <a:xfrm>
            <a:off x="4371975" y="1443930"/>
            <a:ext cx="7191375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2B92"/>
                </a:solidFill>
                <a:latin typeface="Noto Sans TC"/>
                <a:ea typeface="Noto Sans TC"/>
                <a:cs typeface="Noto Sans TC"/>
                <a:sym typeface="Noto Sans TC"/>
              </a:rPr>
              <a:t>UI 畫面優化前後對照（核心改善點）</a:t>
            </a:r>
            <a:endParaRPr/>
          </a:p>
        </p:txBody>
      </p:sp>
      <p:pic>
        <p:nvPicPr>
          <p:cNvPr id="100" name="Google Shape;100;p13" descr="image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8055525" y="550523"/>
            <a:ext cx="10477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3" descr="image.png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 flipH="1">
            <a:off x="9896475" y="550531"/>
            <a:ext cx="152400" cy="133345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3"/>
          <p:cNvSpPr txBox="1"/>
          <p:nvPr/>
        </p:nvSpPr>
        <p:spPr>
          <a:xfrm>
            <a:off x="895350" y="1424880"/>
            <a:ext cx="27003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0F2B92"/>
                </a:solidFill>
                <a:latin typeface="Noto Sans TC"/>
                <a:ea typeface="Noto Sans TC"/>
                <a:cs typeface="Noto Sans TC"/>
                <a:sym typeface="Noto Sans TC"/>
              </a:rPr>
              <a:t>客訴痛點與成因剖析</a:t>
            </a:r>
            <a:endParaRPr sz="1700"/>
          </a:p>
        </p:txBody>
      </p:sp>
      <p:sp>
        <p:nvSpPr>
          <p:cNvPr id="103" name="Google Shape;103;p13"/>
          <p:cNvSpPr txBox="1"/>
          <p:nvPr/>
        </p:nvSpPr>
        <p:spPr>
          <a:xfrm>
            <a:off x="666750" y="1896280"/>
            <a:ext cx="28005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475569"/>
                </a:solidFill>
                <a:latin typeface="Noto Sans TC"/>
                <a:ea typeface="Noto Sans TC"/>
                <a:cs typeface="Noto Sans TC"/>
                <a:sym typeface="Noto Sans TC"/>
              </a:rPr>
              <a:t>現況問題：</a:t>
            </a:r>
            <a:r>
              <a:rPr lang="en-US" sz="1600" b="0" i="0" u="none" strike="noStrike" cap="none">
                <a:solidFill>
                  <a:srgbClr val="475569"/>
                </a:solidFill>
                <a:latin typeface="Noto Sans TC"/>
                <a:ea typeface="Noto Sans TC"/>
                <a:cs typeface="Noto Sans TC"/>
                <a:sym typeface="Noto Sans TC"/>
              </a:rPr>
              <a:t>點數</a:t>
            </a:r>
            <a:r>
              <a:rPr lang="en-US" sz="1600">
                <a:solidFill>
                  <a:srgbClr val="475569"/>
                </a:solidFill>
                <a:latin typeface="Noto Sans TC"/>
                <a:ea typeface="Noto Sans TC"/>
                <a:cs typeface="Noto Sans TC"/>
                <a:sym typeface="Noto Sans TC"/>
              </a:rPr>
              <a:t>(延遲)</a:t>
            </a:r>
            <a:r>
              <a:rPr lang="en-US" sz="1600" b="0" i="0" u="none" strike="noStrike" cap="none">
                <a:solidFill>
                  <a:srgbClr val="475569"/>
                </a:solidFill>
                <a:latin typeface="Noto Sans TC"/>
                <a:ea typeface="Noto Sans TC"/>
                <a:cs typeface="Noto Sans TC"/>
                <a:sym typeface="Noto Sans TC"/>
              </a:rPr>
              <a:t>未入帳</a:t>
            </a:r>
            <a:endParaRPr sz="1600"/>
          </a:p>
        </p:txBody>
      </p:sp>
      <p:sp>
        <p:nvSpPr>
          <p:cNvPr id="104" name="Google Shape;104;p13"/>
          <p:cNvSpPr txBox="1"/>
          <p:nvPr/>
        </p:nvSpPr>
        <p:spPr>
          <a:xfrm>
            <a:off x="666750" y="2317643"/>
            <a:ext cx="2800500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475569"/>
                </a:solidFill>
                <a:latin typeface="Noto Sans TC"/>
                <a:ea typeface="Noto Sans TC"/>
                <a:cs typeface="Noto Sans TC"/>
                <a:sym typeface="Noto Sans TC"/>
              </a:rPr>
              <a:t>核心主因：</a:t>
            </a:r>
            <a:r>
              <a:rPr lang="en-US" sz="1500" dirty="0" err="1">
                <a:solidFill>
                  <a:srgbClr val="FF0000"/>
                </a:solidFill>
                <a:latin typeface="Noto Sans TC"/>
                <a:ea typeface="Noto Sans TC"/>
                <a:cs typeface="Noto Sans TC"/>
                <a:sym typeface="Noto Sans TC"/>
              </a:rPr>
              <a:t>陶朗告知當地網路速度造成的延遲</a:t>
            </a:r>
            <a:endParaRPr sz="1500" dirty="0">
              <a:solidFill>
                <a:srgbClr val="FF0000"/>
              </a:solidFill>
            </a:endParaRPr>
          </a:p>
        </p:txBody>
      </p:sp>
      <p:sp>
        <p:nvSpPr>
          <p:cNvPr id="105" name="Google Shape;105;p13"/>
          <p:cNvSpPr txBox="1"/>
          <p:nvPr/>
        </p:nvSpPr>
        <p:spPr>
          <a:xfrm>
            <a:off x="876375" y="3498942"/>
            <a:ext cx="27402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0F2B92"/>
                </a:solidFill>
                <a:latin typeface="Noto Sans TC"/>
                <a:ea typeface="Noto Sans TC"/>
                <a:cs typeface="Noto Sans TC"/>
                <a:sym typeface="Noto Sans TC"/>
              </a:rPr>
              <a:t>前端期望值管理策略</a:t>
            </a:r>
            <a:endParaRPr sz="1700"/>
          </a:p>
        </p:txBody>
      </p:sp>
      <p:sp>
        <p:nvSpPr>
          <p:cNvPr id="106" name="Google Shape;106;p13"/>
          <p:cNvSpPr txBox="1"/>
          <p:nvPr/>
        </p:nvSpPr>
        <p:spPr>
          <a:xfrm>
            <a:off x="876300" y="5419717"/>
            <a:ext cx="27402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0F2B92"/>
                </a:solidFill>
                <a:latin typeface="Noto Sans TC"/>
                <a:ea typeface="Noto Sans TC"/>
                <a:cs typeface="Noto Sans TC"/>
                <a:sym typeface="Noto Sans TC"/>
              </a:rPr>
              <a:t>預期改善效益</a:t>
            </a:r>
            <a:endParaRPr sz="1900"/>
          </a:p>
        </p:txBody>
      </p:sp>
      <p:sp>
        <p:nvSpPr>
          <p:cNvPr id="107" name="Google Shape;107;p13"/>
          <p:cNvSpPr txBox="1"/>
          <p:nvPr/>
        </p:nvSpPr>
        <p:spPr>
          <a:xfrm>
            <a:off x="628575" y="5873067"/>
            <a:ext cx="2838600" cy="2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 b="1" i="0" u="none" strike="noStrike" cap="none">
                <a:solidFill>
                  <a:srgbClr val="0F2B92"/>
                </a:solidFill>
                <a:latin typeface="Noto Sans TC"/>
                <a:ea typeface="Noto Sans TC"/>
                <a:cs typeface="Noto Sans TC"/>
                <a:sym typeface="Noto Sans TC"/>
              </a:rPr>
              <a:t>降低 ~50% 延遲相關客訴</a:t>
            </a:r>
            <a:endParaRPr sz="1900"/>
          </a:p>
        </p:txBody>
      </p:sp>
      <p:pic>
        <p:nvPicPr>
          <p:cNvPr id="108" name="Google Shape;108;p13" descr="image.png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4105275" y="1482030"/>
            <a:ext cx="1905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3" descr="image.png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666750" y="1462980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3" descr="image.png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685875" y="3537042"/>
            <a:ext cx="1143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3"/>
          <p:cNvSpPr txBox="1"/>
          <p:nvPr/>
        </p:nvSpPr>
        <p:spPr>
          <a:xfrm>
            <a:off x="771600" y="3856330"/>
            <a:ext cx="26289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475569"/>
                </a:solidFill>
                <a:latin typeface="Noto Sans TC"/>
                <a:ea typeface="Noto Sans TC"/>
                <a:cs typeface="Noto Sans TC"/>
                <a:sym typeface="Noto Sans TC"/>
              </a:rPr>
              <a:t>主動提示延遲</a:t>
            </a:r>
            <a:endParaRPr sz="1700"/>
          </a:p>
        </p:txBody>
      </p:sp>
      <p:sp>
        <p:nvSpPr>
          <p:cNvPr id="112" name="Google Shape;112;p13"/>
          <p:cNvSpPr txBox="1"/>
          <p:nvPr/>
        </p:nvSpPr>
        <p:spPr>
          <a:xfrm>
            <a:off x="771600" y="4227805"/>
            <a:ext cx="26289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475569"/>
                </a:solidFill>
                <a:latin typeface="Noto Sans TC"/>
                <a:ea typeface="Noto Sans TC"/>
                <a:cs typeface="Noto Sans TC"/>
                <a:sym typeface="Noto Sans TC"/>
              </a:rPr>
              <a:t>清晰行動指引</a:t>
            </a:r>
            <a:endParaRPr sz="1700"/>
          </a:p>
        </p:txBody>
      </p:sp>
      <p:pic>
        <p:nvPicPr>
          <p:cNvPr id="113" name="Google Shape;113;p13" descr="image.png"/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628575" y="5448405"/>
            <a:ext cx="159413" cy="1656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3" descr="image.png"/>
          <p:cNvPicPr preferRelativeResize="0"/>
          <p:nvPr/>
        </p:nvPicPr>
        <p:blipFill rotWithShape="1">
          <a:blip r:embed="rId22">
            <a:alphaModFix/>
          </a:blip>
          <a:srcRect/>
          <a:stretch/>
        </p:blipFill>
        <p:spPr>
          <a:xfrm>
            <a:off x="7317108" y="1872519"/>
            <a:ext cx="342900" cy="3429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3" title="感謝您的使用_02.jpg"/>
          <p:cNvPicPr preferRelativeResize="0"/>
          <p:nvPr/>
        </p:nvPicPr>
        <p:blipFill rotWithShape="1">
          <a:blip r:embed="rId23">
            <a:alphaModFix/>
          </a:blip>
          <a:srcRect l="5540" r="5531"/>
          <a:stretch/>
        </p:blipFill>
        <p:spPr>
          <a:xfrm>
            <a:off x="4124325" y="2234505"/>
            <a:ext cx="3595687" cy="295275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3"/>
          <p:cNvSpPr txBox="1"/>
          <p:nvPr/>
        </p:nvSpPr>
        <p:spPr>
          <a:xfrm>
            <a:off x="4276725" y="5320605"/>
            <a:ext cx="3455400" cy="2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25" b="1">
                <a:solidFill>
                  <a:srgbClr val="0F2B92"/>
                </a:solidFill>
                <a:latin typeface="Noto Sans TC"/>
                <a:ea typeface="Noto Sans TC"/>
                <a:cs typeface="Noto Sans TC"/>
                <a:sym typeface="Noto Sans TC"/>
              </a:rPr>
              <a:t>結束</a:t>
            </a:r>
            <a:r>
              <a:rPr lang="en-US" sz="1325" b="1" i="0" u="none" strike="noStrike" cap="none">
                <a:solidFill>
                  <a:srgbClr val="0F2B92"/>
                </a:solidFill>
                <a:latin typeface="Noto Sans TC"/>
                <a:ea typeface="Noto Sans TC"/>
                <a:cs typeface="Noto Sans TC"/>
                <a:sym typeface="Noto Sans TC"/>
              </a:rPr>
              <a:t>提示：「感謝您的使用」</a:t>
            </a:r>
            <a:endParaRPr sz="1600"/>
          </a:p>
        </p:txBody>
      </p:sp>
      <p:sp>
        <p:nvSpPr>
          <p:cNvPr id="117" name="Google Shape;117;p13"/>
          <p:cNvSpPr txBox="1"/>
          <p:nvPr/>
        </p:nvSpPr>
        <p:spPr>
          <a:xfrm>
            <a:off x="4248088" y="5657955"/>
            <a:ext cx="3291000" cy="4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Noto Sans TC"/>
                <a:ea typeface="Noto Sans TC"/>
                <a:cs typeface="Noto Sans TC"/>
                <a:sym typeface="Noto Sans TC"/>
              </a:rPr>
              <a:t>缺乏點數發放時程說明，大量投瓶點數未即時更新時，用戶易誤以為系統故障而立即進線客訴。</a:t>
            </a:r>
            <a:endParaRPr sz="1200"/>
          </a:p>
        </p:txBody>
      </p:sp>
      <p:pic>
        <p:nvPicPr>
          <p:cNvPr id="118" name="Google Shape;118;p13" descr="image.png"/>
          <p:cNvPicPr preferRelativeResize="0"/>
          <p:nvPr/>
        </p:nvPicPr>
        <p:blipFill rotWithShape="1">
          <a:blip r:embed="rId24">
            <a:alphaModFix/>
          </a:blip>
          <a:srcRect/>
          <a:stretch/>
        </p:blipFill>
        <p:spPr>
          <a:xfrm>
            <a:off x="11147832" y="1872542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3" title="感謝您的使用_陶朗正式版.jpg"/>
          <p:cNvPicPr preferRelativeResize="0"/>
          <p:nvPr/>
        </p:nvPicPr>
        <p:blipFill rotWithShape="1">
          <a:blip r:embed="rId25">
            <a:alphaModFix/>
          </a:blip>
          <a:srcRect l="8949" r="8949"/>
          <a:stretch/>
        </p:blipFill>
        <p:spPr>
          <a:xfrm>
            <a:off x="7948612" y="2234505"/>
            <a:ext cx="3595685" cy="2952751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3"/>
          <p:cNvSpPr txBox="1"/>
          <p:nvPr/>
        </p:nvSpPr>
        <p:spPr>
          <a:xfrm>
            <a:off x="8101012" y="5320605"/>
            <a:ext cx="3455400" cy="2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25" b="1" dirty="0" err="1">
                <a:solidFill>
                  <a:srgbClr val="FF5500"/>
                </a:solidFill>
                <a:latin typeface="Noto Sans TC"/>
                <a:ea typeface="Noto Sans TC"/>
                <a:cs typeface="Noto Sans TC"/>
                <a:sym typeface="Noto Sans TC"/>
              </a:rPr>
              <a:t>結束</a:t>
            </a:r>
            <a:r>
              <a:rPr lang="en-US" sz="1325" b="1" i="0" u="none" strike="noStrike" cap="none" dirty="0" err="1">
                <a:solidFill>
                  <a:srgbClr val="FF5500"/>
                </a:solidFill>
                <a:latin typeface="Noto Sans TC"/>
                <a:ea typeface="Noto Sans TC"/>
                <a:cs typeface="Noto Sans TC"/>
                <a:sym typeface="Noto Sans TC"/>
              </a:rPr>
              <a:t>提示</a:t>
            </a:r>
            <a:r>
              <a:rPr lang="en-US" sz="1325" b="1" i="0" u="none" strike="noStrike" cap="none" dirty="0">
                <a:solidFill>
                  <a:srgbClr val="FF5500"/>
                </a:solidFill>
                <a:latin typeface="Noto Sans TC"/>
                <a:ea typeface="Noto Sans TC"/>
                <a:cs typeface="Noto Sans TC"/>
                <a:sym typeface="Noto Sans TC"/>
              </a:rPr>
              <a:t>：</a:t>
            </a:r>
            <a:r>
              <a:rPr lang="en-US" sz="1325" b="1" dirty="0">
                <a:solidFill>
                  <a:srgbClr val="FF5500"/>
                </a:solidFill>
                <a:latin typeface="Noto Sans TC"/>
                <a:ea typeface="Noto Sans TC"/>
                <a:cs typeface="Noto Sans TC"/>
                <a:sym typeface="Noto Sans TC"/>
              </a:rPr>
              <a:t> 「</a:t>
            </a:r>
            <a:r>
              <a:rPr lang="en-US" sz="1325" b="1" i="0" u="none" strike="noStrike" cap="none" dirty="0" err="1">
                <a:solidFill>
                  <a:srgbClr val="FF5500"/>
                </a:solidFill>
                <a:latin typeface="Noto Sans TC"/>
                <a:ea typeface="Noto Sans TC"/>
                <a:cs typeface="Noto Sans TC"/>
                <a:sym typeface="Noto Sans TC"/>
              </a:rPr>
              <a:t>投遞已完成</a:t>
            </a:r>
            <a:r>
              <a:rPr lang="en-US" sz="1325" b="1" i="0" u="none" strike="noStrike" cap="none" dirty="0">
                <a:solidFill>
                  <a:srgbClr val="FF5500"/>
                </a:solidFill>
                <a:latin typeface="Noto Sans TC"/>
                <a:ea typeface="Noto Sans TC"/>
                <a:cs typeface="Noto Sans TC"/>
                <a:sym typeface="Noto Sans TC"/>
              </a:rPr>
              <a:t> + </a:t>
            </a:r>
            <a:r>
              <a:rPr lang="en-US" sz="1325" b="1" i="0" u="none" strike="noStrike" cap="none" dirty="0" err="1">
                <a:solidFill>
                  <a:srgbClr val="FF5500"/>
                </a:solidFill>
                <a:latin typeface="Noto Sans TC"/>
                <a:ea typeface="Noto Sans TC"/>
                <a:cs typeface="Noto Sans TC"/>
                <a:sym typeface="Noto Sans TC"/>
              </a:rPr>
              <a:t>延遲提示說明</a:t>
            </a:r>
            <a:r>
              <a:rPr lang="en-US" sz="1325" b="1" dirty="0">
                <a:solidFill>
                  <a:srgbClr val="FF5500"/>
                </a:solidFill>
                <a:latin typeface="Noto Sans TC"/>
                <a:ea typeface="Noto Sans TC"/>
                <a:cs typeface="Noto Sans TC"/>
                <a:sym typeface="Noto Sans TC"/>
              </a:rPr>
              <a:t>」</a:t>
            </a:r>
            <a:endParaRPr sz="1600" dirty="0">
              <a:solidFill>
                <a:srgbClr val="FF5500"/>
              </a:solidFill>
            </a:endParaRPr>
          </a:p>
        </p:txBody>
      </p:sp>
      <p:sp>
        <p:nvSpPr>
          <p:cNvPr id="121" name="Google Shape;121;p13"/>
          <p:cNvSpPr txBox="1"/>
          <p:nvPr/>
        </p:nvSpPr>
        <p:spPr>
          <a:xfrm>
            <a:off x="8101037" y="5657955"/>
            <a:ext cx="3291000" cy="4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Noto Sans TC"/>
                <a:ea typeface="Noto Sans TC"/>
                <a:cs typeface="Noto Sans TC"/>
                <a:sym typeface="Noto Sans TC"/>
              </a:rPr>
              <a:t>主動提示「單次大量投遞可能延遲數小時入帳，請稍後至 ECOCO APP 查看」，完善期望管理。</a:t>
            </a:r>
            <a:endParaRPr sz="1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</Words>
  <Application>Microsoft Office PowerPoint</Application>
  <PresentationFormat>寬螢幕</PresentationFormat>
  <Paragraphs>15</Paragraphs>
  <Slides>1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5" baseType="lpstr">
      <vt:lpstr>Arial</vt:lpstr>
      <vt:lpstr>Noto Sans TC</vt:lpstr>
      <vt:lpstr>Calibri</vt:lpstr>
      <vt:lpstr>Office Theme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王茗芬</cp:lastModifiedBy>
  <cp:revision>1</cp:revision>
  <dcterms:modified xsi:type="dcterms:W3CDTF">2026-09-03T03:58:29Z</dcterms:modified>
</cp:coreProperties>
</file>