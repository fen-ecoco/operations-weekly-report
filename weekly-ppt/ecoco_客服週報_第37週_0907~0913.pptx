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客訴總量（件）</c:v>
                </c:pt>
              </c:strCache>
            </c:strRef>
          </c:tx>
          <c:spPr>
            <a:solidFill>
              <a:srgbClr val="060E9F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3月</c:v>
                </c:pt>
                <c:pt idx="1">
                  <c:v>4月</c:v>
                </c:pt>
                <c:pt idx="2">
                  <c:v>5月</c:v>
                </c:pt>
                <c:pt idx="3">
                  <c:v>6月</c:v>
                </c:pt>
                <c:pt idx="4">
                  <c:v>7月</c:v>
                </c:pt>
                <c:pt idx="5">
                  <c:v>8月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1045</c:v>
                </c:pt>
                <c:pt idx="1">
                  <c:v>600</c:v>
                </c:pt>
                <c:pt idx="2">
                  <c:v>880</c:v>
                </c:pt>
                <c:pt idx="3">
                  <c:v>598</c:v>
                </c:pt>
                <c:pt idx="4">
                  <c:v>678</c:v>
                </c:pt>
                <c:pt idx="5">
                  <c:v>513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E7E-4C14-B54C-4CDC4D727B6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客訴密度（件/站）</c:v>
                </c:pt>
              </c:strCache>
            </c:strRef>
          </c:tx>
          <c:spPr>
            <a:ln w="31750" cap="flat">
              <a:solidFill>
                <a:srgbClr val="FF500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F5000"/>
              </a:solidFill>
              <a:ln w="9525" cap="flat">
                <a:solidFill>
                  <a:srgbClr val="FF5000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3月</c:v>
                </c:pt>
                <c:pt idx="1">
                  <c:v>4月</c:v>
                </c:pt>
                <c:pt idx="2">
                  <c:v>5月</c:v>
                </c:pt>
                <c:pt idx="3">
                  <c:v>6月</c:v>
                </c:pt>
                <c:pt idx="4">
                  <c:v>7月</c:v>
                </c:pt>
                <c:pt idx="5">
                  <c:v>8月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1.86</c:v>
                </c:pt>
                <c:pt idx="1">
                  <c:v>1.07</c:v>
                </c:pt>
                <c:pt idx="2">
                  <c:v>1.57</c:v>
                </c:pt>
                <c:pt idx="3">
                  <c:v>1.07</c:v>
                </c:pt>
                <c:pt idx="4">
                  <c:v>1.21</c:v>
                </c:pt>
                <c:pt idx="5">
                  <c:v>0.91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E7E-4C14-B54C-4CDC4D727B6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5"/>
        <c:axId val="2094734553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88888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88888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valAx>
        <c:axId val="2094734553"/>
        <c:scaling>
          <c:orientation val="minMax"/>
          <c:min val="0"/>
        </c:scaling>
        <c:delete val="0"/>
        <c:axPos val="r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888888"/>
                </a:solidFill>
                <a:latin typeface="Arial"/>
              </a:defRPr>
            </a:pPr>
            <a:endParaRPr lang="en-US"/>
          </a:p>
        </c:txPr>
        <c:crossAx val="2094734555"/>
        <c:crosses val="max"/>
        <c:crossBetween val="between"/>
      </c:valAx>
      <c:catAx>
        <c:axId val="209473455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crossAx val="2094734553"/>
        <c:crosses val="autoZero"/>
        <c:auto val="1"/>
        <c:lblAlgn val="ctr"/>
        <c:lblOffset val="100"/>
        <c:noMultiLvlLbl val="1"/>
      </c:cat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888888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1"/>
  <c:style val="2"/>
  <c:chart>
    <c:autoTitleDeleted val="1"/>
    <c:plotArea>
      <c:layout/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APP帳號設定問題</c:v>
                </c:pt>
              </c:strCache>
            </c:strRef>
          </c:tx>
          <c:spPr>
            <a:solidFill>
              <a:srgbClr val="BA7517"/>
            </a:solidFill>
            <a:effectLst/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50" b="0" i="0" u="none" strike="noStrike">
                    <a:solidFill>
                      <a:srgbClr val="FFFFFF"/>
                    </a:solidFill>
                    <a:latin typeface="Noto Sans TC Bold"/>
                  </a:defRPr>
                </a:pPr>
                <a:endParaRPr lang="zh-TW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26年Q1</c:v>
                </c:pt>
                <c:pt idx="1">
                  <c:v>26年Q2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</c:v>
                </c:pt>
                <c:pt idx="1">
                  <c:v>21.7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39F-4509-A363-81E50A038B8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機台問題</c:v>
                </c:pt>
              </c:strCache>
            </c:strRef>
          </c:tx>
          <c:spPr>
            <a:solidFill>
              <a:srgbClr val="060E9F"/>
            </a:solidFill>
            <a:effectLst/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50" b="0" i="0" u="none" strike="noStrike">
                    <a:solidFill>
                      <a:srgbClr val="FFFFFF"/>
                    </a:solidFill>
                    <a:latin typeface="Noto Sans TC Bold"/>
                  </a:defRPr>
                </a:pPr>
                <a:endParaRPr lang="zh-TW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26年Q1</c:v>
                </c:pt>
                <c:pt idx="1">
                  <c:v>26年Q2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52.2</c:v>
                </c:pt>
                <c:pt idx="1">
                  <c:v>45.4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39F-4509-A363-81E50A038B8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回收點數問題</c:v>
                </c:pt>
              </c:strCache>
            </c:strRef>
          </c:tx>
          <c:spPr>
            <a:solidFill>
              <a:srgbClr val="0076A9"/>
            </a:solidFill>
            <a:effectLst/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50" b="0" i="0" u="none" strike="noStrike">
                    <a:solidFill>
                      <a:srgbClr val="FFFFFF"/>
                    </a:solidFill>
                    <a:latin typeface="Noto Sans TC Bold"/>
                  </a:defRPr>
                </a:pPr>
                <a:endParaRPr lang="zh-TW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26年Q1</c:v>
                </c:pt>
                <c:pt idx="1">
                  <c:v>26年Q2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10</c:v>
                </c:pt>
                <c:pt idx="1">
                  <c:v>10.7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39F-4509-A363-81E50A038B86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顧客關係</c:v>
                </c:pt>
              </c:strCache>
            </c:strRef>
          </c:tx>
          <c:spPr>
            <a:solidFill>
              <a:srgbClr val="7F77DD"/>
            </a:solidFill>
            <a:effectLst/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50" b="0" i="0" u="none" strike="noStrike">
                    <a:solidFill>
                      <a:srgbClr val="FFFFFF"/>
                    </a:solidFill>
                    <a:latin typeface="Noto Sans TC Bold"/>
                  </a:defRPr>
                </a:pPr>
                <a:endParaRPr lang="zh-TW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26年Q1</c:v>
                </c:pt>
                <c:pt idx="1">
                  <c:v>26年Q2</c:v>
                </c:pt>
              </c:strCache>
            </c: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11.8</c:v>
                </c:pt>
                <c:pt idx="1">
                  <c:v>10.6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839F-4509-A363-81E50A038B86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優惠券問題</c:v>
                </c:pt>
              </c:strCache>
            </c:strRef>
          </c:tx>
          <c:spPr>
            <a:solidFill>
              <a:srgbClr val="E24B4A"/>
            </a:solidFill>
            <a:effectLst/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50" b="0" i="0" u="none" strike="noStrike">
                    <a:solidFill>
                      <a:srgbClr val="FFFFFF"/>
                    </a:solidFill>
                    <a:latin typeface="Noto Sans TC Bold"/>
                  </a:defRPr>
                </a:pPr>
                <a:endParaRPr lang="zh-TW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26年Q1</c:v>
                </c:pt>
                <c:pt idx="1">
                  <c:v>26年Q2</c:v>
                </c:pt>
              </c:strCache>
            </c:strRef>
          </c:cat>
          <c:val>
            <c:numRef>
              <c:f>Sheet1!$F$2:$F$3</c:f>
              <c:numCache>
                <c:formatCode>General</c:formatCode>
                <c:ptCount val="2"/>
                <c:pt idx="0">
                  <c:v>11.3</c:v>
                </c:pt>
                <c:pt idx="1">
                  <c:v>6.3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839F-4509-A363-81E50A038B86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APP使用問題</c:v>
                </c:pt>
              </c:strCache>
            </c:strRef>
          </c:tx>
          <c:spPr>
            <a:solidFill>
              <a:srgbClr val="D4537E"/>
            </a:solidFill>
            <a:effectLst/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50" b="0" i="0" u="none" strike="noStrike">
                    <a:solidFill>
                      <a:srgbClr val="FFFFFF"/>
                    </a:solidFill>
                    <a:latin typeface="Noto Sans TC Bold"/>
                  </a:defRPr>
                </a:pPr>
                <a:endParaRPr lang="zh-TW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26年Q1</c:v>
                </c:pt>
                <c:pt idx="1">
                  <c:v>26年Q2</c:v>
                </c:pt>
              </c:strCache>
            </c:strRef>
          </c:cat>
          <c:val>
            <c:numRef>
              <c:f>Sheet1!$G$2:$G$3</c:f>
              <c:numCache>
                <c:formatCode>General</c:formatCode>
                <c:ptCount val="2"/>
                <c:pt idx="0">
                  <c:v>6.3</c:v>
                </c:pt>
                <c:pt idx="1">
                  <c:v>5.2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839F-4509-A363-81E50A038B86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88888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888888"/>
                    </a:solidFill>
                    <a:latin typeface="Arial"/>
                  </a:defRPr>
                </a:pPr>
                <a:r>
                  <a:rPr lang="zh-TW" altLang="en-US" sz="900" b="0" i="0" u="none" strike="noStrike">
                    <a:solidFill>
                      <a:srgbClr val="888888"/>
                    </a:solidFill>
                    <a:latin typeface="Arial"/>
                  </a:rPr>
                  <a:t>客訴佔比</a:t>
                </a:r>
              </a:p>
            </c:rich>
          </c:tx>
          <c:overlay val="0"/>
        </c:title>
        <c:numFmt formatCode="0%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88888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888888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930633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chart" Target="../charts/chart2.xml"/><Relationship Id="rId3" Type="http://schemas.openxmlformats.org/officeDocument/2006/relationships/image" Target="../media/image1.png"/><Relationship Id="rId7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4630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33333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 客服週報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9326880" y="164592"/>
            <a:ext cx="2468880" cy="384048"/>
          </a:xfrm>
          <a:prstGeom prst="roundRect">
            <a:avLst>
              <a:gd name="adj" fmla="val 50000"/>
            </a:avLst>
          </a:prstGeom>
          <a:solidFill>
            <a:srgbClr val="060E9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9326880" y="16459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第37週（09/07 ~ 09/13）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65760" y="685800"/>
            <a:ext cx="2720340" cy="1389888"/>
          </a:xfrm>
          <a:prstGeom prst="roundRect">
            <a:avLst>
              <a:gd name="adj" fmla="val 5921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blurRad="63500" dist="19050" dir="5400000" algn="bl" rotWithShape="0">
              <a:srgbClr val="999999">
                <a:alpha val="2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365760" y="685800"/>
            <a:ext cx="2720340" cy="64008"/>
          </a:xfrm>
          <a:prstGeom prst="roundRect">
            <a:avLst>
              <a:gd name="adj" fmla="val 42857"/>
            </a:avLst>
          </a:prstGeom>
          <a:solidFill>
            <a:srgbClr val="060E9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548640" y="832104"/>
            <a:ext cx="20802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3333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本週客訴總件數 (第37週)</a:t>
            </a:r>
            <a:endParaRPr lang="en-US" sz="1200" dirty="0"/>
          </a:p>
        </p:txBody>
      </p:sp>
      <p:pic>
        <p:nvPicPr>
          <p:cNvPr id="8" name="Image 0" descr="D:\info\0507_Weekly-Report\Operations-Weekly-Report\automation\icons\headset_bl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7188" y="850392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" y="1179576"/>
            <a:ext cx="23545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60E9F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146 </a:t>
            </a:r>
            <a:r>
              <a:rPr lang="en-US" sz="1350" b="1" dirty="0">
                <a:solidFill>
                  <a:srgbClr val="060E9F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件</a:t>
            </a:r>
            <a:endParaRPr lang="en-US" sz="2700" dirty="0"/>
          </a:p>
        </p:txBody>
      </p:sp>
      <p:sp>
        <p:nvSpPr>
          <p:cNvPr id="10" name="Text 7"/>
          <p:cNvSpPr/>
          <p:nvPr/>
        </p:nvSpPr>
        <p:spPr>
          <a:xfrm>
            <a:off x="548640" y="1691640"/>
            <a:ext cx="17145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920" dirty="0">
                <a:solidFill>
                  <a:srgbClr val="888888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較上週 (89件) 增加 57 件</a:t>
            </a:r>
            <a:endParaRPr lang="en-US" sz="920" dirty="0"/>
          </a:p>
        </p:txBody>
      </p:sp>
      <p:sp>
        <p:nvSpPr>
          <p:cNvPr id="11" name="Shape 8"/>
          <p:cNvSpPr/>
          <p:nvPr/>
        </p:nvSpPr>
        <p:spPr>
          <a:xfrm>
            <a:off x="2153412" y="1691640"/>
            <a:ext cx="768096" cy="292608"/>
          </a:xfrm>
          <a:prstGeom prst="roundRect">
            <a:avLst>
              <a:gd name="adj" fmla="val 50000"/>
            </a:avLst>
          </a:prstGeom>
          <a:solidFill>
            <a:srgbClr val="FFE9D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Text 9"/>
          <p:cNvSpPr/>
          <p:nvPr/>
        </p:nvSpPr>
        <p:spPr>
          <a:xfrm>
            <a:off x="2153412" y="1691640"/>
            <a:ext cx="768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F5000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▲64%</a:t>
            </a:r>
            <a:endParaRPr lang="en-US" sz="1020" dirty="0"/>
          </a:p>
        </p:txBody>
      </p:sp>
      <p:sp>
        <p:nvSpPr>
          <p:cNvPr id="13" name="Shape 10"/>
          <p:cNvSpPr/>
          <p:nvPr/>
        </p:nvSpPr>
        <p:spPr>
          <a:xfrm>
            <a:off x="3268980" y="685800"/>
            <a:ext cx="2720340" cy="1389888"/>
          </a:xfrm>
          <a:prstGeom prst="roundRect">
            <a:avLst>
              <a:gd name="adj" fmla="val 5921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blurRad="63500" dist="19050" dir="5400000" algn="bl" rotWithShape="0">
              <a:srgbClr val="999999">
                <a:alpha val="2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4" name="Shape 11"/>
          <p:cNvSpPr/>
          <p:nvPr/>
        </p:nvSpPr>
        <p:spPr>
          <a:xfrm>
            <a:off x="3268980" y="685800"/>
            <a:ext cx="2720340" cy="64008"/>
          </a:xfrm>
          <a:prstGeom prst="roundRect">
            <a:avLst>
              <a:gd name="adj" fmla="val 42857"/>
            </a:avLst>
          </a:prstGeom>
          <a:solidFill>
            <a:srgbClr val="FF50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2"/>
          <p:cNvSpPr/>
          <p:nvPr/>
        </p:nvSpPr>
        <p:spPr>
          <a:xfrm>
            <a:off x="3451860" y="832104"/>
            <a:ext cx="20802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3333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回報最高主題</a:t>
            </a:r>
            <a:endParaRPr lang="en-US" sz="1200" dirty="0"/>
          </a:p>
        </p:txBody>
      </p:sp>
      <p:pic>
        <p:nvPicPr>
          <p:cNvPr id="16" name="Image 1" descr="D:\info\0507_Weekly-Report\Operations-Weekly-Report\automation\icons\warn_oran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50408" y="850392"/>
            <a:ext cx="256032" cy="25603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451860" y="1179576"/>
            <a:ext cx="23545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5000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回收箱滿艙</a:t>
            </a:r>
            <a:endParaRPr lang="en-US" sz="1700" dirty="0"/>
          </a:p>
        </p:txBody>
      </p:sp>
      <p:sp>
        <p:nvSpPr>
          <p:cNvPr id="18" name="Text 14"/>
          <p:cNvSpPr/>
          <p:nvPr/>
        </p:nvSpPr>
        <p:spPr>
          <a:xfrm>
            <a:off x="3451860" y="1691640"/>
            <a:ext cx="17145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920" dirty="0">
                <a:solidFill>
                  <a:srgbClr val="888888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佔比 13%（共 19 件）</a:t>
            </a:r>
            <a:endParaRPr lang="en-US" sz="920" dirty="0"/>
          </a:p>
        </p:txBody>
      </p:sp>
      <p:sp>
        <p:nvSpPr>
          <p:cNvPr id="19" name="Shape 15"/>
          <p:cNvSpPr/>
          <p:nvPr/>
        </p:nvSpPr>
        <p:spPr>
          <a:xfrm>
            <a:off x="5056632" y="1691640"/>
            <a:ext cx="768096" cy="292608"/>
          </a:xfrm>
          <a:prstGeom prst="roundRect">
            <a:avLst>
              <a:gd name="adj" fmla="val 50000"/>
            </a:avLst>
          </a:prstGeom>
          <a:solidFill>
            <a:srgbClr val="DDEAF5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0" name="Text 16"/>
          <p:cNvSpPr/>
          <p:nvPr/>
        </p:nvSpPr>
        <p:spPr>
          <a:xfrm>
            <a:off x="5056632" y="1691640"/>
            <a:ext cx="768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0076A9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▼0.5%</a:t>
            </a:r>
            <a:endParaRPr lang="en-US" sz="1020" dirty="0"/>
          </a:p>
        </p:txBody>
      </p:sp>
      <p:sp>
        <p:nvSpPr>
          <p:cNvPr id="21" name="Shape 17"/>
          <p:cNvSpPr/>
          <p:nvPr/>
        </p:nvSpPr>
        <p:spPr>
          <a:xfrm>
            <a:off x="6172200" y="685800"/>
            <a:ext cx="2720340" cy="1389888"/>
          </a:xfrm>
          <a:prstGeom prst="roundRect">
            <a:avLst>
              <a:gd name="adj" fmla="val 5921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blurRad="63500" dist="19050" dir="5400000" algn="bl" rotWithShape="0">
              <a:srgbClr val="999999">
                <a:alpha val="2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2" name="Shape 18"/>
          <p:cNvSpPr/>
          <p:nvPr/>
        </p:nvSpPr>
        <p:spPr>
          <a:xfrm>
            <a:off x="6172200" y="685800"/>
            <a:ext cx="2720340" cy="64008"/>
          </a:xfrm>
          <a:prstGeom prst="roundRect">
            <a:avLst>
              <a:gd name="adj" fmla="val 42857"/>
            </a:avLst>
          </a:prstGeom>
          <a:solidFill>
            <a:srgbClr val="0076A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3" name="Text 19"/>
          <p:cNvSpPr/>
          <p:nvPr/>
        </p:nvSpPr>
        <p:spPr>
          <a:xfrm>
            <a:off x="6355080" y="832104"/>
            <a:ext cx="20802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3333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客訴量最高站點</a:t>
            </a:r>
            <a:endParaRPr lang="en-US" sz="1200" dirty="0"/>
          </a:p>
        </p:txBody>
      </p:sp>
      <p:pic>
        <p:nvPicPr>
          <p:cNvPr id="24" name="Image 2" descr="D:\info\0507_Weekly-Report\Operations-Weekly-Report\automation\icons\pin_darkblu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3628" y="850392"/>
            <a:ext cx="256032" cy="256032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355080" y="1179576"/>
            <a:ext cx="23545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076A9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全聯福利中心台中大昌店</a:t>
            </a:r>
            <a:endParaRPr lang="en-US" sz="1550" dirty="0"/>
          </a:p>
        </p:txBody>
      </p:sp>
      <p:sp>
        <p:nvSpPr>
          <p:cNvPr id="26" name="Text 21"/>
          <p:cNvSpPr/>
          <p:nvPr/>
        </p:nvSpPr>
        <p:spPr>
          <a:xfrm>
            <a:off x="6355080" y="1691640"/>
            <a:ext cx="17145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920" dirty="0">
                <a:solidFill>
                  <a:srgbClr val="888888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臺中市（本週 7 件）</a:t>
            </a:r>
            <a:endParaRPr lang="en-US" sz="920" dirty="0"/>
          </a:p>
        </p:txBody>
      </p:sp>
      <p:sp>
        <p:nvSpPr>
          <p:cNvPr id="27" name="Shape 22"/>
          <p:cNvSpPr/>
          <p:nvPr/>
        </p:nvSpPr>
        <p:spPr>
          <a:xfrm>
            <a:off x="7959852" y="1691640"/>
            <a:ext cx="768096" cy="292608"/>
          </a:xfrm>
          <a:prstGeom prst="roundRect">
            <a:avLst>
              <a:gd name="adj" fmla="val 50000"/>
            </a:avLst>
          </a:prstGeom>
          <a:solidFill>
            <a:srgbClr val="FFE9D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8" name="Text 23"/>
          <p:cNvSpPr/>
          <p:nvPr/>
        </p:nvSpPr>
        <p:spPr>
          <a:xfrm>
            <a:off x="7959852" y="1691640"/>
            <a:ext cx="768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F5000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▲1件</a:t>
            </a:r>
            <a:endParaRPr lang="en-US" sz="1020" dirty="0"/>
          </a:p>
        </p:txBody>
      </p:sp>
      <p:sp>
        <p:nvSpPr>
          <p:cNvPr id="29" name="Shape 24"/>
          <p:cNvSpPr/>
          <p:nvPr/>
        </p:nvSpPr>
        <p:spPr>
          <a:xfrm>
            <a:off x="9075420" y="685800"/>
            <a:ext cx="2720340" cy="1389888"/>
          </a:xfrm>
          <a:prstGeom prst="roundRect">
            <a:avLst>
              <a:gd name="adj" fmla="val 5921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blurRad="63500" dist="19050" dir="5400000" algn="bl" rotWithShape="0">
              <a:srgbClr val="999999">
                <a:alpha val="2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30" name="Shape 25"/>
          <p:cNvSpPr/>
          <p:nvPr/>
        </p:nvSpPr>
        <p:spPr>
          <a:xfrm>
            <a:off x="9075420" y="685800"/>
            <a:ext cx="2720340" cy="64008"/>
          </a:xfrm>
          <a:prstGeom prst="roundRect">
            <a:avLst>
              <a:gd name="adj" fmla="val 42857"/>
            </a:avLst>
          </a:prstGeom>
          <a:solidFill>
            <a:srgbClr val="FFCE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1" name="Text 26"/>
          <p:cNvSpPr/>
          <p:nvPr/>
        </p:nvSpPr>
        <p:spPr>
          <a:xfrm>
            <a:off x="9258300" y="832104"/>
            <a:ext cx="20802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3333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非機台問題佔比</a:t>
            </a:r>
            <a:endParaRPr lang="en-US" sz="1200" dirty="0"/>
          </a:p>
        </p:txBody>
      </p:sp>
      <p:pic>
        <p:nvPicPr>
          <p:cNvPr id="32" name="Image 3" descr="D:\info\0507_Weekly-Report\Operations-Weekly-Report\automation\icons\usercog_gol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56848" y="850392"/>
            <a:ext cx="256032" cy="256032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9258300" y="1179576"/>
            <a:ext cx="23545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9C7A00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34.9</a:t>
            </a:r>
            <a:r>
              <a:rPr lang="en-US" sz="1350" b="1" dirty="0">
                <a:solidFill>
                  <a:srgbClr val="9C7A00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%</a:t>
            </a:r>
            <a:endParaRPr lang="en-US" sz="2700" dirty="0"/>
          </a:p>
        </p:txBody>
      </p:sp>
      <p:sp>
        <p:nvSpPr>
          <p:cNvPr id="34" name="Text 28"/>
          <p:cNvSpPr/>
          <p:nvPr/>
        </p:nvSpPr>
        <p:spPr>
          <a:xfrm>
            <a:off x="9258300" y="1691640"/>
            <a:ext cx="17145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920" dirty="0">
                <a:solidFill>
                  <a:srgbClr val="888888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代表案例類型：點數未入帳號</a:t>
            </a:r>
            <a:endParaRPr lang="en-US" sz="920" dirty="0"/>
          </a:p>
        </p:txBody>
      </p:sp>
      <p:sp>
        <p:nvSpPr>
          <p:cNvPr id="35" name="Shape 29"/>
          <p:cNvSpPr/>
          <p:nvPr/>
        </p:nvSpPr>
        <p:spPr>
          <a:xfrm>
            <a:off x="10863072" y="1691640"/>
            <a:ext cx="768096" cy="292608"/>
          </a:xfrm>
          <a:prstGeom prst="roundRect">
            <a:avLst>
              <a:gd name="adj" fmla="val 50000"/>
            </a:avLst>
          </a:prstGeom>
          <a:solidFill>
            <a:srgbClr val="FFE9D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6" name="Text 30"/>
          <p:cNvSpPr/>
          <p:nvPr/>
        </p:nvSpPr>
        <p:spPr>
          <a:xfrm>
            <a:off x="10863072" y="1691640"/>
            <a:ext cx="768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F5000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▲0.1%</a:t>
            </a:r>
            <a:endParaRPr lang="en-US" sz="1020" dirty="0"/>
          </a:p>
        </p:txBody>
      </p:sp>
      <p:sp>
        <p:nvSpPr>
          <p:cNvPr id="37" name="Shape 31"/>
          <p:cNvSpPr/>
          <p:nvPr/>
        </p:nvSpPr>
        <p:spPr>
          <a:xfrm>
            <a:off x="365760" y="2459736"/>
            <a:ext cx="64008" cy="256032"/>
          </a:xfrm>
          <a:prstGeom prst="rect">
            <a:avLst/>
          </a:prstGeom>
          <a:solidFill>
            <a:srgbClr val="FF50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8" name="Text 32"/>
          <p:cNvSpPr/>
          <p:nvPr/>
        </p:nvSpPr>
        <p:spPr>
          <a:xfrm>
            <a:off x="502920" y="2432304"/>
            <a:ext cx="6995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60E9F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客訴趨勢分析（近4週）　單位：件數</a:t>
            </a:r>
            <a:endParaRPr lang="en-US" sz="130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807208"/>
          <a:ext cx="7141464" cy="3017520"/>
        </p:xfrm>
        <a:graphic>
          <a:graphicData uri="http://schemas.openxmlformats.org/drawingml/2006/table">
            <a:tbl>
              <a:tblPr/>
              <a:tblGrid>
                <a:gridCol w="10241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0525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6035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週次</a:t>
                      </a:r>
                      <a:endParaRPr lang="en-US" sz="11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機台問題</a:t>
                      </a:r>
                      <a:endParaRPr lang="en-US" sz="11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APP帳號設定問題</a:t>
                      </a:r>
                      <a:endParaRPr lang="en-US" sz="11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回收點數問題</a:t>
                      </a:r>
                      <a:endParaRPr lang="en-US" sz="11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顧客關係</a:t>
                      </a:r>
                      <a:endParaRPr lang="en-US" sz="11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優惠券問題</a:t>
                      </a:r>
                      <a:endParaRPr lang="en-US" sz="11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APP使用問題</a:t>
                      </a:r>
                      <a:endParaRPr lang="en-US" sz="11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加總</a:t>
                      </a:r>
                      <a:endParaRPr lang="en-US" sz="11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第34週</a:t>
                      </a:r>
                      <a:endParaRPr lang="en-US" sz="10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34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2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4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16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2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3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61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第35週</a:t>
                      </a:r>
                      <a:endParaRPr lang="en-US" sz="10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42</a:t>
                      </a:r>
                      <a:endParaRPr lang="en-US" sz="1200" dirty="0"/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5000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▲8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3</a:t>
                      </a:r>
                      <a:endParaRPr lang="en-US" sz="1200" dirty="0"/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5000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▲1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8</a:t>
                      </a:r>
                      <a:endParaRPr lang="en-US" sz="1200" dirty="0"/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5000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▲4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17</a:t>
                      </a:r>
                      <a:endParaRPr lang="en-US" sz="1200" dirty="0"/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5000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▲1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2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4</a:t>
                      </a:r>
                      <a:endParaRPr lang="en-US" sz="1200" dirty="0"/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5000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▲1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76</a:t>
                      </a:r>
                      <a:endParaRPr lang="en-US" sz="1200" dirty="0"/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▲15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第36週</a:t>
                      </a:r>
                      <a:endParaRPr lang="en-US" sz="10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58</a:t>
                      </a:r>
                      <a:endParaRPr lang="en-US" sz="1200" dirty="0"/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5000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▲16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2</a:t>
                      </a:r>
                      <a:endParaRPr lang="en-US" sz="1200" dirty="0"/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76A9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▼1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7</a:t>
                      </a:r>
                      <a:endParaRPr lang="en-US" sz="1200" dirty="0"/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76A9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▼1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14</a:t>
                      </a:r>
                      <a:endParaRPr lang="en-US" sz="1200" dirty="0"/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76A9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▼3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7</a:t>
                      </a:r>
                      <a:endParaRPr lang="en-US" sz="1200" dirty="0"/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5000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▲5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1</a:t>
                      </a:r>
                      <a:endParaRPr lang="en-US" sz="1200" dirty="0"/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76A9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▼3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89</a:t>
                      </a:r>
                      <a:endParaRPr lang="en-US" sz="1200" dirty="0"/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▲13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第37週</a:t>
                      </a:r>
                      <a:endParaRPr lang="en-US" sz="105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0B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95</a:t>
                      </a:r>
                      <a:endParaRPr lang="en-US" sz="1200" dirty="0"/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5000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▲37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0B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4</a:t>
                      </a:r>
                      <a:endParaRPr lang="en-US" sz="1200" dirty="0"/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5000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▲2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0B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16</a:t>
                      </a:r>
                      <a:endParaRPr lang="en-US" sz="1200" dirty="0"/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5000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▲9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0B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12</a:t>
                      </a:r>
                      <a:endParaRPr lang="en-US" sz="1200" dirty="0"/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76A9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▼2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0B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5</a:t>
                      </a:r>
                      <a:endParaRPr lang="en-US" sz="1200" dirty="0"/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76A9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▼2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0B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14</a:t>
                      </a:r>
                      <a:endParaRPr lang="en-US" sz="1200" dirty="0"/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5000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▲13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0B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146</a:t>
                      </a:r>
                      <a:endParaRPr lang="en-US" sz="1200" dirty="0"/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▲57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0" name="Shape 33"/>
          <p:cNvSpPr/>
          <p:nvPr/>
        </p:nvSpPr>
        <p:spPr>
          <a:xfrm>
            <a:off x="7772400" y="2459736"/>
            <a:ext cx="64008" cy="256032"/>
          </a:xfrm>
          <a:prstGeom prst="rect">
            <a:avLst/>
          </a:prstGeom>
          <a:solidFill>
            <a:srgbClr val="FF50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1" name="Text 34"/>
          <p:cNvSpPr/>
          <p:nvPr/>
        </p:nvSpPr>
        <p:spPr>
          <a:xfrm>
            <a:off x="7909560" y="2432304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5000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非機台問題 Top 3</a:t>
            </a:r>
            <a:endParaRPr lang="en-US" sz="1300" dirty="0"/>
          </a:p>
        </p:txBody>
      </p:sp>
      <p:sp>
        <p:nvSpPr>
          <p:cNvPr id="42" name="Shape 35"/>
          <p:cNvSpPr/>
          <p:nvPr/>
        </p:nvSpPr>
        <p:spPr>
          <a:xfrm>
            <a:off x="7772400" y="2807208"/>
            <a:ext cx="4023360" cy="1188720"/>
          </a:xfrm>
          <a:prstGeom prst="roundRect">
            <a:avLst>
              <a:gd name="adj" fmla="val 6154"/>
            </a:avLst>
          </a:prstGeom>
          <a:solidFill>
            <a:srgbClr val="FFF4EF"/>
          </a:solidFill>
          <a:ln w="12700">
            <a:solidFill>
              <a:srgbClr val="FF50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3" name="Shape 36"/>
          <p:cNvSpPr/>
          <p:nvPr/>
        </p:nvSpPr>
        <p:spPr>
          <a:xfrm>
            <a:off x="7772400" y="2807208"/>
            <a:ext cx="54864" cy="1188720"/>
          </a:xfrm>
          <a:prstGeom prst="rect">
            <a:avLst/>
          </a:prstGeom>
          <a:solidFill>
            <a:srgbClr val="FF50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4" name="Text 37"/>
          <p:cNvSpPr/>
          <p:nvPr/>
        </p:nvSpPr>
        <p:spPr>
          <a:xfrm>
            <a:off x="7918704" y="2916936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5000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1</a:t>
            </a:r>
            <a:endParaRPr lang="en-US" sz="1700" dirty="0"/>
          </a:p>
        </p:txBody>
      </p:sp>
      <p:sp>
        <p:nvSpPr>
          <p:cNvPr id="45" name="Text 38"/>
          <p:cNvSpPr/>
          <p:nvPr/>
        </p:nvSpPr>
        <p:spPr>
          <a:xfrm>
            <a:off x="8394192" y="289864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33333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點數未入帳號</a:t>
            </a:r>
            <a:endParaRPr lang="en-US" sz="1250" dirty="0"/>
          </a:p>
        </p:txBody>
      </p:sp>
      <p:sp>
        <p:nvSpPr>
          <p:cNvPr id="46" name="Text 39"/>
          <p:cNvSpPr/>
          <p:nvPr/>
        </p:nvSpPr>
        <p:spPr>
          <a:xfrm>
            <a:off x="8394192" y="328269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5000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16件</a:t>
            </a:r>
            <a:r>
              <a:rPr lang="en-US" sz="1150" b="1" dirty="0">
                <a:solidFill>
                  <a:srgbClr val="FF5000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　11%</a:t>
            </a:r>
            <a:endParaRPr lang="en-US" sz="1700" dirty="0"/>
          </a:p>
        </p:txBody>
      </p:sp>
      <p:sp>
        <p:nvSpPr>
          <p:cNvPr id="47" name="Shape 40"/>
          <p:cNvSpPr/>
          <p:nvPr/>
        </p:nvSpPr>
        <p:spPr>
          <a:xfrm>
            <a:off x="8394192" y="3794760"/>
            <a:ext cx="3200400" cy="64008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8" name="Shape 41"/>
          <p:cNvSpPr/>
          <p:nvPr/>
        </p:nvSpPr>
        <p:spPr>
          <a:xfrm>
            <a:off x="8394192" y="3794760"/>
            <a:ext cx="3200400" cy="64008"/>
          </a:xfrm>
          <a:prstGeom prst="rect">
            <a:avLst/>
          </a:prstGeom>
          <a:solidFill>
            <a:srgbClr val="FF50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9" name="Shape 42"/>
          <p:cNvSpPr/>
          <p:nvPr/>
        </p:nvSpPr>
        <p:spPr>
          <a:xfrm>
            <a:off x="7772400" y="4151376"/>
            <a:ext cx="4023360" cy="1188720"/>
          </a:xfrm>
          <a:prstGeom prst="roundRect">
            <a:avLst>
              <a:gd name="adj" fmla="val 6154"/>
            </a:avLst>
          </a:prstGeom>
          <a:solidFill>
            <a:srgbClr val="EEF6FB"/>
          </a:solidFill>
          <a:ln w="12700">
            <a:solidFill>
              <a:srgbClr val="0076A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0" name="Shape 43"/>
          <p:cNvSpPr/>
          <p:nvPr/>
        </p:nvSpPr>
        <p:spPr>
          <a:xfrm>
            <a:off x="7772400" y="4151376"/>
            <a:ext cx="54864" cy="1188720"/>
          </a:xfrm>
          <a:prstGeom prst="rect">
            <a:avLst/>
          </a:prstGeom>
          <a:solidFill>
            <a:srgbClr val="0076A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1" name="Text 44"/>
          <p:cNvSpPr/>
          <p:nvPr/>
        </p:nvSpPr>
        <p:spPr>
          <a:xfrm>
            <a:off x="7918704" y="4261104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76A9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2</a:t>
            </a:r>
            <a:endParaRPr lang="en-US" sz="1700" dirty="0"/>
          </a:p>
        </p:txBody>
      </p:sp>
      <p:sp>
        <p:nvSpPr>
          <p:cNvPr id="52" name="Text 45"/>
          <p:cNvSpPr/>
          <p:nvPr/>
        </p:nvSpPr>
        <p:spPr>
          <a:xfrm>
            <a:off x="8394192" y="424281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33333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APP畫面顯示與機台狀態不符</a:t>
            </a:r>
            <a:endParaRPr lang="en-US" sz="1250" dirty="0"/>
          </a:p>
        </p:txBody>
      </p:sp>
      <p:sp>
        <p:nvSpPr>
          <p:cNvPr id="53" name="Text 46"/>
          <p:cNvSpPr/>
          <p:nvPr/>
        </p:nvSpPr>
        <p:spPr>
          <a:xfrm>
            <a:off x="8394192" y="462686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76A9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10件</a:t>
            </a:r>
            <a:r>
              <a:rPr lang="en-US" sz="1150" b="1" dirty="0">
                <a:solidFill>
                  <a:srgbClr val="0076A9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　6.8%</a:t>
            </a:r>
            <a:endParaRPr lang="en-US" sz="1700" dirty="0"/>
          </a:p>
        </p:txBody>
      </p:sp>
      <p:sp>
        <p:nvSpPr>
          <p:cNvPr id="54" name="Shape 47"/>
          <p:cNvSpPr/>
          <p:nvPr/>
        </p:nvSpPr>
        <p:spPr>
          <a:xfrm>
            <a:off x="8394192" y="5138928"/>
            <a:ext cx="3200400" cy="64008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5" name="Shape 48"/>
          <p:cNvSpPr/>
          <p:nvPr/>
        </p:nvSpPr>
        <p:spPr>
          <a:xfrm>
            <a:off x="8394192" y="5138928"/>
            <a:ext cx="2000250" cy="64008"/>
          </a:xfrm>
          <a:prstGeom prst="rect">
            <a:avLst/>
          </a:prstGeom>
          <a:solidFill>
            <a:srgbClr val="0076A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6" name="Shape 49"/>
          <p:cNvSpPr/>
          <p:nvPr/>
        </p:nvSpPr>
        <p:spPr>
          <a:xfrm>
            <a:off x="7772400" y="5495544"/>
            <a:ext cx="4023360" cy="1188720"/>
          </a:xfrm>
          <a:prstGeom prst="roundRect">
            <a:avLst>
              <a:gd name="adj" fmla="val 6154"/>
            </a:avLst>
          </a:prstGeom>
          <a:solidFill>
            <a:srgbClr val="F5F7FF"/>
          </a:solidFill>
          <a:ln w="12700">
            <a:solidFill>
              <a:srgbClr val="060E9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7" name="Shape 50"/>
          <p:cNvSpPr/>
          <p:nvPr/>
        </p:nvSpPr>
        <p:spPr>
          <a:xfrm>
            <a:off x="7772400" y="5495544"/>
            <a:ext cx="54864" cy="1188720"/>
          </a:xfrm>
          <a:prstGeom prst="rect">
            <a:avLst/>
          </a:prstGeom>
          <a:solidFill>
            <a:srgbClr val="060E9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8" name="Text 51"/>
          <p:cNvSpPr/>
          <p:nvPr/>
        </p:nvSpPr>
        <p:spPr>
          <a:xfrm>
            <a:off x="7918704" y="5605272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60E9F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3</a:t>
            </a:r>
            <a:endParaRPr lang="en-US" sz="1700" dirty="0"/>
          </a:p>
        </p:txBody>
      </p:sp>
      <p:sp>
        <p:nvSpPr>
          <p:cNvPr id="59" name="Text 52"/>
          <p:cNvSpPr/>
          <p:nvPr/>
        </p:nvSpPr>
        <p:spPr>
          <a:xfrm>
            <a:off x="8394192" y="558698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33333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許願新增站點/設站建議</a:t>
            </a:r>
            <a:endParaRPr lang="en-US" sz="1250" dirty="0"/>
          </a:p>
        </p:txBody>
      </p:sp>
      <p:sp>
        <p:nvSpPr>
          <p:cNvPr id="60" name="Text 53"/>
          <p:cNvSpPr/>
          <p:nvPr/>
        </p:nvSpPr>
        <p:spPr>
          <a:xfrm>
            <a:off x="8394192" y="597103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60E9F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7件</a:t>
            </a:r>
            <a:r>
              <a:rPr lang="en-US" sz="1150" b="1" dirty="0">
                <a:solidFill>
                  <a:srgbClr val="060E9F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　4.8%</a:t>
            </a:r>
            <a:endParaRPr lang="en-US" sz="1700" dirty="0"/>
          </a:p>
        </p:txBody>
      </p:sp>
      <p:sp>
        <p:nvSpPr>
          <p:cNvPr id="61" name="Shape 54"/>
          <p:cNvSpPr/>
          <p:nvPr/>
        </p:nvSpPr>
        <p:spPr>
          <a:xfrm>
            <a:off x="8394192" y="6483096"/>
            <a:ext cx="3200400" cy="64008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2" name="Shape 55"/>
          <p:cNvSpPr/>
          <p:nvPr/>
        </p:nvSpPr>
        <p:spPr>
          <a:xfrm>
            <a:off x="8394192" y="6483096"/>
            <a:ext cx="1400175" cy="64008"/>
          </a:xfrm>
          <a:prstGeom prst="rect">
            <a:avLst/>
          </a:prstGeom>
          <a:solidFill>
            <a:srgbClr val="060E9F"/>
          </a:solidFill>
          <a:ln/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73152" cy="329184"/>
          </a:xfrm>
          <a:prstGeom prst="rect">
            <a:avLst/>
          </a:prstGeom>
          <a:solidFill>
            <a:srgbClr val="0076A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530352" y="146304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333333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客訴機台類型與高頻站點分析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9326880" y="164592"/>
            <a:ext cx="2468880" cy="384048"/>
          </a:xfrm>
          <a:prstGeom prst="roundRect">
            <a:avLst>
              <a:gd name="adj" fmla="val 50000"/>
            </a:avLst>
          </a:prstGeom>
          <a:solidFill>
            <a:srgbClr val="060E9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9326880" y="16459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第37週（09/07 ~ 09/13）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65760" y="868680"/>
            <a:ext cx="5554980" cy="4160520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  <a:effectLst>
            <a:outerShdw blurRad="76200" dist="25400" dir="5400000" algn="bl" rotWithShape="0">
              <a:srgbClr val="999999">
                <a:alpha val="2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pic>
        <p:nvPicPr>
          <p:cNvPr id="7" name="Image 0" descr="D:\info\0507_Weekly-Report\Operations-Weekly-Report\automation\icons\recycle_bl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1069848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60704" y="1024128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60E9F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收瓶機 ／ 方舟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4091940" y="1069848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FF50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0" name="Text 7"/>
          <p:cNvSpPr/>
          <p:nvPr/>
        </p:nvSpPr>
        <p:spPr>
          <a:xfrm>
            <a:off x="4091940" y="106984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103件 (84.4%)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85216" y="1554480"/>
            <a:ext cx="5116068" cy="1057656"/>
          </a:xfrm>
          <a:prstGeom prst="roundRect">
            <a:avLst>
              <a:gd name="adj" fmla="val 5187"/>
            </a:avLst>
          </a:prstGeom>
          <a:solidFill>
            <a:srgbClr val="F8F9F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Text 9"/>
          <p:cNvSpPr/>
          <p:nvPr/>
        </p:nvSpPr>
        <p:spPr>
          <a:xfrm>
            <a:off x="694944" y="16550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5000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1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143000" y="1609344"/>
            <a:ext cx="45034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333333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滿艙問題（回收箱／寶特瓶）</a:t>
            </a:r>
            <a:r>
              <a:rPr lang="en-US" sz="1400" b="1" dirty="0">
                <a:solidFill>
                  <a:srgbClr val="FF5000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　合計 36.9% (38件)</a:t>
            </a:r>
            <a:endParaRPr lang="en-US" sz="1600" dirty="0"/>
          </a:p>
        </p:txBody>
      </p:sp>
      <p:pic>
        <p:nvPicPr>
          <p:cNvPr id="14" name="Image 1" descr="D:\info\0507_Weekly-Report\Operations-Weekly-Report\automation\icons\pin_gra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2103120"/>
            <a:ext cx="137160" cy="1371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325880" y="2057400"/>
            <a:ext cx="43205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8888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最高回報站點：C｜桃園/全聯福利中心龍潭中興店站（2件）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585216" y="2712720"/>
            <a:ext cx="5116068" cy="1057656"/>
          </a:xfrm>
          <a:prstGeom prst="roundRect">
            <a:avLst>
              <a:gd name="adj" fmla="val 5187"/>
            </a:avLst>
          </a:prstGeom>
          <a:solidFill>
            <a:srgbClr val="F8F9F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3"/>
          <p:cNvSpPr/>
          <p:nvPr/>
        </p:nvSpPr>
        <p:spPr>
          <a:xfrm>
            <a:off x="694944" y="28133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60E9F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2</a:t>
            </a:r>
            <a:endParaRPr lang="en-US" sz="1800" dirty="0"/>
          </a:p>
        </p:txBody>
      </p:sp>
      <p:sp>
        <p:nvSpPr>
          <p:cNvPr id="18" name="Text 14"/>
          <p:cNvSpPr/>
          <p:nvPr/>
        </p:nvSpPr>
        <p:spPr>
          <a:xfrm>
            <a:off x="1143000" y="2767584"/>
            <a:ext cx="45034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333333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機台當機/無回應</a:t>
            </a:r>
            <a:r>
              <a:rPr lang="en-US" sz="1400" b="1" dirty="0">
                <a:solidFill>
                  <a:srgbClr val="060E9F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　合計 8.7% (9件)</a:t>
            </a:r>
            <a:endParaRPr lang="en-US" sz="1600" dirty="0"/>
          </a:p>
        </p:txBody>
      </p:sp>
      <p:pic>
        <p:nvPicPr>
          <p:cNvPr id="19" name="Image 2" descr="D:\info\0507_Weekly-Report\Operations-Weekly-Report\automation\icons\pin_gra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3261360"/>
            <a:ext cx="137160" cy="1371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325880" y="3215640"/>
            <a:ext cx="43205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8888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最高回報站點：D｜臺南/全聯福利中心台南仁和店站（2件）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585216" y="3870960"/>
            <a:ext cx="5116068" cy="1057656"/>
          </a:xfrm>
          <a:prstGeom prst="roundRect">
            <a:avLst>
              <a:gd name="adj" fmla="val 5187"/>
            </a:avLst>
          </a:prstGeom>
          <a:solidFill>
            <a:srgbClr val="F8F9F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2" name="Text 17"/>
          <p:cNvSpPr/>
          <p:nvPr/>
        </p:nvSpPr>
        <p:spPr>
          <a:xfrm>
            <a:off x="694944" y="39715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76A9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Text 18"/>
          <p:cNvSpPr/>
          <p:nvPr/>
        </p:nvSpPr>
        <p:spPr>
          <a:xfrm>
            <a:off x="1143000" y="3925824"/>
            <a:ext cx="45034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333333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螢幕異常顯示/畫面異常</a:t>
            </a:r>
            <a:r>
              <a:rPr lang="en-US" sz="1400" b="1" dirty="0">
                <a:solidFill>
                  <a:srgbClr val="0076A9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　合計 6.8% (7件)</a:t>
            </a:r>
            <a:endParaRPr lang="en-US" sz="1600" dirty="0"/>
          </a:p>
        </p:txBody>
      </p:sp>
      <p:pic>
        <p:nvPicPr>
          <p:cNvPr id="24" name="Image 3" descr="D:\info\0507_Weekly-Report\Operations-Weekly-Report\automation\icons\pin_gra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4419600"/>
            <a:ext cx="137160" cy="13716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325880" y="4373880"/>
            <a:ext cx="43205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8888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最高回報站點：F｜雲林/全聯福利中心元長元南店站（3件）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6240780" y="868680"/>
            <a:ext cx="5554980" cy="4160520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  <a:effectLst>
            <a:outerShdw blurRad="76200" dist="25400" dir="5400000" algn="bl" rotWithShape="0">
              <a:srgbClr val="999999">
                <a:alpha val="2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pic>
        <p:nvPicPr>
          <p:cNvPr id="27" name="Image 4" descr="D:\info\0507_Weekly-Report\Operations-Weekly-Report\automation\icons\battery_oran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6812" y="1069848"/>
            <a:ext cx="347472" cy="34747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6935724" y="1024128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60E9F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二代電池機</a:t>
            </a:r>
            <a:endParaRPr lang="en-US" sz="1800" dirty="0"/>
          </a:p>
        </p:txBody>
      </p:sp>
      <p:sp>
        <p:nvSpPr>
          <p:cNvPr id="29" name="Shape 22"/>
          <p:cNvSpPr/>
          <p:nvPr/>
        </p:nvSpPr>
        <p:spPr>
          <a:xfrm>
            <a:off x="9966960" y="1069848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FFCE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0" name="Text 23"/>
          <p:cNvSpPr/>
          <p:nvPr/>
        </p:nvSpPr>
        <p:spPr>
          <a:xfrm>
            <a:off x="9966960" y="106984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60E9F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19件 (15.6%)</a:t>
            </a:r>
            <a:endParaRPr lang="en-US" sz="1150" dirty="0"/>
          </a:p>
        </p:txBody>
      </p:sp>
      <p:sp>
        <p:nvSpPr>
          <p:cNvPr id="31" name="Shape 24"/>
          <p:cNvSpPr/>
          <p:nvPr/>
        </p:nvSpPr>
        <p:spPr>
          <a:xfrm>
            <a:off x="6460236" y="1554480"/>
            <a:ext cx="5116068" cy="1057656"/>
          </a:xfrm>
          <a:prstGeom prst="roundRect">
            <a:avLst>
              <a:gd name="adj" fmla="val 5187"/>
            </a:avLst>
          </a:prstGeom>
          <a:solidFill>
            <a:srgbClr val="F8F9F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2" name="Text 25"/>
          <p:cNvSpPr/>
          <p:nvPr/>
        </p:nvSpPr>
        <p:spPr>
          <a:xfrm>
            <a:off x="6569964" y="16550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5000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1</a:t>
            </a:r>
            <a:endParaRPr lang="en-US" sz="1800" dirty="0"/>
          </a:p>
        </p:txBody>
      </p:sp>
      <p:sp>
        <p:nvSpPr>
          <p:cNvPr id="33" name="Text 26"/>
          <p:cNvSpPr/>
          <p:nvPr/>
        </p:nvSpPr>
        <p:spPr>
          <a:xfrm>
            <a:off x="7018020" y="1609344"/>
            <a:ext cx="45034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333333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點數未入帳號</a:t>
            </a:r>
            <a:r>
              <a:rPr lang="en-US" sz="1400" b="1" dirty="0">
                <a:solidFill>
                  <a:srgbClr val="FF5000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　合計 47.4% (9件)</a:t>
            </a:r>
            <a:endParaRPr lang="en-US" sz="1600" dirty="0"/>
          </a:p>
        </p:txBody>
      </p:sp>
      <p:pic>
        <p:nvPicPr>
          <p:cNvPr id="34" name="Image 5" descr="D:\info\0507_Weekly-Report\Operations-Weekly-Report\automation\icons\pin_gra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8020" y="2103120"/>
            <a:ext cx="137160" cy="137160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7200900" y="2057400"/>
            <a:ext cx="43205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8888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最高回報站點：A｜高雄/小北百貨高雄鳥松店站（4件）</a:t>
            </a:r>
            <a:endParaRPr lang="en-US" sz="1050" dirty="0"/>
          </a:p>
        </p:txBody>
      </p:sp>
      <p:sp>
        <p:nvSpPr>
          <p:cNvPr id="36" name="Shape 28"/>
          <p:cNvSpPr/>
          <p:nvPr/>
        </p:nvSpPr>
        <p:spPr>
          <a:xfrm>
            <a:off x="6460236" y="2712720"/>
            <a:ext cx="5116068" cy="1057656"/>
          </a:xfrm>
          <a:prstGeom prst="roundRect">
            <a:avLst>
              <a:gd name="adj" fmla="val 5187"/>
            </a:avLst>
          </a:prstGeom>
          <a:solidFill>
            <a:srgbClr val="F8F9F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7" name="Text 29"/>
          <p:cNvSpPr/>
          <p:nvPr/>
        </p:nvSpPr>
        <p:spPr>
          <a:xfrm>
            <a:off x="6569964" y="28133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60E9F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2</a:t>
            </a:r>
            <a:endParaRPr lang="en-US" sz="1800" dirty="0"/>
          </a:p>
        </p:txBody>
      </p:sp>
      <p:sp>
        <p:nvSpPr>
          <p:cNvPr id="38" name="Text 30"/>
          <p:cNvSpPr/>
          <p:nvPr/>
        </p:nvSpPr>
        <p:spPr>
          <a:xfrm>
            <a:off x="7018020" y="2767584"/>
            <a:ext cx="45034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333333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投入物卡住_瓶罐/電池</a:t>
            </a:r>
            <a:r>
              <a:rPr lang="en-US" sz="1400" b="1" dirty="0">
                <a:solidFill>
                  <a:srgbClr val="060E9F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　合計 15.8% (3件)</a:t>
            </a:r>
            <a:endParaRPr lang="en-US" sz="1600" dirty="0"/>
          </a:p>
        </p:txBody>
      </p:sp>
      <p:pic>
        <p:nvPicPr>
          <p:cNvPr id="39" name="Image 6" descr="D:\info\0507_Weekly-Report\Operations-Weekly-Report\automation\icons\pin_gra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8020" y="3261360"/>
            <a:ext cx="137160" cy="137160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7200900" y="3215640"/>
            <a:ext cx="43205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8888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最高回報站點：E｜桃園/全聯福利中心觀音莊敬店站（1件）</a:t>
            </a:r>
            <a:endParaRPr lang="en-US" sz="1050" dirty="0"/>
          </a:p>
        </p:txBody>
      </p:sp>
      <p:sp>
        <p:nvSpPr>
          <p:cNvPr id="41" name="Shape 32"/>
          <p:cNvSpPr/>
          <p:nvPr/>
        </p:nvSpPr>
        <p:spPr>
          <a:xfrm>
            <a:off x="6460236" y="3870960"/>
            <a:ext cx="5116068" cy="1057656"/>
          </a:xfrm>
          <a:prstGeom prst="roundRect">
            <a:avLst>
              <a:gd name="adj" fmla="val 5187"/>
            </a:avLst>
          </a:prstGeom>
          <a:solidFill>
            <a:srgbClr val="F8F9F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2" name="Text 33"/>
          <p:cNvSpPr/>
          <p:nvPr/>
        </p:nvSpPr>
        <p:spPr>
          <a:xfrm>
            <a:off x="6569964" y="39715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76A9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3</a:t>
            </a:r>
            <a:endParaRPr lang="en-US" sz="1800" dirty="0"/>
          </a:p>
        </p:txBody>
      </p:sp>
      <p:sp>
        <p:nvSpPr>
          <p:cNvPr id="43" name="Text 34"/>
          <p:cNvSpPr/>
          <p:nvPr/>
        </p:nvSpPr>
        <p:spPr>
          <a:xfrm>
            <a:off x="7018020" y="3925824"/>
            <a:ext cx="45034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333333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履帶未作動或異常抖動</a:t>
            </a:r>
            <a:r>
              <a:rPr lang="en-US" sz="1400" b="1" dirty="0">
                <a:solidFill>
                  <a:srgbClr val="0076A9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　合計 10.5% (2件)</a:t>
            </a:r>
            <a:endParaRPr lang="en-US" sz="1600" dirty="0"/>
          </a:p>
        </p:txBody>
      </p:sp>
      <p:pic>
        <p:nvPicPr>
          <p:cNvPr id="44" name="Image 7" descr="D:\info\0507_Weekly-Report\Operations-Weekly-Report\automation\icons\pin_gra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8020" y="4419600"/>
            <a:ext cx="137160" cy="137160"/>
          </a:xfrm>
          <a:prstGeom prst="rect">
            <a:avLst/>
          </a:prstGeom>
        </p:spPr>
      </p:pic>
      <p:sp>
        <p:nvSpPr>
          <p:cNvPr id="45" name="Text 35"/>
          <p:cNvSpPr/>
          <p:nvPr/>
        </p:nvSpPr>
        <p:spPr>
          <a:xfrm>
            <a:off x="7200900" y="4373880"/>
            <a:ext cx="43205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8888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最高回報站點：C｜彰化/全家和美八大店站（1件）</a:t>
            </a:r>
            <a:endParaRPr lang="en-US" sz="1050" dirty="0"/>
          </a:p>
        </p:txBody>
      </p:sp>
      <p:sp>
        <p:nvSpPr>
          <p:cNvPr id="46" name="Shape 36"/>
          <p:cNvSpPr/>
          <p:nvPr/>
        </p:nvSpPr>
        <p:spPr>
          <a:xfrm>
            <a:off x="365760" y="5257800"/>
            <a:ext cx="11430000" cy="777240"/>
          </a:xfrm>
          <a:prstGeom prst="roundRect">
            <a:avLst>
              <a:gd name="adj" fmla="val 9412"/>
            </a:avLst>
          </a:prstGeom>
          <a:solidFill>
            <a:srgbClr val="FAE0B8"/>
          </a:solidFill>
          <a:ln w="15875">
            <a:solidFill>
              <a:srgbClr val="FFCE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47" name="Image 8" descr="D:\info\0507_Weekly-Report\Operations-Weekly-Report\automation\icons\war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928" y="5477256"/>
            <a:ext cx="310896" cy="310896"/>
          </a:xfrm>
          <a:prstGeom prst="rect">
            <a:avLst/>
          </a:prstGeom>
        </p:spPr>
      </p:pic>
      <p:sp>
        <p:nvSpPr>
          <p:cNvPr id="48" name="Text 37"/>
          <p:cNvSpPr/>
          <p:nvPr/>
        </p:nvSpPr>
        <p:spPr>
          <a:xfrm>
            <a:off x="1005840" y="5349240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4800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【本週融合洞察】收瓶機客訴集中於「滿艙問題（回收箱／寶特瓶）」（36.9%，38件），最高回報站點為 C｜桃園/全聯福利中心龍潭中興店站（2件），</a:t>
            </a:r>
            <a:r>
              <a:rPr lang="en-US" sz="1050" dirty="0" err="1">
                <a:solidFill>
                  <a:srgbClr val="6B4800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建議優先派工檢修</a:t>
            </a:r>
            <a:r>
              <a:rPr lang="en-US" sz="1050" dirty="0">
                <a:solidFill>
                  <a:srgbClr val="6B4800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；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zh-TW" altLang="en-US" sz="1050" dirty="0">
                <a:solidFill>
                  <a:srgbClr val="6B4800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                                   </a:t>
            </a:r>
            <a:r>
              <a:rPr lang="en-US" sz="1050" dirty="0" err="1">
                <a:solidFill>
                  <a:srgbClr val="6B4800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電池機客訴則集中於「點數未入帳號</a:t>
            </a:r>
            <a:r>
              <a:rPr lang="en-US" sz="1050" dirty="0">
                <a:solidFill>
                  <a:srgbClr val="6B4800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」（47.4%，9件），建議持續追蹤。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73152" cy="329184"/>
          </a:xfrm>
          <a:prstGeom prst="rect">
            <a:avLst/>
          </a:prstGeom>
          <a:solidFill>
            <a:srgbClr val="FF50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530352" y="146304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333333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月低回收量站點改善清單 Top 10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6675120" y="256032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76A9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資料更新日期：2026/09/14（區間2026/08/15-09/14）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777240"/>
          <a:ext cx="11430000" cy="4297680"/>
        </p:xfrm>
        <a:graphic>
          <a:graphicData uri="http://schemas.openxmlformats.org/drawingml/2006/table">
            <a:tbl>
              <a:tblPr/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23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等級</a:t>
                      </a:r>
                      <a:endParaRPr lang="en-US" sz="105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Hive排名</a:t>
                      </a:r>
                      <a:endParaRPr lang="en-US" sz="105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（總566）</a:t>
                      </a:r>
                      <a:endParaRPr lang="en-US" sz="105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縣市</a:t>
                      </a:r>
                      <a:endParaRPr lang="en-US" sz="105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站點名稱</a:t>
                      </a:r>
                      <a:endParaRPr lang="en-US" sz="105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機型</a:t>
                      </a:r>
                      <a:endParaRPr lang="en-US" sz="105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租賃/買斷</a:t>
                      </a:r>
                      <a:endParaRPr lang="en-US" sz="105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近30日合計（瓶）</a:t>
                      </a:r>
                      <a:endParaRPr lang="en-US" sz="105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月增減率</a:t>
                      </a:r>
                      <a:endParaRPr lang="en-US" sz="105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888888"/>
                          </a:solidFill>
                          <a:latin typeface="Noto Sans TC Black" pitchFamily="34" charset="0"/>
                          <a:ea typeface="Noto Sans TC Black" pitchFamily="34" charset="-122"/>
                          <a:cs typeface="Noto Sans TC Black" pitchFamily="34" charset="-120"/>
                        </a:rPr>
                        <a:t>F</a:t>
                      </a:r>
                      <a:endParaRPr lang="en-US" sz="1300" dirty="0">
                        <a:latin typeface="Noto Sans TC Black" charset="0"/>
                        <a:ea typeface="Noto Sans TC Black" charset="0"/>
                        <a:cs typeface="Noto Sans TC Black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888888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第 527 名</a:t>
                      </a:r>
                      <a:endParaRPr lang="en-US" sz="10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澎湖</a:t>
                      </a:r>
                      <a:endParaRPr lang="en-US" sz="110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合橫國民小學站</a:t>
                      </a:r>
                      <a:endParaRPr lang="en-US" sz="11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76A9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0</a:t>
                      </a:r>
                      <a:endParaRPr lang="en-US" sz="12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888888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－（首次記錄）</a:t>
                      </a:r>
                      <a:endParaRPr lang="en-US" sz="9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888888"/>
                          </a:solidFill>
                          <a:latin typeface="Noto Sans TC Black" pitchFamily="34" charset="0"/>
                          <a:ea typeface="Noto Sans TC Black" pitchFamily="34" charset="-122"/>
                          <a:cs typeface="Noto Sans TC Black" pitchFamily="34" charset="-120"/>
                        </a:rPr>
                        <a:t>－</a:t>
                      </a:r>
                      <a:endParaRPr lang="en-US" sz="1300" dirty="0">
                        <a:latin typeface="Noto Sans TC Black" charset="0"/>
                        <a:ea typeface="Noto Sans TC Black" charset="0"/>
                        <a:cs typeface="Noto Sans TC Black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888888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－</a:t>
                      </a:r>
                      <a:endParaRPr lang="en-US" sz="10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臺北</a:t>
                      </a:r>
                      <a:endParaRPr lang="en-US" sz="110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Global Mall 環球南港車站</a:t>
                      </a:r>
                      <a:endParaRPr lang="en-US" sz="11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76A9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0</a:t>
                      </a:r>
                      <a:endParaRPr lang="en-US" sz="12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888888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－（首次記錄）</a:t>
                      </a:r>
                      <a:endParaRPr lang="en-US" sz="9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888888"/>
                          </a:solidFill>
                          <a:latin typeface="Noto Sans TC Black" pitchFamily="34" charset="0"/>
                          <a:ea typeface="Noto Sans TC Black" pitchFamily="34" charset="-122"/>
                          <a:cs typeface="Noto Sans TC Black" pitchFamily="34" charset="-120"/>
                        </a:rPr>
                        <a:t>F</a:t>
                      </a:r>
                      <a:endParaRPr lang="en-US" sz="1300" dirty="0">
                        <a:latin typeface="Noto Sans TC Black" charset="0"/>
                        <a:ea typeface="Noto Sans TC Black" charset="0"/>
                        <a:cs typeface="Noto Sans TC Black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888888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第 526 名</a:t>
                      </a:r>
                      <a:endParaRPr lang="en-US" sz="10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澎湖</a:t>
                      </a:r>
                      <a:endParaRPr lang="en-US" sz="110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澎湖車船處交通船馬公候船室站</a:t>
                      </a:r>
                      <a:endParaRPr lang="en-US" sz="11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76A9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0</a:t>
                      </a:r>
                      <a:endParaRPr lang="en-US" sz="12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888888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－（首次記錄）</a:t>
                      </a:r>
                      <a:endParaRPr lang="en-US" sz="9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888888"/>
                          </a:solidFill>
                          <a:latin typeface="Noto Sans TC Black" pitchFamily="34" charset="0"/>
                          <a:ea typeface="Noto Sans TC Black" pitchFamily="34" charset="-122"/>
                          <a:cs typeface="Noto Sans TC Black" pitchFamily="34" charset="-120"/>
                        </a:rPr>
                        <a:t>－</a:t>
                      </a:r>
                      <a:endParaRPr lang="en-US" sz="1300" dirty="0">
                        <a:latin typeface="Noto Sans TC Black" charset="0"/>
                        <a:ea typeface="Noto Sans TC Black" charset="0"/>
                        <a:cs typeface="Noto Sans TC Black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888888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－</a:t>
                      </a:r>
                      <a:endParaRPr lang="en-US" sz="10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花蓮</a:t>
                      </a:r>
                      <a:endParaRPr lang="en-US" sz="110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花蓮縣環境保護局站</a:t>
                      </a:r>
                      <a:endParaRPr lang="en-US" sz="11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76A9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0</a:t>
                      </a:r>
                      <a:endParaRPr lang="en-US" sz="12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888888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－（首次記錄）</a:t>
                      </a:r>
                      <a:endParaRPr lang="en-US" sz="9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888888"/>
                          </a:solidFill>
                          <a:latin typeface="Noto Sans TC Black" pitchFamily="34" charset="0"/>
                          <a:ea typeface="Noto Sans TC Black" pitchFamily="34" charset="-122"/>
                          <a:cs typeface="Noto Sans TC Black" pitchFamily="34" charset="-120"/>
                        </a:rPr>
                        <a:t>F</a:t>
                      </a:r>
                      <a:endParaRPr lang="en-US" sz="1300" dirty="0">
                        <a:latin typeface="Noto Sans TC Black" charset="0"/>
                        <a:ea typeface="Noto Sans TC Black" charset="0"/>
                        <a:cs typeface="Noto Sans TC Black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888888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第 525 名</a:t>
                      </a:r>
                      <a:endParaRPr lang="en-US" sz="10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臺南</a:t>
                      </a:r>
                      <a:endParaRPr lang="en-US" sz="110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成功大學光復第二宿舍站</a:t>
                      </a:r>
                      <a:endParaRPr lang="en-US" sz="11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76A9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0</a:t>
                      </a:r>
                      <a:endParaRPr lang="en-US" sz="12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5000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▼100%</a:t>
                      </a:r>
                      <a:endParaRPr lang="en-US" sz="11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888888"/>
                          </a:solidFill>
                          <a:latin typeface="Noto Sans TC Black" pitchFamily="34" charset="0"/>
                          <a:ea typeface="Noto Sans TC Black" pitchFamily="34" charset="-122"/>
                          <a:cs typeface="Noto Sans TC Black" pitchFamily="34" charset="-120"/>
                        </a:rPr>
                        <a:t>F</a:t>
                      </a:r>
                      <a:endParaRPr lang="en-US" sz="1300" dirty="0">
                        <a:latin typeface="Noto Sans TC Black" charset="0"/>
                        <a:ea typeface="Noto Sans TC Black" charset="0"/>
                        <a:cs typeface="Noto Sans TC Black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888888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第 524 名</a:t>
                      </a:r>
                      <a:endParaRPr lang="en-US" sz="10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臺南</a:t>
                      </a:r>
                      <a:endParaRPr lang="en-US" sz="110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健美洋行南一中體育館站</a:t>
                      </a:r>
                      <a:endParaRPr lang="en-US" sz="11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76A9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0</a:t>
                      </a:r>
                      <a:endParaRPr lang="en-US" sz="12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5000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▼100%</a:t>
                      </a:r>
                      <a:endParaRPr lang="en-US" sz="11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888888"/>
                          </a:solidFill>
                          <a:latin typeface="Noto Sans TC Black" pitchFamily="34" charset="0"/>
                          <a:ea typeface="Noto Sans TC Black" pitchFamily="34" charset="-122"/>
                          <a:cs typeface="Noto Sans TC Black" pitchFamily="34" charset="-120"/>
                        </a:rPr>
                        <a:t>－</a:t>
                      </a:r>
                      <a:endParaRPr lang="en-US" sz="1300" dirty="0">
                        <a:latin typeface="Noto Sans TC Black" charset="0"/>
                        <a:ea typeface="Noto Sans TC Black" charset="0"/>
                        <a:cs typeface="Noto Sans TC Black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888888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－</a:t>
                      </a:r>
                      <a:endParaRPr lang="en-US" sz="10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高雄</a:t>
                      </a:r>
                      <a:endParaRPr lang="en-US" sz="110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Global Mall 環球新左營車站</a:t>
                      </a:r>
                      <a:endParaRPr lang="en-US" sz="11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76A9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0</a:t>
                      </a:r>
                      <a:endParaRPr lang="en-US" sz="12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888888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－（首次記錄）</a:t>
                      </a:r>
                      <a:endParaRPr lang="en-US" sz="9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888888"/>
                          </a:solidFill>
                          <a:latin typeface="Noto Sans TC Black" pitchFamily="34" charset="0"/>
                          <a:ea typeface="Noto Sans TC Black" pitchFamily="34" charset="-122"/>
                          <a:cs typeface="Noto Sans TC Black" pitchFamily="34" charset="-120"/>
                        </a:rPr>
                        <a:t>F</a:t>
                      </a:r>
                      <a:endParaRPr lang="en-US" sz="1300" dirty="0">
                        <a:latin typeface="Noto Sans TC Black" charset="0"/>
                        <a:ea typeface="Noto Sans TC Black" charset="0"/>
                        <a:cs typeface="Noto Sans TC Black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888888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第 523 名</a:t>
                      </a:r>
                      <a:endParaRPr lang="en-US" sz="10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臺北</a:t>
                      </a:r>
                      <a:endParaRPr lang="en-US" sz="110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台北醫學大學站</a:t>
                      </a:r>
                      <a:endParaRPr lang="en-US" sz="11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76A9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0</a:t>
                      </a:r>
                      <a:endParaRPr lang="en-US" sz="12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888888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－（首次記錄）</a:t>
                      </a:r>
                      <a:endParaRPr lang="en-US" sz="9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888888"/>
                          </a:solidFill>
                          <a:latin typeface="Noto Sans TC Black" pitchFamily="34" charset="0"/>
                          <a:ea typeface="Noto Sans TC Black" pitchFamily="34" charset="-122"/>
                          <a:cs typeface="Noto Sans TC Black" pitchFamily="34" charset="-120"/>
                        </a:rPr>
                        <a:t>F</a:t>
                      </a:r>
                      <a:endParaRPr lang="en-US" sz="1300" dirty="0">
                        <a:latin typeface="Noto Sans TC Black" charset="0"/>
                        <a:ea typeface="Noto Sans TC Black" charset="0"/>
                        <a:cs typeface="Noto Sans TC Black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888888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第 531 名</a:t>
                      </a:r>
                      <a:endParaRPr lang="en-US" sz="10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新北</a:t>
                      </a:r>
                      <a:endParaRPr lang="en-US" sz="110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南山高中大中一樓站</a:t>
                      </a:r>
                      <a:endParaRPr lang="en-US" sz="11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76A9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0</a:t>
                      </a:r>
                      <a:endParaRPr lang="en-US" sz="12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888888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－（首次記錄）</a:t>
                      </a:r>
                      <a:endParaRPr lang="en-US" sz="9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888888"/>
                          </a:solidFill>
                          <a:latin typeface="Noto Sans TC Black" pitchFamily="34" charset="0"/>
                          <a:ea typeface="Noto Sans TC Black" pitchFamily="34" charset="-122"/>
                          <a:cs typeface="Noto Sans TC Black" pitchFamily="34" charset="-120"/>
                        </a:rPr>
                        <a:t>F</a:t>
                      </a:r>
                      <a:endParaRPr lang="en-US" sz="1300" dirty="0">
                        <a:latin typeface="Noto Sans TC Black" charset="0"/>
                        <a:ea typeface="Noto Sans TC Black" charset="0"/>
                        <a:cs typeface="Noto Sans TC Black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888888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第 529 名</a:t>
                      </a:r>
                      <a:endParaRPr lang="en-US" sz="10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臺南</a:t>
                      </a:r>
                      <a:endParaRPr lang="en-US" sz="110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台南市環保局站</a:t>
                      </a:r>
                      <a:endParaRPr lang="en-US" sz="11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76A9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0</a:t>
                      </a:r>
                      <a:endParaRPr lang="en-US" sz="12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888888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－（首次記錄）</a:t>
                      </a:r>
                      <a:endParaRPr lang="en-US" sz="9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966460" y="1298448"/>
            <a:ext cx="960120" cy="256032"/>
          </a:xfrm>
          <a:prstGeom prst="roundRect">
            <a:avLst>
              <a:gd name="adj" fmla="val 50000"/>
            </a:avLst>
          </a:prstGeom>
          <a:solidFill>
            <a:srgbClr val="FF5000">
              <a:alpha val="15000"/>
            </a:srgbClr>
          </a:solidFill>
          <a:ln w="12700">
            <a:solidFill>
              <a:srgbClr val="FF50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4"/>
          <p:cNvSpPr/>
          <p:nvPr/>
        </p:nvSpPr>
        <p:spPr>
          <a:xfrm>
            <a:off x="5966460" y="129844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5000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H30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966460" y="1682496"/>
            <a:ext cx="960120" cy="256032"/>
          </a:xfrm>
          <a:prstGeom prst="roundRect">
            <a:avLst>
              <a:gd name="adj" fmla="val 50000"/>
            </a:avLst>
          </a:prstGeom>
          <a:solidFill>
            <a:srgbClr val="FF5000">
              <a:alpha val="15000"/>
            </a:srgbClr>
          </a:solidFill>
          <a:ln w="12700">
            <a:solidFill>
              <a:srgbClr val="FF50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Text 6"/>
          <p:cNvSpPr/>
          <p:nvPr/>
        </p:nvSpPr>
        <p:spPr>
          <a:xfrm>
            <a:off x="5966460" y="168249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5000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H30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7315200" y="1682496"/>
            <a:ext cx="118872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60E9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11" name="Image 0" descr="D:\info\0507_Weekly-Report\Operations-Weekly-Report\automation\icons\key_bl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3216" y="1737360"/>
            <a:ext cx="146304" cy="14630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607808" y="168249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60E9F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租賃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5966460" y="2066544"/>
            <a:ext cx="960120" cy="256032"/>
          </a:xfrm>
          <a:prstGeom prst="roundRect">
            <a:avLst>
              <a:gd name="adj" fmla="val 50000"/>
            </a:avLst>
          </a:prstGeom>
          <a:solidFill>
            <a:srgbClr val="FF5000">
              <a:alpha val="15000"/>
            </a:srgbClr>
          </a:solidFill>
          <a:ln w="12700">
            <a:solidFill>
              <a:srgbClr val="FF50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0"/>
          <p:cNvSpPr/>
          <p:nvPr/>
        </p:nvSpPr>
        <p:spPr>
          <a:xfrm>
            <a:off x="5966460" y="2066544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5000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H30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5966460" y="2450592"/>
            <a:ext cx="960120" cy="256032"/>
          </a:xfrm>
          <a:prstGeom prst="roundRect">
            <a:avLst>
              <a:gd name="adj" fmla="val 50000"/>
            </a:avLst>
          </a:prstGeom>
          <a:solidFill>
            <a:srgbClr val="FF5000">
              <a:alpha val="15000"/>
            </a:srgbClr>
          </a:solidFill>
          <a:ln w="12700">
            <a:solidFill>
              <a:srgbClr val="FF50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2"/>
          <p:cNvSpPr/>
          <p:nvPr/>
        </p:nvSpPr>
        <p:spPr>
          <a:xfrm>
            <a:off x="5966460" y="245059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5000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H30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7315200" y="2450592"/>
            <a:ext cx="118872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60E9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18" name="Image 1" descr="D:\info\0507_Weekly-Report\Operations-Weekly-Report\automation\icons\coins_bl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43216" y="2505456"/>
            <a:ext cx="146304" cy="14630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607808" y="245059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60E9F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買斷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5966460" y="2834640"/>
            <a:ext cx="960120" cy="256032"/>
          </a:xfrm>
          <a:prstGeom prst="roundRect">
            <a:avLst>
              <a:gd name="adj" fmla="val 50000"/>
            </a:avLst>
          </a:prstGeom>
          <a:solidFill>
            <a:srgbClr val="060E9F">
              <a:alpha val="15000"/>
            </a:srgbClr>
          </a:solidFill>
          <a:ln w="12700">
            <a:solidFill>
              <a:srgbClr val="060E9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Text 16"/>
          <p:cNvSpPr/>
          <p:nvPr/>
        </p:nvSpPr>
        <p:spPr>
          <a:xfrm>
            <a:off x="5966460" y="283464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0E9F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AI-4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7315200" y="2834640"/>
            <a:ext cx="118872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60E9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23" name="Image 2" descr="D:\info\0507_Weekly-Report\Operations-Weekly-Report\automation\icons\key_bl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3216" y="2889504"/>
            <a:ext cx="146304" cy="14630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607808" y="283464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60E9F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租賃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5966460" y="3218688"/>
            <a:ext cx="960120" cy="256032"/>
          </a:xfrm>
          <a:prstGeom prst="roundRect">
            <a:avLst>
              <a:gd name="adj" fmla="val 50000"/>
            </a:avLst>
          </a:prstGeom>
          <a:solidFill>
            <a:srgbClr val="0076A9">
              <a:alpha val="15000"/>
            </a:srgbClr>
          </a:solidFill>
          <a:ln w="12700">
            <a:solidFill>
              <a:srgbClr val="0076A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" name="Text 20"/>
          <p:cNvSpPr/>
          <p:nvPr/>
        </p:nvSpPr>
        <p:spPr>
          <a:xfrm>
            <a:off x="5966460" y="321868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76A9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AI-HD</a:t>
            </a:r>
            <a:endParaRPr lang="en-US" sz="1000" dirty="0"/>
          </a:p>
        </p:txBody>
      </p:sp>
      <p:sp>
        <p:nvSpPr>
          <p:cNvPr id="27" name="Shape 21"/>
          <p:cNvSpPr/>
          <p:nvPr/>
        </p:nvSpPr>
        <p:spPr>
          <a:xfrm>
            <a:off x="5966460" y="3602736"/>
            <a:ext cx="960120" cy="256032"/>
          </a:xfrm>
          <a:prstGeom prst="roundRect">
            <a:avLst>
              <a:gd name="adj" fmla="val 50000"/>
            </a:avLst>
          </a:prstGeom>
          <a:solidFill>
            <a:srgbClr val="FF5000">
              <a:alpha val="15000"/>
            </a:srgbClr>
          </a:solidFill>
          <a:ln w="12700">
            <a:solidFill>
              <a:srgbClr val="FF50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8" name="Text 22"/>
          <p:cNvSpPr/>
          <p:nvPr/>
        </p:nvSpPr>
        <p:spPr>
          <a:xfrm>
            <a:off x="5966460" y="360273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5000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H30</a:t>
            </a:r>
            <a:endParaRPr lang="en-US" sz="1000" dirty="0"/>
          </a:p>
        </p:txBody>
      </p:sp>
      <p:sp>
        <p:nvSpPr>
          <p:cNvPr id="29" name="Shape 23"/>
          <p:cNvSpPr/>
          <p:nvPr/>
        </p:nvSpPr>
        <p:spPr>
          <a:xfrm>
            <a:off x="7315200" y="3602736"/>
            <a:ext cx="118872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60E9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30" name="Image 3" descr="D:\info\0507_Weekly-Report\Operations-Weekly-Report\automation\icons\key_bl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3216" y="3657600"/>
            <a:ext cx="146304" cy="146304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7607808" y="360273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60E9F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租賃</a:t>
            </a:r>
            <a:endParaRPr lang="en-US" sz="1000" dirty="0"/>
          </a:p>
        </p:txBody>
      </p:sp>
      <p:sp>
        <p:nvSpPr>
          <p:cNvPr id="32" name="Shape 25"/>
          <p:cNvSpPr/>
          <p:nvPr/>
        </p:nvSpPr>
        <p:spPr>
          <a:xfrm>
            <a:off x="5966460" y="3986784"/>
            <a:ext cx="960120" cy="256032"/>
          </a:xfrm>
          <a:prstGeom prst="roundRect">
            <a:avLst>
              <a:gd name="adj" fmla="val 50000"/>
            </a:avLst>
          </a:prstGeom>
          <a:solidFill>
            <a:srgbClr val="FF5000">
              <a:alpha val="15000"/>
            </a:srgbClr>
          </a:solidFill>
          <a:ln w="12700">
            <a:solidFill>
              <a:srgbClr val="FF50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3" name="Text 26"/>
          <p:cNvSpPr/>
          <p:nvPr/>
        </p:nvSpPr>
        <p:spPr>
          <a:xfrm>
            <a:off x="5966460" y="3986784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5000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H30</a:t>
            </a:r>
            <a:endParaRPr lang="en-US" sz="1000" dirty="0"/>
          </a:p>
        </p:txBody>
      </p:sp>
      <p:sp>
        <p:nvSpPr>
          <p:cNvPr id="34" name="Shape 27"/>
          <p:cNvSpPr/>
          <p:nvPr/>
        </p:nvSpPr>
        <p:spPr>
          <a:xfrm>
            <a:off x="7315200" y="3986784"/>
            <a:ext cx="118872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60E9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35" name="Image 4" descr="D:\info\0507_Weekly-Report\Operations-Weekly-Report\automation\icons\key_bl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3216" y="4041648"/>
            <a:ext cx="146304" cy="146304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7607808" y="398678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60E9F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租賃</a:t>
            </a:r>
            <a:endParaRPr lang="en-US" sz="1000" dirty="0"/>
          </a:p>
        </p:txBody>
      </p:sp>
      <p:sp>
        <p:nvSpPr>
          <p:cNvPr id="37" name="Shape 29"/>
          <p:cNvSpPr/>
          <p:nvPr/>
        </p:nvSpPr>
        <p:spPr>
          <a:xfrm>
            <a:off x="5966460" y="4370832"/>
            <a:ext cx="960120" cy="256032"/>
          </a:xfrm>
          <a:prstGeom prst="roundRect">
            <a:avLst>
              <a:gd name="adj" fmla="val 50000"/>
            </a:avLst>
          </a:prstGeom>
          <a:solidFill>
            <a:srgbClr val="FF5000">
              <a:alpha val="15000"/>
            </a:srgbClr>
          </a:solidFill>
          <a:ln w="12700">
            <a:solidFill>
              <a:srgbClr val="FF50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8" name="Text 30"/>
          <p:cNvSpPr/>
          <p:nvPr/>
        </p:nvSpPr>
        <p:spPr>
          <a:xfrm>
            <a:off x="5966460" y="437083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5000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H30</a:t>
            </a:r>
            <a:endParaRPr lang="en-US" sz="1000" dirty="0"/>
          </a:p>
        </p:txBody>
      </p:sp>
      <p:sp>
        <p:nvSpPr>
          <p:cNvPr id="39" name="Shape 31"/>
          <p:cNvSpPr/>
          <p:nvPr/>
        </p:nvSpPr>
        <p:spPr>
          <a:xfrm>
            <a:off x="5966460" y="4754880"/>
            <a:ext cx="960120" cy="256032"/>
          </a:xfrm>
          <a:prstGeom prst="roundRect">
            <a:avLst>
              <a:gd name="adj" fmla="val 50000"/>
            </a:avLst>
          </a:prstGeom>
          <a:solidFill>
            <a:srgbClr val="FF5000">
              <a:alpha val="15000"/>
            </a:srgbClr>
          </a:solidFill>
          <a:ln w="12700">
            <a:solidFill>
              <a:srgbClr val="FF50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0" name="Text 32"/>
          <p:cNvSpPr/>
          <p:nvPr/>
        </p:nvSpPr>
        <p:spPr>
          <a:xfrm>
            <a:off x="5966460" y="475488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5000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H30</a:t>
            </a:r>
            <a:endParaRPr lang="en-US" sz="1000" dirty="0"/>
          </a:p>
        </p:txBody>
      </p:sp>
      <p:sp>
        <p:nvSpPr>
          <p:cNvPr id="41" name="Shape 33"/>
          <p:cNvSpPr/>
          <p:nvPr/>
        </p:nvSpPr>
        <p:spPr>
          <a:xfrm>
            <a:off x="7315200" y="4754880"/>
            <a:ext cx="118872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60E9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42" name="Image 5" descr="D:\info\0507_Weekly-Report\Operations-Weekly-Report\automation\icons\coins_bl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43216" y="4809744"/>
            <a:ext cx="146304" cy="146304"/>
          </a:xfrm>
          <a:prstGeom prst="rect">
            <a:avLst/>
          </a:prstGeom>
        </p:spPr>
      </p:pic>
      <p:sp>
        <p:nvSpPr>
          <p:cNvPr id="43" name="Text 34"/>
          <p:cNvSpPr/>
          <p:nvPr/>
        </p:nvSpPr>
        <p:spPr>
          <a:xfrm>
            <a:off x="7607808" y="475488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60E9F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買斷</a:t>
            </a:r>
            <a:endParaRPr lang="en-US" sz="1000" dirty="0"/>
          </a:p>
        </p:txBody>
      </p:sp>
      <p:sp>
        <p:nvSpPr>
          <p:cNvPr id="44" name="Shape 35"/>
          <p:cNvSpPr/>
          <p:nvPr/>
        </p:nvSpPr>
        <p:spPr>
          <a:xfrm>
            <a:off x="365760" y="5276088"/>
            <a:ext cx="11430000" cy="960120"/>
          </a:xfrm>
          <a:prstGeom prst="roundRect">
            <a:avLst>
              <a:gd name="adj" fmla="val 5714"/>
            </a:avLst>
          </a:prstGeom>
          <a:solidFill>
            <a:srgbClr val="F5F7FF"/>
          </a:solidFill>
          <a:ln w="9525">
            <a:solidFill>
              <a:srgbClr val="8EB9C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5" name="Text 36"/>
          <p:cNvSpPr/>
          <p:nvPr/>
        </p:nvSpPr>
        <p:spPr>
          <a:xfrm>
            <a:off x="594360" y="5349240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資料來源：Hive，一般站依近 30 個台灣日曆日實際清運的塑膠＋鋁罐瓶數分 S～F；三台以上有效收瓶機獨立列為 ARK</a:t>
            </a:r>
            <a:endParaRPr lang="en-US" sz="950" dirty="0"/>
          </a:p>
        </p:txBody>
      </p:sp>
      <p:sp>
        <p:nvSpPr>
          <p:cNvPr id="46" name="Text 37"/>
          <p:cNvSpPr/>
          <p:nvPr/>
        </p:nvSpPr>
        <p:spPr>
          <a:xfrm>
            <a:off x="594360" y="559612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60E9F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等級+加分/瓶量：</a:t>
            </a:r>
            <a:endParaRPr lang="en-US" sz="900" dirty="0"/>
          </a:p>
        </p:txBody>
      </p:sp>
      <p:sp>
        <p:nvSpPr>
          <p:cNvPr id="47" name="Shape 38"/>
          <p:cNvSpPr/>
          <p:nvPr/>
        </p:nvSpPr>
        <p:spPr>
          <a:xfrm>
            <a:off x="594360" y="5824728"/>
            <a:ext cx="502920" cy="219456"/>
          </a:xfrm>
          <a:prstGeom prst="roundRect">
            <a:avLst>
              <a:gd name="adj" fmla="val 50000"/>
            </a:avLst>
          </a:prstGeom>
          <a:solidFill>
            <a:srgbClr val="FF5000">
              <a:alpha val="15000"/>
            </a:srgbClr>
          </a:solidFill>
          <a:ln w="9525">
            <a:solidFill>
              <a:srgbClr val="FF50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8" name="Text 39"/>
          <p:cNvSpPr/>
          <p:nvPr/>
        </p:nvSpPr>
        <p:spPr>
          <a:xfrm>
            <a:off x="594360" y="582472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5000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S+18</a:t>
            </a:r>
            <a:endParaRPr lang="en-US" sz="850" dirty="0"/>
          </a:p>
        </p:txBody>
      </p:sp>
      <p:sp>
        <p:nvSpPr>
          <p:cNvPr id="49" name="Text 40"/>
          <p:cNvSpPr/>
          <p:nvPr/>
        </p:nvSpPr>
        <p:spPr>
          <a:xfrm>
            <a:off x="1133856" y="5824728"/>
            <a:ext cx="813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88888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17,000瓶以上</a:t>
            </a:r>
            <a:endParaRPr lang="en-US" sz="700" dirty="0"/>
          </a:p>
        </p:txBody>
      </p:sp>
      <p:sp>
        <p:nvSpPr>
          <p:cNvPr id="50" name="Shape 41"/>
          <p:cNvSpPr/>
          <p:nvPr/>
        </p:nvSpPr>
        <p:spPr>
          <a:xfrm>
            <a:off x="1965960" y="5824728"/>
            <a:ext cx="502920" cy="219456"/>
          </a:xfrm>
          <a:prstGeom prst="roundRect">
            <a:avLst>
              <a:gd name="adj" fmla="val 50000"/>
            </a:avLst>
          </a:prstGeom>
          <a:solidFill>
            <a:srgbClr val="0076A9">
              <a:alpha val="15000"/>
            </a:srgbClr>
          </a:solidFill>
          <a:ln w="9525">
            <a:solidFill>
              <a:srgbClr val="0076A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1" name="Text 42"/>
          <p:cNvSpPr/>
          <p:nvPr/>
        </p:nvSpPr>
        <p:spPr>
          <a:xfrm>
            <a:off x="1965960" y="582472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76A9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A+12</a:t>
            </a:r>
            <a:endParaRPr lang="en-US" sz="850" dirty="0"/>
          </a:p>
        </p:txBody>
      </p:sp>
      <p:sp>
        <p:nvSpPr>
          <p:cNvPr id="52" name="Text 43"/>
          <p:cNvSpPr/>
          <p:nvPr/>
        </p:nvSpPr>
        <p:spPr>
          <a:xfrm>
            <a:off x="2505456" y="5824728"/>
            <a:ext cx="813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88888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13,300～16,999瓶</a:t>
            </a:r>
            <a:endParaRPr lang="en-US" sz="700" dirty="0"/>
          </a:p>
        </p:txBody>
      </p:sp>
      <p:sp>
        <p:nvSpPr>
          <p:cNvPr id="53" name="Shape 44"/>
          <p:cNvSpPr/>
          <p:nvPr/>
        </p:nvSpPr>
        <p:spPr>
          <a:xfrm>
            <a:off x="3337560" y="5824728"/>
            <a:ext cx="502920" cy="219456"/>
          </a:xfrm>
          <a:prstGeom prst="roundRect">
            <a:avLst>
              <a:gd name="adj" fmla="val 50000"/>
            </a:avLst>
          </a:prstGeom>
          <a:solidFill>
            <a:srgbClr val="060E9F">
              <a:alpha val="15000"/>
            </a:srgbClr>
          </a:solidFill>
          <a:ln w="9525">
            <a:solidFill>
              <a:srgbClr val="060E9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4" name="Text 45"/>
          <p:cNvSpPr/>
          <p:nvPr/>
        </p:nvSpPr>
        <p:spPr>
          <a:xfrm>
            <a:off x="3337560" y="582472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60E9F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B+8</a:t>
            </a:r>
            <a:endParaRPr lang="en-US" sz="850" dirty="0"/>
          </a:p>
        </p:txBody>
      </p:sp>
      <p:sp>
        <p:nvSpPr>
          <p:cNvPr id="55" name="Text 46"/>
          <p:cNvSpPr/>
          <p:nvPr/>
        </p:nvSpPr>
        <p:spPr>
          <a:xfrm>
            <a:off x="3877056" y="5824728"/>
            <a:ext cx="813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88888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11,100～13,299瓶</a:t>
            </a:r>
            <a:endParaRPr lang="en-US" sz="700" dirty="0"/>
          </a:p>
        </p:txBody>
      </p:sp>
      <p:sp>
        <p:nvSpPr>
          <p:cNvPr id="56" name="Shape 47"/>
          <p:cNvSpPr/>
          <p:nvPr/>
        </p:nvSpPr>
        <p:spPr>
          <a:xfrm>
            <a:off x="4709160" y="5824728"/>
            <a:ext cx="502920" cy="219456"/>
          </a:xfrm>
          <a:prstGeom prst="roundRect">
            <a:avLst>
              <a:gd name="adj" fmla="val 50000"/>
            </a:avLst>
          </a:prstGeom>
          <a:solidFill>
            <a:srgbClr val="4F86A0">
              <a:alpha val="15000"/>
            </a:srgbClr>
          </a:solidFill>
          <a:ln w="9525">
            <a:solidFill>
              <a:srgbClr val="4F86A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7" name="Text 48"/>
          <p:cNvSpPr/>
          <p:nvPr/>
        </p:nvSpPr>
        <p:spPr>
          <a:xfrm>
            <a:off x="4709160" y="582472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4F86A0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C+4</a:t>
            </a:r>
            <a:endParaRPr lang="en-US" sz="850" dirty="0"/>
          </a:p>
        </p:txBody>
      </p:sp>
      <p:sp>
        <p:nvSpPr>
          <p:cNvPr id="58" name="Text 49"/>
          <p:cNvSpPr/>
          <p:nvPr/>
        </p:nvSpPr>
        <p:spPr>
          <a:xfrm>
            <a:off x="5248656" y="5824728"/>
            <a:ext cx="813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88888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9,000～11,099瓶</a:t>
            </a:r>
            <a:endParaRPr lang="en-US" sz="700" dirty="0"/>
          </a:p>
        </p:txBody>
      </p:sp>
      <p:sp>
        <p:nvSpPr>
          <p:cNvPr id="59" name="Shape 50"/>
          <p:cNvSpPr/>
          <p:nvPr/>
        </p:nvSpPr>
        <p:spPr>
          <a:xfrm>
            <a:off x="6080760" y="5824728"/>
            <a:ext cx="502920" cy="219456"/>
          </a:xfrm>
          <a:prstGeom prst="roundRect">
            <a:avLst>
              <a:gd name="adj" fmla="val 50000"/>
            </a:avLst>
          </a:prstGeom>
          <a:solidFill>
            <a:srgbClr val="888888">
              <a:alpha val="15000"/>
            </a:srgbClr>
          </a:solidFill>
          <a:ln w="9525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0" name="Text 51"/>
          <p:cNvSpPr/>
          <p:nvPr/>
        </p:nvSpPr>
        <p:spPr>
          <a:xfrm>
            <a:off x="6080760" y="582472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888888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D+2</a:t>
            </a:r>
            <a:endParaRPr lang="en-US" sz="850" dirty="0"/>
          </a:p>
        </p:txBody>
      </p:sp>
      <p:sp>
        <p:nvSpPr>
          <p:cNvPr id="61" name="Text 52"/>
          <p:cNvSpPr/>
          <p:nvPr/>
        </p:nvSpPr>
        <p:spPr>
          <a:xfrm>
            <a:off x="6620256" y="5824728"/>
            <a:ext cx="813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88888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6,900～8,999瓶</a:t>
            </a:r>
            <a:endParaRPr lang="en-US" sz="700" dirty="0"/>
          </a:p>
        </p:txBody>
      </p:sp>
      <p:sp>
        <p:nvSpPr>
          <p:cNvPr id="62" name="Shape 53"/>
          <p:cNvSpPr/>
          <p:nvPr/>
        </p:nvSpPr>
        <p:spPr>
          <a:xfrm>
            <a:off x="7452360" y="5824728"/>
            <a:ext cx="502920" cy="219456"/>
          </a:xfrm>
          <a:prstGeom prst="roundRect">
            <a:avLst>
              <a:gd name="adj" fmla="val 50000"/>
            </a:avLst>
          </a:prstGeom>
          <a:solidFill>
            <a:srgbClr val="888888">
              <a:alpha val="15000"/>
            </a:srgbClr>
          </a:solidFill>
          <a:ln w="9525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3" name="Text 54"/>
          <p:cNvSpPr/>
          <p:nvPr/>
        </p:nvSpPr>
        <p:spPr>
          <a:xfrm>
            <a:off x="7452360" y="582472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888888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E+1</a:t>
            </a:r>
            <a:endParaRPr lang="en-US" sz="850" dirty="0"/>
          </a:p>
        </p:txBody>
      </p:sp>
      <p:sp>
        <p:nvSpPr>
          <p:cNvPr id="64" name="Text 55"/>
          <p:cNvSpPr/>
          <p:nvPr/>
        </p:nvSpPr>
        <p:spPr>
          <a:xfrm>
            <a:off x="7991856" y="5824728"/>
            <a:ext cx="813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88888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4,100～6,899瓶</a:t>
            </a:r>
            <a:endParaRPr lang="en-US" sz="700" dirty="0"/>
          </a:p>
        </p:txBody>
      </p:sp>
      <p:sp>
        <p:nvSpPr>
          <p:cNvPr id="65" name="Shape 56"/>
          <p:cNvSpPr/>
          <p:nvPr/>
        </p:nvSpPr>
        <p:spPr>
          <a:xfrm>
            <a:off x="8823960" y="5824728"/>
            <a:ext cx="502920" cy="219456"/>
          </a:xfrm>
          <a:prstGeom prst="roundRect">
            <a:avLst>
              <a:gd name="adj" fmla="val 50000"/>
            </a:avLst>
          </a:prstGeom>
          <a:solidFill>
            <a:srgbClr val="888888">
              <a:alpha val="15000"/>
            </a:srgbClr>
          </a:solidFill>
          <a:ln w="9525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6" name="Text 57"/>
          <p:cNvSpPr/>
          <p:nvPr/>
        </p:nvSpPr>
        <p:spPr>
          <a:xfrm>
            <a:off x="8823960" y="582472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888888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F+0</a:t>
            </a:r>
            <a:endParaRPr lang="en-US" sz="850" dirty="0"/>
          </a:p>
        </p:txBody>
      </p:sp>
      <p:sp>
        <p:nvSpPr>
          <p:cNvPr id="67" name="Text 58"/>
          <p:cNvSpPr/>
          <p:nvPr/>
        </p:nvSpPr>
        <p:spPr>
          <a:xfrm>
            <a:off x="9363456" y="5824728"/>
            <a:ext cx="813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88888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4,100瓶以下</a:t>
            </a:r>
            <a:endParaRPr lang="en-US" sz="700" dirty="0"/>
          </a:p>
        </p:txBody>
      </p:sp>
      <p:sp>
        <p:nvSpPr>
          <p:cNvPr id="68" name="Shape 59"/>
          <p:cNvSpPr/>
          <p:nvPr/>
        </p:nvSpPr>
        <p:spPr>
          <a:xfrm>
            <a:off x="10195560" y="5824728"/>
            <a:ext cx="502920" cy="219456"/>
          </a:xfrm>
          <a:prstGeom prst="roundRect">
            <a:avLst>
              <a:gd name="adj" fmla="val 50000"/>
            </a:avLst>
          </a:prstGeom>
          <a:solidFill>
            <a:srgbClr val="9C7A00">
              <a:alpha val="15000"/>
            </a:srgbClr>
          </a:solidFill>
          <a:ln w="9525">
            <a:solidFill>
              <a:srgbClr val="9C7A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9" name="Text 60"/>
          <p:cNvSpPr/>
          <p:nvPr/>
        </p:nvSpPr>
        <p:spPr>
          <a:xfrm>
            <a:off x="10195560" y="582472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9C7A00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ARK+8</a:t>
            </a:r>
            <a:endParaRPr lang="en-US" sz="850" dirty="0"/>
          </a:p>
        </p:txBody>
      </p:sp>
      <p:sp>
        <p:nvSpPr>
          <p:cNvPr id="70" name="Text 61"/>
          <p:cNvSpPr/>
          <p:nvPr/>
        </p:nvSpPr>
        <p:spPr>
          <a:xfrm>
            <a:off x="10735056" y="5824728"/>
            <a:ext cx="813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88888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3台有效收瓶機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73152" cy="310896"/>
          </a:xfrm>
          <a:prstGeom prst="rect">
            <a:avLst/>
          </a:prstGeom>
          <a:solidFill>
            <a:srgbClr val="060E9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530352" y="128016"/>
            <a:ext cx="6400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33333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客訴趨勢洞察（MoM／QoQ）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9326880" y="146304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060E9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9326880" y="146304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第37週（09/07 ~ 09/13）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658368"/>
            <a:ext cx="2720340" cy="1143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blurRad="63500" dist="19050" dir="5400000" algn="bl" rotWithShape="0">
              <a:srgbClr val="999999">
                <a:alpha val="2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365760" y="658368"/>
            <a:ext cx="2720340" cy="64008"/>
          </a:xfrm>
          <a:prstGeom prst="roundRect">
            <a:avLst>
              <a:gd name="adj" fmla="val 42857"/>
            </a:avLst>
          </a:prstGeom>
          <a:solidFill>
            <a:srgbClr val="060E9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548640" y="768096"/>
            <a:ext cx="20802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3333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本月客訴總量（26年8月）</a:t>
            </a:r>
            <a:endParaRPr lang="en-US" sz="1100" dirty="0"/>
          </a:p>
        </p:txBody>
      </p:sp>
      <p:pic>
        <p:nvPicPr>
          <p:cNvPr id="9" name="Image 0" descr="D:\info\0507_Weekly-Report\Operations-Weekly-Report\automation\icons\headset_bl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3764" y="777240"/>
            <a:ext cx="219456" cy="21945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48640" y="1024128"/>
            <a:ext cx="23545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60E9F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513 </a:t>
            </a:r>
            <a:r>
              <a:rPr lang="en-US" sz="1250" b="1" dirty="0">
                <a:solidFill>
                  <a:srgbClr val="060E9F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件</a:t>
            </a:r>
            <a:endParaRPr lang="en-US" sz="2500" dirty="0"/>
          </a:p>
        </p:txBody>
      </p:sp>
      <p:sp>
        <p:nvSpPr>
          <p:cNvPr id="11" name="Text 8"/>
          <p:cNvSpPr/>
          <p:nvPr/>
        </p:nvSpPr>
        <p:spPr>
          <a:xfrm>
            <a:off x="548640" y="1389888"/>
            <a:ext cx="18059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888888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較上月（678件）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2189988" y="1371600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DFF3E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0"/>
          <p:cNvSpPr/>
          <p:nvPr/>
        </p:nvSpPr>
        <p:spPr>
          <a:xfrm>
            <a:off x="2189988" y="137160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D9E75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▼24.3%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3268980" y="658368"/>
            <a:ext cx="2720340" cy="1143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blurRad="63500" dist="19050" dir="5400000" algn="bl" rotWithShape="0">
              <a:srgbClr val="999999">
                <a:alpha val="2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5" name="Shape 12"/>
          <p:cNvSpPr/>
          <p:nvPr/>
        </p:nvSpPr>
        <p:spPr>
          <a:xfrm>
            <a:off x="3268980" y="658368"/>
            <a:ext cx="2720340" cy="64008"/>
          </a:xfrm>
          <a:prstGeom prst="roundRect">
            <a:avLst>
              <a:gd name="adj" fmla="val 42857"/>
            </a:avLst>
          </a:prstGeom>
          <a:solidFill>
            <a:srgbClr val="0076A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3"/>
          <p:cNvSpPr/>
          <p:nvPr/>
        </p:nvSpPr>
        <p:spPr>
          <a:xfrm>
            <a:off x="3451860" y="768096"/>
            <a:ext cx="20802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3333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客訴密度指標（件/站）</a:t>
            </a:r>
            <a:endParaRPr lang="en-US" sz="1100" dirty="0"/>
          </a:p>
        </p:txBody>
      </p:sp>
      <p:pic>
        <p:nvPicPr>
          <p:cNvPr id="17" name="Image 1" descr="D:\info\0507_Weekly-Report\Operations-Weekly-Report\automation\icons\pin_darkbl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6984" y="777240"/>
            <a:ext cx="219456" cy="219456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451860" y="1024128"/>
            <a:ext cx="23545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076A9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0.91 </a:t>
            </a:r>
            <a:r>
              <a:rPr lang="en-US" sz="1100" b="1" dirty="0">
                <a:solidFill>
                  <a:srgbClr val="0076A9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件/站</a:t>
            </a:r>
            <a:endParaRPr lang="en-US" sz="2500" dirty="0"/>
          </a:p>
        </p:txBody>
      </p:sp>
      <p:sp>
        <p:nvSpPr>
          <p:cNvPr id="19" name="Text 15"/>
          <p:cNvSpPr/>
          <p:nvPr/>
        </p:nvSpPr>
        <p:spPr>
          <a:xfrm>
            <a:off x="3451860" y="1389888"/>
            <a:ext cx="18059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888888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每站平均客訴量，暫代萬人客訴率</a:t>
            </a:r>
            <a:endParaRPr lang="en-US" sz="850" dirty="0"/>
          </a:p>
        </p:txBody>
      </p:sp>
      <p:sp>
        <p:nvSpPr>
          <p:cNvPr id="20" name="Shape 16"/>
          <p:cNvSpPr/>
          <p:nvPr/>
        </p:nvSpPr>
        <p:spPr>
          <a:xfrm>
            <a:off x="5093208" y="1371600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DFF3E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1" name="Text 17"/>
          <p:cNvSpPr/>
          <p:nvPr/>
        </p:nvSpPr>
        <p:spPr>
          <a:xfrm>
            <a:off x="5093208" y="137160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D9E75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▼24.8%</a:t>
            </a:r>
            <a:endParaRPr lang="en-US" sz="950" dirty="0"/>
          </a:p>
        </p:txBody>
      </p:sp>
      <p:sp>
        <p:nvSpPr>
          <p:cNvPr id="22" name="Shape 18"/>
          <p:cNvSpPr/>
          <p:nvPr/>
        </p:nvSpPr>
        <p:spPr>
          <a:xfrm>
            <a:off x="6172200" y="658368"/>
            <a:ext cx="2720340" cy="1143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blurRad="63500" dist="19050" dir="5400000" algn="bl" rotWithShape="0">
              <a:srgbClr val="999999">
                <a:alpha val="2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3" name="Shape 19"/>
          <p:cNvSpPr/>
          <p:nvPr/>
        </p:nvSpPr>
        <p:spPr>
          <a:xfrm>
            <a:off x="6172200" y="658368"/>
            <a:ext cx="2720340" cy="64008"/>
          </a:xfrm>
          <a:prstGeom prst="roundRect">
            <a:avLst>
              <a:gd name="adj" fmla="val 42857"/>
            </a:avLst>
          </a:prstGeom>
          <a:solidFill>
            <a:srgbClr val="FF50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4" name="Text 20"/>
          <p:cNvSpPr/>
          <p:nvPr/>
        </p:nvSpPr>
        <p:spPr>
          <a:xfrm>
            <a:off x="6355080" y="768096"/>
            <a:ext cx="20802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3333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本季客訴總量（26年Q2）</a:t>
            </a:r>
            <a:endParaRPr lang="en-US" sz="1100" dirty="0"/>
          </a:p>
        </p:txBody>
      </p:sp>
      <p:pic>
        <p:nvPicPr>
          <p:cNvPr id="25" name="Image 2" descr="D:\info\0507_Weekly-Report\Operations-Weekly-Report\automation\icons\warn_oran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90204" y="777240"/>
            <a:ext cx="219456" cy="219456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6355080" y="1024128"/>
            <a:ext cx="23545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5000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2078 </a:t>
            </a:r>
            <a:r>
              <a:rPr lang="en-US" sz="1250" b="1" dirty="0">
                <a:solidFill>
                  <a:srgbClr val="FF5000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件</a:t>
            </a:r>
            <a:endParaRPr lang="en-US" sz="2500" dirty="0"/>
          </a:p>
        </p:txBody>
      </p:sp>
      <p:sp>
        <p:nvSpPr>
          <p:cNvPr id="27" name="Text 22"/>
          <p:cNvSpPr/>
          <p:nvPr/>
        </p:nvSpPr>
        <p:spPr>
          <a:xfrm>
            <a:off x="6355080" y="1389888"/>
            <a:ext cx="18059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888888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較上季（2125件）</a:t>
            </a:r>
            <a:endParaRPr lang="en-US" sz="850" dirty="0"/>
          </a:p>
        </p:txBody>
      </p:sp>
      <p:sp>
        <p:nvSpPr>
          <p:cNvPr id="28" name="Shape 23"/>
          <p:cNvSpPr/>
          <p:nvPr/>
        </p:nvSpPr>
        <p:spPr>
          <a:xfrm>
            <a:off x="7996428" y="1371600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DFF3E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9" name="Text 24"/>
          <p:cNvSpPr/>
          <p:nvPr/>
        </p:nvSpPr>
        <p:spPr>
          <a:xfrm>
            <a:off x="7996428" y="137160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D9E75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▼2.2%</a:t>
            </a:r>
            <a:endParaRPr lang="en-US" sz="950" dirty="0"/>
          </a:p>
        </p:txBody>
      </p:sp>
      <p:sp>
        <p:nvSpPr>
          <p:cNvPr id="30" name="Shape 25"/>
          <p:cNvSpPr/>
          <p:nvPr/>
        </p:nvSpPr>
        <p:spPr>
          <a:xfrm>
            <a:off x="9075420" y="658368"/>
            <a:ext cx="2720340" cy="1143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blurRad="63500" dist="19050" dir="5400000" algn="bl" rotWithShape="0">
              <a:srgbClr val="999999">
                <a:alpha val="2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31" name="Shape 26"/>
          <p:cNvSpPr/>
          <p:nvPr/>
        </p:nvSpPr>
        <p:spPr>
          <a:xfrm>
            <a:off x="9075420" y="658368"/>
            <a:ext cx="2720340" cy="64008"/>
          </a:xfrm>
          <a:prstGeom prst="roundRect">
            <a:avLst>
              <a:gd name="adj" fmla="val 42857"/>
            </a:avLst>
          </a:prstGeom>
          <a:solidFill>
            <a:srgbClr val="FFCE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2" name="Text 27"/>
          <p:cNvSpPr/>
          <p:nvPr/>
        </p:nvSpPr>
        <p:spPr>
          <a:xfrm>
            <a:off x="9258300" y="768096"/>
            <a:ext cx="20802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3333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機台問題佔比（26年Q2）</a:t>
            </a:r>
            <a:endParaRPr lang="en-US" sz="1100" dirty="0"/>
          </a:p>
        </p:txBody>
      </p:sp>
      <p:pic>
        <p:nvPicPr>
          <p:cNvPr id="33" name="Image 3" descr="D:\info\0507_Weekly-Report\Operations-Weekly-Report\automation\icons\recycle_blu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93424" y="777240"/>
            <a:ext cx="219456" cy="219456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9258300" y="1024128"/>
            <a:ext cx="23545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9C7A00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45.4</a:t>
            </a:r>
            <a:r>
              <a:rPr lang="en-US" sz="1250" b="1" dirty="0">
                <a:solidFill>
                  <a:srgbClr val="9C7A00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%</a:t>
            </a:r>
            <a:endParaRPr lang="en-US" sz="2500" dirty="0"/>
          </a:p>
        </p:txBody>
      </p:sp>
      <p:sp>
        <p:nvSpPr>
          <p:cNvPr id="35" name="Text 29"/>
          <p:cNvSpPr/>
          <p:nvPr/>
        </p:nvSpPr>
        <p:spPr>
          <a:xfrm>
            <a:off x="9258300" y="1389888"/>
            <a:ext cx="18059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888888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較上季佔比變化</a:t>
            </a:r>
            <a:endParaRPr lang="en-US" sz="850" dirty="0"/>
          </a:p>
        </p:txBody>
      </p:sp>
      <p:sp>
        <p:nvSpPr>
          <p:cNvPr id="36" name="Shape 30"/>
          <p:cNvSpPr/>
          <p:nvPr/>
        </p:nvSpPr>
        <p:spPr>
          <a:xfrm>
            <a:off x="10899648" y="1371600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FFE9D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7" name="Text 31"/>
          <p:cNvSpPr/>
          <p:nvPr/>
        </p:nvSpPr>
        <p:spPr>
          <a:xfrm>
            <a:off x="10899648" y="137160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5000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▼6.8%</a:t>
            </a:r>
            <a:endParaRPr lang="en-US" sz="950" dirty="0"/>
          </a:p>
        </p:txBody>
      </p:sp>
      <p:sp>
        <p:nvSpPr>
          <p:cNvPr id="38" name="Shape 32"/>
          <p:cNvSpPr/>
          <p:nvPr/>
        </p:nvSpPr>
        <p:spPr>
          <a:xfrm>
            <a:off x="365760" y="2075688"/>
            <a:ext cx="64008" cy="256032"/>
          </a:xfrm>
          <a:prstGeom prst="rect">
            <a:avLst/>
          </a:prstGeom>
          <a:solidFill>
            <a:srgbClr val="FF50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9" name="Text 33"/>
          <p:cNvSpPr/>
          <p:nvPr/>
        </p:nvSpPr>
        <p:spPr>
          <a:xfrm>
            <a:off x="502920" y="2048256"/>
            <a:ext cx="5074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60E9F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總客訴量與客訴密度趨勢圖（MoM，近6個月）</a:t>
            </a:r>
            <a:endParaRPr lang="en-US" sz="1300" dirty="0"/>
          </a:p>
        </p:txBody>
      </p:sp>
      <p:graphicFrame>
        <p:nvGraphicFramePr>
          <p:cNvPr id="40" name="Chart 0"/>
          <p:cNvGraphicFramePr/>
          <p:nvPr/>
        </p:nvGraphicFramePr>
        <p:xfrm>
          <a:off x="365760" y="2423160"/>
          <a:ext cx="5212080" cy="19385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41" name="Shape 34"/>
          <p:cNvSpPr/>
          <p:nvPr/>
        </p:nvSpPr>
        <p:spPr>
          <a:xfrm>
            <a:off x="5852160" y="2075688"/>
            <a:ext cx="64008" cy="256032"/>
          </a:xfrm>
          <a:prstGeom prst="rect">
            <a:avLst/>
          </a:prstGeom>
          <a:solidFill>
            <a:srgbClr val="FF50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2" name="Text 35"/>
          <p:cNvSpPr/>
          <p:nvPr/>
        </p:nvSpPr>
        <p:spPr>
          <a:xfrm>
            <a:off x="5989320" y="2048256"/>
            <a:ext cx="5806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5000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客訴主題結構比變化（QoQ）</a:t>
            </a:r>
            <a:endParaRPr lang="en-US" sz="1300" dirty="0"/>
          </a:p>
        </p:txBody>
      </p:sp>
      <p:graphicFrame>
        <p:nvGraphicFramePr>
          <p:cNvPr id="43" name="Chart 1"/>
          <p:cNvGraphicFramePr/>
          <p:nvPr/>
        </p:nvGraphicFramePr>
        <p:xfrm>
          <a:off x="5852160" y="2423160"/>
          <a:ext cx="5943600" cy="19385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sp>
        <p:nvSpPr>
          <p:cNvPr id="44" name="Shape 36"/>
          <p:cNvSpPr/>
          <p:nvPr/>
        </p:nvSpPr>
        <p:spPr>
          <a:xfrm>
            <a:off x="365760" y="4617720"/>
            <a:ext cx="64008" cy="256032"/>
          </a:xfrm>
          <a:prstGeom prst="rect">
            <a:avLst/>
          </a:prstGeom>
          <a:solidFill>
            <a:srgbClr val="FF50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5" name="Text 37"/>
          <p:cNvSpPr/>
          <p:nvPr/>
        </p:nvSpPr>
        <p:spPr>
          <a:xfrm>
            <a:off x="502920" y="4590288"/>
            <a:ext cx="11292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60E9F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客服觀點與改善行動建議</a:t>
            </a:r>
            <a:endParaRPr lang="en-US" sz="1300" dirty="0"/>
          </a:p>
        </p:txBody>
      </p:sp>
      <p:sp>
        <p:nvSpPr>
          <p:cNvPr id="46" name="Shape 38"/>
          <p:cNvSpPr/>
          <p:nvPr/>
        </p:nvSpPr>
        <p:spPr>
          <a:xfrm>
            <a:off x="365760" y="4946904"/>
            <a:ext cx="11430000" cy="566928"/>
          </a:xfrm>
          <a:prstGeom prst="roundRect">
            <a:avLst>
              <a:gd name="adj" fmla="val 9677"/>
            </a:avLst>
          </a:prstGeom>
          <a:solidFill>
            <a:srgbClr val="060E9F"/>
          </a:solidFill>
          <a:ln w="9525">
            <a:solidFill>
              <a:srgbClr val="060E9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7" name="Shape 39"/>
          <p:cNvSpPr/>
          <p:nvPr/>
        </p:nvSpPr>
        <p:spPr>
          <a:xfrm>
            <a:off x="365760" y="4946904"/>
            <a:ext cx="54864" cy="566928"/>
          </a:xfrm>
          <a:prstGeom prst="rect">
            <a:avLst/>
          </a:prstGeom>
          <a:solidFill>
            <a:srgbClr val="060E9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8" name="Text 40"/>
          <p:cNvSpPr/>
          <p:nvPr/>
        </p:nvSpPr>
        <p:spPr>
          <a:xfrm>
            <a:off x="566928" y="500176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重點結論</a:t>
            </a:r>
            <a:endParaRPr lang="en-US" sz="1050" dirty="0"/>
          </a:p>
        </p:txBody>
      </p:sp>
      <p:sp>
        <p:nvSpPr>
          <p:cNvPr id="49" name="Text 41"/>
          <p:cNvSpPr/>
          <p:nvPr/>
        </p:nvSpPr>
        <p:spPr>
          <a:xfrm>
            <a:off x="2194560" y="5001768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本月客訴量較上月下降 24.3%，本季較上季下降 2.2%，整體呈現改善趨勢。 本季變化最大：「APP帳號設定問題」上升 13.7 個百分點，建議優先關注。</a:t>
            </a:r>
            <a:endParaRPr lang="en-US" sz="950" dirty="0"/>
          </a:p>
        </p:txBody>
      </p:sp>
      <p:sp>
        <p:nvSpPr>
          <p:cNvPr id="50" name="Shape 42"/>
          <p:cNvSpPr/>
          <p:nvPr/>
        </p:nvSpPr>
        <p:spPr>
          <a:xfrm>
            <a:off x="365760" y="5632704"/>
            <a:ext cx="11430000" cy="530352"/>
          </a:xfrm>
          <a:prstGeom prst="roundRect">
            <a:avLst>
              <a:gd name="adj" fmla="val 10345"/>
            </a:avLst>
          </a:prstGeom>
          <a:solidFill>
            <a:srgbClr val="FFF4EF"/>
          </a:solidFill>
          <a:ln w="9525">
            <a:solidFill>
              <a:srgbClr val="FF50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1" name="Shape 43"/>
          <p:cNvSpPr/>
          <p:nvPr/>
        </p:nvSpPr>
        <p:spPr>
          <a:xfrm>
            <a:off x="365760" y="5632704"/>
            <a:ext cx="54864" cy="530352"/>
          </a:xfrm>
          <a:prstGeom prst="rect">
            <a:avLst/>
          </a:prstGeom>
          <a:solidFill>
            <a:srgbClr val="FF50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2" name="Text 44"/>
          <p:cNvSpPr/>
          <p:nvPr/>
        </p:nvSpPr>
        <p:spPr>
          <a:xfrm>
            <a:off x="566928" y="5687568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5000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本季結構變化重點</a:t>
            </a:r>
            <a:endParaRPr lang="en-US" sz="1050" dirty="0"/>
          </a:p>
        </p:txBody>
      </p:sp>
      <p:sp>
        <p:nvSpPr>
          <p:cNvPr id="53" name="Text 45"/>
          <p:cNvSpPr/>
          <p:nvPr/>
        </p:nvSpPr>
        <p:spPr>
          <a:xfrm>
            <a:off x="2194560" y="5687568"/>
            <a:ext cx="9601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本季「APP帳號設定問題」佔比較上季上升 13.7 個百分點（8.0% → 21.7%），為本季結構變化最大的問題類型，建議追蹤後續走勢並評估對應改善措施。（資料累積中，須滿一年以上同季比較才能判斷是否為季節性規律）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734</Words>
  <Application>Microsoft Office PowerPoint</Application>
  <PresentationFormat>寬螢幕</PresentationFormat>
  <Paragraphs>250</Paragraphs>
  <Slides>4</Slides>
  <Notes>4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9" baseType="lpstr">
      <vt:lpstr>Noto Sans TC Black</vt:lpstr>
      <vt:lpstr>Noto Sans TC Bold</vt:lpstr>
      <vt:lpstr>Noto Sans TC Medium</vt:lpstr>
      <vt:lpstr>Arial</vt:lpstr>
      <vt:lpstr>Office Theme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王茗芬</cp:lastModifiedBy>
  <cp:revision>3</cp:revision>
  <dcterms:created xsi:type="dcterms:W3CDTF">2026-09-14T03:00:07Z</dcterms:created>
  <dcterms:modified xsi:type="dcterms:W3CDTF">2026-09-15T02:52:11Z</dcterms:modified>
</cp:coreProperties>
</file>