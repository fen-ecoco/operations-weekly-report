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客訴總量（件）</c:v>
                </c:pt>
              </c:strCache>
            </c:strRef>
          </c:tx>
          <c:spPr>
            <a:solidFill>
              <a:srgbClr val="060E9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3月</c:v>
                  </c:pt>
                  <c:pt idx="1">
                    <c:v>4月</c:v>
                  </c:pt>
                  <c:pt idx="2">
                    <c:v>5月</c:v>
                  </c:pt>
                  <c:pt idx="3">
                    <c:v>6月</c:v>
                  </c:pt>
                  <c:pt idx="4">
                    <c:v>7月</c:v>
                  </c:pt>
                  <c:pt idx="5">
                    <c:v>8月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1045</c:v>
                </c:pt>
                <c:pt idx="1">
                  <c:v>600</c:v>
                </c:pt>
                <c:pt idx="2">
                  <c:v>880</c:v>
                </c:pt>
                <c:pt idx="3">
                  <c:v>598</c:v>
                </c:pt>
                <c:pt idx="4">
                  <c:v>678</c:v>
                </c:pt>
                <c:pt idx="5">
                  <c:v>513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客訴密度（件/站）</c:v>
                </c:pt>
              </c:strCache>
            </c:strRef>
          </c:tx>
          <c:spPr>
            <a:solidFill>
              <a:srgbClr val="FF5000"/>
            </a:solidFill>
            <a:ln w="31750" cap="flat">
              <a:solidFill>
                <a:srgbClr val="FF5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5000"/>
              </a:solidFill>
              <a:ln w="9525" cap="flat">
                <a:solidFill>
                  <a:srgbClr val="FF5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3月</c:v>
                  </c:pt>
                  <c:pt idx="1">
                    <c:v>4月</c:v>
                  </c:pt>
                  <c:pt idx="2">
                    <c:v>5月</c:v>
                  </c:pt>
                  <c:pt idx="3">
                    <c:v>6月</c:v>
                  </c:pt>
                  <c:pt idx="4">
                    <c:v>7月</c:v>
                  </c:pt>
                  <c:pt idx="5">
                    <c:v>8月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1.85</c:v>
                </c:pt>
                <c:pt idx="1">
                  <c:v>1.06</c:v>
                </c:pt>
                <c:pt idx="2">
                  <c:v>1.55</c:v>
                </c:pt>
                <c:pt idx="3">
                  <c:v>1.06</c:v>
                </c:pt>
                <c:pt idx="4">
                  <c:v>1.2</c:v>
                </c:pt>
                <c:pt idx="5">
                  <c:v>0.91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in val="0"/>
        </c:scaling>
        <c:delete val="0"/>
        <c:axPos val="r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88888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APP帳號設定問題</c:v>
                </c:pt>
              </c:strCache>
            </c:strRef>
          </c:tx>
          <c:spPr>
            <a:solidFill>
              <a:srgbClr val="BA7517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Noto Sans TC Bold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26年Q1</c:v>
                  </c:pt>
                  <c:pt idx="1">
                    <c:v>26年Q2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</c:v>
                </c:pt>
                <c:pt idx="1">
                  <c:v>21.7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機台問題</c:v>
                </c:pt>
              </c:strCache>
            </c:strRef>
          </c:tx>
          <c:spPr>
            <a:solidFill>
              <a:srgbClr val="060E9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Noto Sans TC Bold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26年Q1</c:v>
                  </c:pt>
                  <c:pt idx="1">
                    <c:v>26年Q2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52.2</c:v>
                </c:pt>
                <c:pt idx="1">
                  <c:v>45.4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回收點數問題</c:v>
                </c:pt>
              </c:strCache>
            </c:strRef>
          </c:tx>
          <c:spPr>
            <a:solidFill>
              <a:srgbClr val="0076A9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Noto Sans TC Bold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26年Q1</c:v>
                  </c:pt>
                  <c:pt idx="1">
                    <c:v>26年Q2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10</c:v>
                </c:pt>
                <c:pt idx="1">
                  <c:v>10.7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顧客關係</c:v>
                </c:pt>
              </c:strCache>
            </c:strRef>
          </c:tx>
          <c:spPr>
            <a:solidFill>
              <a:srgbClr val="7F77DD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Noto Sans TC Bold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26年Q1</c:v>
                  </c:pt>
                  <c:pt idx="1">
                    <c:v>26年Q2</c:v>
                  </c:pt>
                </c:lvl>
              </c:multiLvlStrCache>
            </c:multiLvl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11.8</c:v>
                </c:pt>
                <c:pt idx="1">
                  <c:v>10.6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優惠券問題</c:v>
                </c:pt>
              </c:strCache>
            </c:strRef>
          </c:tx>
          <c:spPr>
            <a:solidFill>
              <a:srgbClr val="E24B4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Noto Sans TC Bold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26年Q1</c:v>
                  </c:pt>
                  <c:pt idx="1">
                    <c:v>26年Q2</c:v>
                  </c:pt>
                </c:lvl>
              </c:multiLvlStrCache>
            </c:multiLvl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11.3</c:v>
                </c:pt>
                <c:pt idx="1">
                  <c:v>6.3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APP使用問題</c:v>
                </c:pt>
              </c:strCache>
            </c:strRef>
          </c:tx>
          <c:spPr>
            <a:solidFill>
              <a:srgbClr val="D4537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FFFFFF"/>
                    </a:solidFill>
                    <a:latin typeface="Noto Sans TC Bold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26年Q1</c:v>
                  </c:pt>
                  <c:pt idx="1">
                    <c:v>26年Q2</c:v>
                  </c:pt>
                </c:lvl>
              </c:multiLvlStrCache>
            </c:multiLvlStrRef>
          </c:cat>
          <c:val>
            <c:numRef>
              <c:f>Sheet1!$G$2:$G$3</c:f>
              <c:numCache>
                <c:formatCode>General</c:formatCode>
                <c:ptCount val="2"/>
                <c:pt idx="0">
                  <c:v>6.3</c:v>
                </c:pt>
                <c:pt idx="1">
                  <c:v>5.2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650" u="none">
                  <a:solidFill>
                    <a:srgbClr val="FFFFFF"/>
                  </a:solidFill>
                  <a:latin typeface="Noto Sans TC Bold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888888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888888"/>
                    </a:solidFill>
                    <a:latin typeface="Arial"/>
                  </a:rPr>
                  <a:t>客訴佔比</a:t>
                </a:r>
              </a:p>
            </c:rich>
          </c:tx>
          <c:layout/>
          <c:overlay val="0"/>
        </c:title>
        <c:numFmt formatCode="0%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88888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2.png"/><Relationship Id="rId4" Type="http://schemas.openxmlformats.org/officeDocument/2006/relationships/image" Target="../media/image-2-2.png"/><Relationship Id="rId5" Type="http://schemas.openxmlformats.org/officeDocument/2006/relationships/image" Target="../media/image-2-5.png"/><Relationship Id="rId6" Type="http://schemas.openxmlformats.org/officeDocument/2006/relationships/image" Target="../media/image-2-2.png"/><Relationship Id="rId7" Type="http://schemas.openxmlformats.org/officeDocument/2006/relationships/image" Target="../media/image-2-2.png"/><Relationship Id="rId8" Type="http://schemas.openxmlformats.org/officeDocument/2006/relationships/image" Target="../media/image-2-2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3.png"/><Relationship Id="rId4" Type="http://schemas.openxmlformats.org/officeDocument/2006/relationships/image" Target="../media/image-3-1.png"/><Relationship Id="rId5" Type="http://schemas.openxmlformats.org/officeDocument/2006/relationships/image" Target="../media/image-3-3.png"/><Relationship Id="rId6" Type="http://schemas.openxmlformats.org/officeDocument/2006/relationships/image" Target="../media/image-3-1.png"/><Relationship Id="rId7" Type="http://schemas.openxmlformats.org/officeDocument/2006/relationships/image" Target="../media/image-3-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6" Type="http://schemas.openxmlformats.org/officeDocument/2006/relationships/chart" Target="/ppt/charts/chart2.xm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572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3333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客服課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9326880" y="475488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060E9F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0" y="4754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第39週（09/21 ~ 09/27）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1033272"/>
            <a:ext cx="272034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9050" dir="5400000">
              <a:srgbClr val="999999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33272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060E9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79576"/>
            <a:ext cx="2080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本週客訴總件數 (第39週)</a:t>
            </a:r>
            <a:endParaRPr lang="en-US" sz="1200" dirty="0"/>
          </a:p>
        </p:txBody>
      </p:sp>
      <p:pic>
        <p:nvPicPr>
          <p:cNvPr id="8" name="Image 0" descr="D:\info\0507_Weekly-Report\Operations-Weekly-Report\automation\icons\headset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7188" y="1197864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1527048"/>
            <a:ext cx="23545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147 </a:t>
            </a:r>
            <a:pPr indent="0" marL="0">
              <a:buNone/>
            </a:pPr>
            <a:r>
              <a:rPr lang="en-US" sz="135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件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548640" y="2039112"/>
            <a:ext cx="1714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2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較上週 (131件) 增加 16 件</a:t>
            </a:r>
            <a:endParaRPr lang="en-US" sz="920" dirty="0"/>
          </a:p>
        </p:txBody>
      </p:sp>
      <p:sp>
        <p:nvSpPr>
          <p:cNvPr id="11" name="Shape 8"/>
          <p:cNvSpPr/>
          <p:nvPr/>
        </p:nvSpPr>
        <p:spPr>
          <a:xfrm>
            <a:off x="2153412" y="2039112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FFE9DC"/>
          </a:solidFill>
          <a:ln/>
        </p:spPr>
      </p:sp>
      <p:sp>
        <p:nvSpPr>
          <p:cNvPr id="12" name="Text 9"/>
          <p:cNvSpPr/>
          <p:nvPr/>
        </p:nvSpPr>
        <p:spPr>
          <a:xfrm>
            <a:off x="2153412" y="2039112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▲12.2%</a:t>
            </a:r>
            <a:endParaRPr lang="en-US" sz="1020" dirty="0"/>
          </a:p>
        </p:txBody>
      </p:sp>
      <p:sp>
        <p:nvSpPr>
          <p:cNvPr id="13" name="Shape 10"/>
          <p:cNvSpPr/>
          <p:nvPr/>
        </p:nvSpPr>
        <p:spPr>
          <a:xfrm>
            <a:off x="3268980" y="1033272"/>
            <a:ext cx="272034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9050" dir="5400000">
              <a:srgbClr val="999999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68980" y="1033272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FF5000"/>
          </a:solidFill>
          <a:ln/>
        </p:spPr>
      </p:sp>
      <p:sp>
        <p:nvSpPr>
          <p:cNvPr id="15" name="Text 12"/>
          <p:cNvSpPr/>
          <p:nvPr/>
        </p:nvSpPr>
        <p:spPr>
          <a:xfrm>
            <a:off x="3451860" y="1179576"/>
            <a:ext cx="2080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回報最高主題</a:t>
            </a:r>
            <a:endParaRPr lang="en-US" sz="1200" dirty="0"/>
          </a:p>
        </p:txBody>
      </p:sp>
      <p:pic>
        <p:nvPicPr>
          <p:cNvPr id="16" name="Image 1" descr="D:\info\0507_Weekly-Report\Operations-Weekly-Report\automation\icons\warn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0408" y="1197864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51860" y="1527048"/>
            <a:ext cx="23545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機台當機/無回應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3451860" y="2039112"/>
            <a:ext cx="1714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2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佔比 16.3%（共 24 件）</a:t>
            </a:r>
            <a:endParaRPr lang="en-US" sz="920" dirty="0"/>
          </a:p>
        </p:txBody>
      </p:sp>
      <p:sp>
        <p:nvSpPr>
          <p:cNvPr id="19" name="Shape 15"/>
          <p:cNvSpPr/>
          <p:nvPr/>
        </p:nvSpPr>
        <p:spPr>
          <a:xfrm>
            <a:off x="5056632" y="2039112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FFE9DC"/>
          </a:solidFill>
          <a:ln/>
        </p:spPr>
      </p:sp>
      <p:sp>
        <p:nvSpPr>
          <p:cNvPr id="20" name="Text 16"/>
          <p:cNvSpPr/>
          <p:nvPr/>
        </p:nvSpPr>
        <p:spPr>
          <a:xfrm>
            <a:off x="5056632" y="2039112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▲9.4%</a:t>
            </a:r>
            <a:endParaRPr lang="en-US" sz="1020" dirty="0"/>
          </a:p>
        </p:txBody>
      </p:sp>
      <p:sp>
        <p:nvSpPr>
          <p:cNvPr id="21" name="Shape 17"/>
          <p:cNvSpPr/>
          <p:nvPr/>
        </p:nvSpPr>
        <p:spPr>
          <a:xfrm>
            <a:off x="6172200" y="1033272"/>
            <a:ext cx="272034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9050" dir="5400000">
              <a:srgbClr val="999999">
                <a:alpha val="2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172200" y="1033272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0076A9"/>
          </a:solidFill>
          <a:ln/>
        </p:spPr>
      </p:sp>
      <p:sp>
        <p:nvSpPr>
          <p:cNvPr id="23" name="Text 19"/>
          <p:cNvSpPr/>
          <p:nvPr/>
        </p:nvSpPr>
        <p:spPr>
          <a:xfrm>
            <a:off x="6355080" y="1179576"/>
            <a:ext cx="2080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客訴量最高站點</a:t>
            </a:r>
            <a:endParaRPr lang="en-US" sz="1200" dirty="0"/>
          </a:p>
        </p:txBody>
      </p:sp>
      <p:pic>
        <p:nvPicPr>
          <p:cNvPr id="24" name="Image 2" descr="D:\info\0507_Weekly-Report\Operations-Weekly-Report\automation\icons\pin_dark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3628" y="1197864"/>
            <a:ext cx="256032" cy="25603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355080" y="1527048"/>
            <a:ext cx="23545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76A9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台北台大醫院</a:t>
            </a:r>
            <a:endParaRPr lang="en-US" sz="1550" dirty="0"/>
          </a:p>
        </p:txBody>
      </p:sp>
      <p:sp>
        <p:nvSpPr>
          <p:cNvPr id="26" name="Text 21"/>
          <p:cNvSpPr/>
          <p:nvPr/>
        </p:nvSpPr>
        <p:spPr>
          <a:xfrm>
            <a:off x="6355080" y="2039112"/>
            <a:ext cx="1714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2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臺北市（本週 11 件）</a:t>
            </a:r>
            <a:endParaRPr lang="en-US" sz="920" dirty="0"/>
          </a:p>
        </p:txBody>
      </p:sp>
      <p:sp>
        <p:nvSpPr>
          <p:cNvPr id="27" name="Shape 22"/>
          <p:cNvSpPr/>
          <p:nvPr/>
        </p:nvSpPr>
        <p:spPr>
          <a:xfrm>
            <a:off x="7959852" y="2039112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FFE9DC"/>
          </a:solidFill>
          <a:ln/>
        </p:spPr>
      </p:sp>
      <p:sp>
        <p:nvSpPr>
          <p:cNvPr id="28" name="Text 23"/>
          <p:cNvSpPr/>
          <p:nvPr/>
        </p:nvSpPr>
        <p:spPr>
          <a:xfrm>
            <a:off x="7959852" y="2039112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▲11件</a:t>
            </a:r>
            <a:endParaRPr lang="en-US" sz="1020" dirty="0"/>
          </a:p>
        </p:txBody>
      </p:sp>
      <p:sp>
        <p:nvSpPr>
          <p:cNvPr id="29" name="Shape 24"/>
          <p:cNvSpPr/>
          <p:nvPr/>
        </p:nvSpPr>
        <p:spPr>
          <a:xfrm>
            <a:off x="9075420" y="1033272"/>
            <a:ext cx="272034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9050" dir="5400000">
              <a:srgbClr val="999999">
                <a:alpha val="2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9075420" y="1033272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FFCE00"/>
          </a:solidFill>
          <a:ln/>
        </p:spPr>
      </p:sp>
      <p:sp>
        <p:nvSpPr>
          <p:cNvPr id="31" name="Text 26"/>
          <p:cNvSpPr/>
          <p:nvPr/>
        </p:nvSpPr>
        <p:spPr>
          <a:xfrm>
            <a:off x="9258300" y="1179576"/>
            <a:ext cx="2080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非機台問題佔比</a:t>
            </a:r>
            <a:endParaRPr lang="en-US" sz="1200" dirty="0"/>
          </a:p>
        </p:txBody>
      </p:sp>
      <p:pic>
        <p:nvPicPr>
          <p:cNvPr id="32" name="Image 3" descr="D:\info\0507_Weekly-Report\Operations-Weekly-Report\automation\icons\usercog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1197864"/>
            <a:ext cx="256032" cy="25603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258300" y="1527048"/>
            <a:ext cx="23545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C7A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27.9</a:t>
            </a:r>
            <a:pPr indent="0" marL="0">
              <a:buNone/>
            </a:pPr>
            <a:r>
              <a:rPr lang="en-US" sz="1350" b="1" dirty="0">
                <a:solidFill>
                  <a:srgbClr val="9C7A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%</a:t>
            </a:r>
            <a:endParaRPr lang="en-US" sz="2700" dirty="0"/>
          </a:p>
        </p:txBody>
      </p:sp>
      <p:sp>
        <p:nvSpPr>
          <p:cNvPr id="34" name="Text 28"/>
          <p:cNvSpPr/>
          <p:nvPr/>
        </p:nvSpPr>
        <p:spPr>
          <a:xfrm>
            <a:off x="9258300" y="2039112"/>
            <a:ext cx="1714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2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代表案例類型：其他建議</a:t>
            </a:r>
            <a:endParaRPr lang="en-US" sz="920" dirty="0"/>
          </a:p>
        </p:txBody>
      </p:sp>
      <p:sp>
        <p:nvSpPr>
          <p:cNvPr id="35" name="Shape 29"/>
          <p:cNvSpPr/>
          <p:nvPr/>
        </p:nvSpPr>
        <p:spPr>
          <a:xfrm>
            <a:off x="10863072" y="2039112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DDEAF5"/>
          </a:solidFill>
          <a:ln/>
        </p:spPr>
      </p:sp>
      <p:sp>
        <p:nvSpPr>
          <p:cNvPr id="36" name="Text 30"/>
          <p:cNvSpPr/>
          <p:nvPr/>
        </p:nvSpPr>
        <p:spPr>
          <a:xfrm>
            <a:off x="10863072" y="2039112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▼8.7%</a:t>
            </a:r>
            <a:endParaRPr lang="en-US" sz="1020" dirty="0"/>
          </a:p>
        </p:txBody>
      </p:sp>
      <p:sp>
        <p:nvSpPr>
          <p:cNvPr id="37" name="Shape 31"/>
          <p:cNvSpPr/>
          <p:nvPr/>
        </p:nvSpPr>
        <p:spPr>
          <a:xfrm>
            <a:off x="365760" y="2697480"/>
            <a:ext cx="64008" cy="256032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38" name="Text 32"/>
          <p:cNvSpPr/>
          <p:nvPr/>
        </p:nvSpPr>
        <p:spPr>
          <a:xfrm>
            <a:off x="502920" y="2670048"/>
            <a:ext cx="6995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客訴趨勢分析（近4週）　單位：件數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044952"/>
          <a:ext cx="7132320" cy="3675888"/>
        </p:xfrm>
        <a:graphic>
          <a:graphicData uri="http://schemas.openxmlformats.org/drawingml/2006/table">
            <a:tbl>
              <a:tblPr/>
              <a:tblGrid>
                <a:gridCol w="1024128"/>
                <a:gridCol w="868680"/>
                <a:gridCol w="868680"/>
                <a:gridCol w="868680"/>
                <a:gridCol w="868680"/>
                <a:gridCol w="868680"/>
                <a:gridCol w="868680"/>
                <a:gridCol w="905256"/>
              </a:tblGrid>
              <a:tr h="73517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週次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機台問題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APP帳號設定問題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回收點數問題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顧客關係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優惠券問題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APP使用問題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加總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</a:tr>
              <a:tr h="73517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第36週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58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2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7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14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7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89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00"/>
                    </a:solidFill>
                  </a:tcPr>
                </a:tc>
              </a:tr>
              <a:tr h="73517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第37週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95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▲37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4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16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12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5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14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▲13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146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▲57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00"/>
                    </a:solidFill>
                  </a:tcPr>
                </a:tc>
              </a:tr>
              <a:tr h="73517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第38週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83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▼12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3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6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▼10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16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11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12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131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▼15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00"/>
                    </a:solidFill>
                  </a:tcPr>
                </a:tc>
              </a:tr>
              <a:tr h="73517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第39週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106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▲23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12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14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7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8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147</a:t>
                      </a:r>
                      <a:pPr algn="ctr" indent="0" marL="0">
                        <a:buNone/>
                      </a:pP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▲16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00"/>
                    </a:solidFill>
                  </a:tcPr>
                </a:tc>
              </a:tr>
            </a:tbl>
          </a:graphicData>
        </a:graphic>
      </p:graphicFrame>
      <p:sp>
        <p:nvSpPr>
          <p:cNvPr id="40" name="Shape 33"/>
          <p:cNvSpPr/>
          <p:nvPr/>
        </p:nvSpPr>
        <p:spPr>
          <a:xfrm>
            <a:off x="7772400" y="2697480"/>
            <a:ext cx="64008" cy="256032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41" name="Text 34"/>
          <p:cNvSpPr/>
          <p:nvPr/>
        </p:nvSpPr>
        <p:spPr>
          <a:xfrm>
            <a:off x="7909560" y="2670048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非機台問題 Top 3</a:t>
            </a:r>
            <a:endParaRPr lang="en-US" sz="1300" dirty="0"/>
          </a:p>
        </p:txBody>
      </p:sp>
      <p:sp>
        <p:nvSpPr>
          <p:cNvPr id="42" name="Shape 35"/>
          <p:cNvSpPr/>
          <p:nvPr/>
        </p:nvSpPr>
        <p:spPr>
          <a:xfrm>
            <a:off x="7772400" y="3044952"/>
            <a:ext cx="4023360" cy="1133856"/>
          </a:xfrm>
          <a:prstGeom prst="roundRect">
            <a:avLst>
              <a:gd name="adj" fmla="val 6452"/>
            </a:avLst>
          </a:prstGeom>
          <a:solidFill>
            <a:srgbClr val="FFF4EF"/>
          </a:solidFill>
          <a:ln w="12700">
            <a:solidFill>
              <a:srgbClr val="FF5000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7772400" y="3044952"/>
            <a:ext cx="54864" cy="1133856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44" name="Text 37"/>
          <p:cNvSpPr/>
          <p:nvPr/>
        </p:nvSpPr>
        <p:spPr>
          <a:xfrm>
            <a:off x="7918704" y="315468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1</a:t>
            </a:r>
            <a:endParaRPr lang="en-US" sz="1700" dirty="0"/>
          </a:p>
        </p:txBody>
      </p:sp>
      <p:sp>
        <p:nvSpPr>
          <p:cNvPr id="45" name="Text 38"/>
          <p:cNvSpPr/>
          <p:nvPr/>
        </p:nvSpPr>
        <p:spPr>
          <a:xfrm>
            <a:off x="8394192" y="31363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點數未入帳號</a:t>
            </a:r>
            <a:endParaRPr lang="en-US" sz="1250" dirty="0"/>
          </a:p>
        </p:txBody>
      </p:sp>
      <p:sp>
        <p:nvSpPr>
          <p:cNvPr id="46" name="Text 39"/>
          <p:cNvSpPr/>
          <p:nvPr/>
        </p:nvSpPr>
        <p:spPr>
          <a:xfrm>
            <a:off x="8394192" y="3520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10件</a:t>
            </a:r>
            <a:pPr indent="0" marL="0">
              <a:buNone/>
            </a:pPr>
            <a:r>
              <a:rPr lang="en-US" sz="115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6.8%</a:t>
            </a:r>
            <a:endParaRPr lang="en-US" sz="1700" dirty="0"/>
          </a:p>
        </p:txBody>
      </p:sp>
      <p:sp>
        <p:nvSpPr>
          <p:cNvPr id="47" name="Shape 40"/>
          <p:cNvSpPr/>
          <p:nvPr/>
        </p:nvSpPr>
        <p:spPr>
          <a:xfrm>
            <a:off x="8394192" y="3977640"/>
            <a:ext cx="3200400" cy="6400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48" name="Shape 41"/>
          <p:cNvSpPr/>
          <p:nvPr/>
        </p:nvSpPr>
        <p:spPr>
          <a:xfrm>
            <a:off x="8394192" y="3977640"/>
            <a:ext cx="3200400" cy="64008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49" name="Shape 42"/>
          <p:cNvSpPr/>
          <p:nvPr/>
        </p:nvSpPr>
        <p:spPr>
          <a:xfrm>
            <a:off x="7772400" y="4315968"/>
            <a:ext cx="4023360" cy="1133856"/>
          </a:xfrm>
          <a:prstGeom prst="roundRect">
            <a:avLst>
              <a:gd name="adj" fmla="val 6452"/>
            </a:avLst>
          </a:prstGeom>
          <a:solidFill>
            <a:srgbClr val="EEF6FB"/>
          </a:solidFill>
          <a:ln w="12700">
            <a:solidFill>
              <a:srgbClr val="0076A9"/>
            </a:solidFill>
            <a:prstDash val="solid"/>
          </a:ln>
        </p:spPr>
      </p:sp>
      <p:sp>
        <p:nvSpPr>
          <p:cNvPr id="50" name="Shape 43"/>
          <p:cNvSpPr/>
          <p:nvPr/>
        </p:nvSpPr>
        <p:spPr>
          <a:xfrm>
            <a:off x="7772400" y="4315968"/>
            <a:ext cx="54864" cy="1133856"/>
          </a:xfrm>
          <a:prstGeom prst="rect">
            <a:avLst/>
          </a:prstGeom>
          <a:solidFill>
            <a:srgbClr val="0076A9"/>
          </a:solidFill>
          <a:ln/>
        </p:spPr>
      </p:sp>
      <p:sp>
        <p:nvSpPr>
          <p:cNvPr id="51" name="Text 44"/>
          <p:cNvSpPr/>
          <p:nvPr/>
        </p:nvSpPr>
        <p:spPr>
          <a:xfrm>
            <a:off x="7918704" y="442569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76A9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2</a:t>
            </a:r>
            <a:endParaRPr lang="en-US" sz="1700" dirty="0"/>
          </a:p>
        </p:txBody>
      </p:sp>
      <p:sp>
        <p:nvSpPr>
          <p:cNvPr id="52" name="Text 45"/>
          <p:cNvSpPr/>
          <p:nvPr/>
        </p:nvSpPr>
        <p:spPr>
          <a:xfrm>
            <a:off x="8394192" y="44074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使用規則/限制條件說明</a:t>
            </a:r>
            <a:endParaRPr lang="en-US" sz="1250" dirty="0"/>
          </a:p>
        </p:txBody>
      </p:sp>
      <p:sp>
        <p:nvSpPr>
          <p:cNvPr id="53" name="Text 46"/>
          <p:cNvSpPr/>
          <p:nvPr/>
        </p:nvSpPr>
        <p:spPr>
          <a:xfrm>
            <a:off x="8394192" y="479145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76A9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7件</a:t>
            </a:r>
            <a:pPr indent="0" marL="0">
              <a:buNone/>
            </a:pPr>
            <a:r>
              <a:rPr lang="en-US" sz="115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4.8%</a:t>
            </a:r>
            <a:endParaRPr lang="en-US" sz="1700" dirty="0"/>
          </a:p>
        </p:txBody>
      </p:sp>
      <p:sp>
        <p:nvSpPr>
          <p:cNvPr id="54" name="Shape 47"/>
          <p:cNvSpPr/>
          <p:nvPr/>
        </p:nvSpPr>
        <p:spPr>
          <a:xfrm>
            <a:off x="8394192" y="5248656"/>
            <a:ext cx="3200400" cy="6400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5" name="Shape 48"/>
          <p:cNvSpPr/>
          <p:nvPr/>
        </p:nvSpPr>
        <p:spPr>
          <a:xfrm>
            <a:off x="8394192" y="5248656"/>
            <a:ext cx="2240280" cy="64008"/>
          </a:xfrm>
          <a:prstGeom prst="rect">
            <a:avLst/>
          </a:prstGeom>
          <a:solidFill>
            <a:srgbClr val="0076A9"/>
          </a:solidFill>
          <a:ln/>
        </p:spPr>
      </p:sp>
      <p:sp>
        <p:nvSpPr>
          <p:cNvPr id="56" name="Shape 49"/>
          <p:cNvSpPr/>
          <p:nvPr/>
        </p:nvSpPr>
        <p:spPr>
          <a:xfrm>
            <a:off x="7772400" y="5586984"/>
            <a:ext cx="4023360" cy="1133856"/>
          </a:xfrm>
          <a:prstGeom prst="roundRect">
            <a:avLst>
              <a:gd name="adj" fmla="val 6452"/>
            </a:avLst>
          </a:prstGeom>
          <a:solidFill>
            <a:srgbClr val="F5F7FF"/>
          </a:solidFill>
          <a:ln w="12700">
            <a:solidFill>
              <a:srgbClr val="060E9F"/>
            </a:solidFill>
            <a:prstDash val="solid"/>
          </a:ln>
        </p:spPr>
      </p:sp>
      <p:sp>
        <p:nvSpPr>
          <p:cNvPr id="57" name="Shape 50"/>
          <p:cNvSpPr/>
          <p:nvPr/>
        </p:nvSpPr>
        <p:spPr>
          <a:xfrm>
            <a:off x="7772400" y="5586984"/>
            <a:ext cx="54864" cy="1133856"/>
          </a:xfrm>
          <a:prstGeom prst="rect">
            <a:avLst/>
          </a:prstGeom>
          <a:solidFill>
            <a:srgbClr val="060E9F"/>
          </a:solidFill>
          <a:ln/>
        </p:spPr>
      </p:sp>
      <p:sp>
        <p:nvSpPr>
          <p:cNvPr id="58" name="Text 51"/>
          <p:cNvSpPr/>
          <p:nvPr/>
        </p:nvSpPr>
        <p:spPr>
          <a:xfrm>
            <a:off x="7918704" y="569671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3</a:t>
            </a:r>
            <a:endParaRPr lang="en-US" sz="1700" dirty="0"/>
          </a:p>
        </p:txBody>
      </p:sp>
      <p:sp>
        <p:nvSpPr>
          <p:cNvPr id="59" name="Text 52"/>
          <p:cNvSpPr/>
          <p:nvPr/>
        </p:nvSpPr>
        <p:spPr>
          <a:xfrm>
            <a:off x="8394192" y="567842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APP畫面顯示與機台狀態不符</a:t>
            </a:r>
            <a:endParaRPr lang="en-US" sz="1250" dirty="0"/>
          </a:p>
        </p:txBody>
      </p:sp>
      <p:sp>
        <p:nvSpPr>
          <p:cNvPr id="60" name="Text 53"/>
          <p:cNvSpPr/>
          <p:nvPr/>
        </p:nvSpPr>
        <p:spPr>
          <a:xfrm>
            <a:off x="8394192" y="60624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7件</a:t>
            </a:r>
            <a:pPr indent="0" marL="0">
              <a:buNone/>
            </a:pPr>
            <a:r>
              <a:rPr lang="en-US" sz="115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4.8%</a:t>
            </a:r>
            <a:endParaRPr lang="en-US" sz="1700" dirty="0"/>
          </a:p>
        </p:txBody>
      </p:sp>
      <p:sp>
        <p:nvSpPr>
          <p:cNvPr id="61" name="Shape 54"/>
          <p:cNvSpPr/>
          <p:nvPr/>
        </p:nvSpPr>
        <p:spPr>
          <a:xfrm>
            <a:off x="8394192" y="6519672"/>
            <a:ext cx="3200400" cy="6400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62" name="Shape 55"/>
          <p:cNvSpPr/>
          <p:nvPr/>
        </p:nvSpPr>
        <p:spPr>
          <a:xfrm>
            <a:off x="8394192" y="6519672"/>
            <a:ext cx="2240280" cy="64008"/>
          </a:xfrm>
          <a:prstGeom prst="rect">
            <a:avLst/>
          </a:prstGeom>
          <a:solidFill>
            <a:srgbClr val="060E9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73152" cy="329184"/>
          </a:xfrm>
          <a:prstGeom prst="rect">
            <a:avLst/>
          </a:prstGeom>
          <a:solidFill>
            <a:srgbClr val="0076A9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14630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33333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客訴機台類型與高頻站點分析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9326880" y="164592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060E9F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0" y="1645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第39週（09/21 ~ 09/27）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555498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pic>
        <p:nvPicPr>
          <p:cNvPr id="7" name="Image 0" descr="D:\info\0507_Weekly-Report\Operations-Weekly-Report\automation\icons\recycle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06984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60704" y="102412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收瓶機 ／ 方舟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091940" y="1069848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F5000"/>
          </a:solidFill>
          <a:ln/>
        </p:spPr>
      </p:sp>
      <p:sp>
        <p:nvSpPr>
          <p:cNvPr id="10" name="Text 7"/>
          <p:cNvSpPr/>
          <p:nvPr/>
        </p:nvSpPr>
        <p:spPr>
          <a:xfrm>
            <a:off x="4091940" y="10698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120件 (92.3%)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85216" y="1554480"/>
            <a:ext cx="5116068" cy="1057656"/>
          </a:xfrm>
          <a:prstGeom prst="roundRect">
            <a:avLst>
              <a:gd name="adj" fmla="val 5187"/>
            </a:avLst>
          </a:prstGeom>
          <a:solidFill>
            <a:srgbClr val="F8F9FB"/>
          </a:solidFill>
          <a:ln/>
        </p:spPr>
      </p:sp>
      <p:sp>
        <p:nvSpPr>
          <p:cNvPr id="12" name="Text 9"/>
          <p:cNvSpPr/>
          <p:nvPr/>
        </p:nvSpPr>
        <p:spPr>
          <a:xfrm>
            <a:off x="694944" y="1655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143000" y="1609344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滿艙問題（回收箱／寶特瓶）</a:t>
            </a:r>
            <a:pPr indent="0" marL="0">
              <a:buNone/>
            </a:pPr>
            <a:r>
              <a:rPr lang="en-US" sz="14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合計 25% (30件)</a:t>
            </a:r>
            <a:endParaRPr lang="en-US" sz="1600" dirty="0"/>
          </a:p>
        </p:txBody>
      </p:sp>
      <p:pic>
        <p:nvPicPr>
          <p:cNvPr id="14" name="Image 1" descr="D:\info\0507_Weekly-Report\Operations-Weekly-Report\automation\icons\pin_g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103120"/>
            <a:ext cx="137160" cy="1371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25880" y="2057400"/>
            <a:ext cx="4320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最高回報站點：F｜新北/全聯福利中心汐止康寧店站（2件）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85216" y="2712720"/>
            <a:ext cx="5116068" cy="1057656"/>
          </a:xfrm>
          <a:prstGeom prst="roundRect">
            <a:avLst>
              <a:gd name="adj" fmla="val 5187"/>
            </a:avLst>
          </a:prstGeom>
          <a:solidFill>
            <a:srgbClr val="F8F9FB"/>
          </a:solidFill>
          <a:ln/>
        </p:spPr>
      </p:sp>
      <p:sp>
        <p:nvSpPr>
          <p:cNvPr id="17" name="Text 13"/>
          <p:cNvSpPr/>
          <p:nvPr/>
        </p:nvSpPr>
        <p:spPr>
          <a:xfrm>
            <a:off x="694944" y="2813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1143000" y="2767584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機台當機/無回應</a:t>
            </a:r>
            <a:pPr indent="0" marL="0">
              <a:buNone/>
            </a:pPr>
            <a:r>
              <a:rPr lang="en-US" sz="14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合計 20% (24件)</a:t>
            </a:r>
            <a:endParaRPr lang="en-US" sz="1600" dirty="0"/>
          </a:p>
        </p:txBody>
      </p:sp>
      <p:pic>
        <p:nvPicPr>
          <p:cNvPr id="19" name="Image 2" descr="D:\info\0507_Weekly-Report\Operations-Weekly-Report\automation\icons\pin_gr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261360"/>
            <a:ext cx="137160" cy="1371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25880" y="3215640"/>
            <a:ext cx="4320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最高回報站點：D｜臺北/台北台大醫院站（9件）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85216" y="3870960"/>
            <a:ext cx="5116068" cy="1057656"/>
          </a:xfrm>
          <a:prstGeom prst="roundRect">
            <a:avLst>
              <a:gd name="adj" fmla="val 5187"/>
            </a:avLst>
          </a:prstGeom>
          <a:solidFill>
            <a:srgbClr val="F8F9FB"/>
          </a:solidFill>
          <a:ln/>
        </p:spPr>
      </p:sp>
      <p:sp>
        <p:nvSpPr>
          <p:cNvPr id="22" name="Text 17"/>
          <p:cNvSpPr/>
          <p:nvPr/>
        </p:nvSpPr>
        <p:spPr>
          <a:xfrm>
            <a:off x="694944" y="3971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6A9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1143000" y="3925824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點數未入帳號</a:t>
            </a:r>
            <a:pPr indent="0" marL="0">
              <a:buNone/>
            </a:pPr>
            <a:r>
              <a:rPr lang="en-US" sz="140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合計 8.3% (10件)</a:t>
            </a:r>
            <a:endParaRPr lang="en-US" sz="1600" dirty="0"/>
          </a:p>
        </p:txBody>
      </p:sp>
      <p:pic>
        <p:nvPicPr>
          <p:cNvPr id="24" name="Image 3" descr="D:\info\0507_Weekly-Report\Operations-Weekly-Report\automation\icons\pin_gr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419600"/>
            <a:ext cx="137160" cy="1371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25880" y="4373880"/>
            <a:ext cx="4320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最高回報站點：B｜高雄/小北百貨高雄永豐店站（1件）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6240780" y="868680"/>
            <a:ext cx="555498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pic>
        <p:nvPicPr>
          <p:cNvPr id="27" name="Image 4" descr="D:\info\0507_Weekly-Report\Operations-Weekly-Report\automation\icons\battery_oran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6812" y="1069848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935724" y="102412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二代電池機</a:t>
            </a:r>
            <a:endParaRPr lang="en-US" sz="1800" dirty="0"/>
          </a:p>
        </p:txBody>
      </p:sp>
      <p:sp>
        <p:nvSpPr>
          <p:cNvPr id="29" name="Shape 22"/>
          <p:cNvSpPr/>
          <p:nvPr/>
        </p:nvSpPr>
        <p:spPr>
          <a:xfrm>
            <a:off x="9966960" y="1069848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FCE00"/>
          </a:solidFill>
          <a:ln/>
        </p:spPr>
      </p:sp>
      <p:sp>
        <p:nvSpPr>
          <p:cNvPr id="30" name="Text 23"/>
          <p:cNvSpPr/>
          <p:nvPr/>
        </p:nvSpPr>
        <p:spPr>
          <a:xfrm>
            <a:off x="9966960" y="10698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10件 (7.7%)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6460236" y="1554480"/>
            <a:ext cx="5116068" cy="1057656"/>
          </a:xfrm>
          <a:prstGeom prst="roundRect">
            <a:avLst>
              <a:gd name="adj" fmla="val 5187"/>
            </a:avLst>
          </a:prstGeom>
          <a:solidFill>
            <a:srgbClr val="F8F9FB"/>
          </a:solidFill>
          <a:ln/>
        </p:spPr>
      </p:sp>
      <p:sp>
        <p:nvSpPr>
          <p:cNvPr id="32" name="Text 25"/>
          <p:cNvSpPr/>
          <p:nvPr/>
        </p:nvSpPr>
        <p:spPr>
          <a:xfrm>
            <a:off x="6569964" y="1655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1</a:t>
            </a:r>
            <a:endParaRPr lang="en-US" sz="1800" dirty="0"/>
          </a:p>
        </p:txBody>
      </p:sp>
      <p:sp>
        <p:nvSpPr>
          <p:cNvPr id="33" name="Text 26"/>
          <p:cNvSpPr/>
          <p:nvPr/>
        </p:nvSpPr>
        <p:spPr>
          <a:xfrm>
            <a:off x="7018020" y="1609344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履帶未作動或異常抖動</a:t>
            </a:r>
            <a:pPr indent="0" marL="0">
              <a:buNone/>
            </a:pPr>
            <a:r>
              <a:rPr lang="en-US" sz="14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合計 40% (4件)</a:t>
            </a:r>
            <a:endParaRPr lang="en-US" sz="1600" dirty="0"/>
          </a:p>
        </p:txBody>
      </p:sp>
      <p:pic>
        <p:nvPicPr>
          <p:cNvPr id="34" name="Image 5" descr="D:\info\0507_Weekly-Report\Operations-Weekly-Report\automation\icons\pin_gra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8020" y="2103120"/>
            <a:ext cx="137160" cy="13716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200900" y="2057400"/>
            <a:ext cx="4320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最高回報站點：S｜新北/小北百貨新北雨農店站（2件）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6460236" y="2712720"/>
            <a:ext cx="5116068" cy="1057656"/>
          </a:xfrm>
          <a:prstGeom prst="roundRect">
            <a:avLst>
              <a:gd name="adj" fmla="val 5187"/>
            </a:avLst>
          </a:prstGeom>
          <a:solidFill>
            <a:srgbClr val="F8F9FB"/>
          </a:solidFill>
          <a:ln/>
        </p:spPr>
      </p:sp>
      <p:sp>
        <p:nvSpPr>
          <p:cNvPr id="37" name="Text 29"/>
          <p:cNvSpPr/>
          <p:nvPr/>
        </p:nvSpPr>
        <p:spPr>
          <a:xfrm>
            <a:off x="6569964" y="2813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2</a:t>
            </a:r>
            <a:endParaRPr lang="en-US" sz="1800" dirty="0"/>
          </a:p>
        </p:txBody>
      </p:sp>
      <p:sp>
        <p:nvSpPr>
          <p:cNvPr id="38" name="Text 30"/>
          <p:cNvSpPr/>
          <p:nvPr/>
        </p:nvSpPr>
        <p:spPr>
          <a:xfrm>
            <a:off x="7018020" y="2767584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機台需維護/故障提醒</a:t>
            </a:r>
            <a:pPr indent="0" marL="0">
              <a:buNone/>
            </a:pPr>
            <a:r>
              <a:rPr lang="en-US" sz="14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合計 20% (2件)</a:t>
            </a:r>
            <a:endParaRPr lang="en-US" sz="1600" dirty="0"/>
          </a:p>
        </p:txBody>
      </p:sp>
      <p:pic>
        <p:nvPicPr>
          <p:cNvPr id="39" name="Image 6" descr="D:\info\0507_Weekly-Report\Operations-Weekly-Report\automation\icons\pin_gra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8020" y="3261360"/>
            <a:ext cx="137160" cy="13716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7200900" y="3215640"/>
            <a:ext cx="4320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最高回報站點：F｜新竹/全家橫山致豐店站（1件）</a:t>
            </a:r>
            <a:endParaRPr lang="en-US" sz="1050" dirty="0"/>
          </a:p>
        </p:txBody>
      </p:sp>
      <p:sp>
        <p:nvSpPr>
          <p:cNvPr id="41" name="Shape 32"/>
          <p:cNvSpPr/>
          <p:nvPr/>
        </p:nvSpPr>
        <p:spPr>
          <a:xfrm>
            <a:off x="6460236" y="3870960"/>
            <a:ext cx="5116068" cy="1057656"/>
          </a:xfrm>
          <a:prstGeom prst="roundRect">
            <a:avLst>
              <a:gd name="adj" fmla="val 5187"/>
            </a:avLst>
          </a:prstGeom>
          <a:solidFill>
            <a:srgbClr val="F8F9FB"/>
          </a:solidFill>
          <a:ln/>
        </p:spPr>
      </p:sp>
      <p:sp>
        <p:nvSpPr>
          <p:cNvPr id="42" name="Text 33"/>
          <p:cNvSpPr/>
          <p:nvPr/>
        </p:nvSpPr>
        <p:spPr>
          <a:xfrm>
            <a:off x="6569964" y="3971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6A9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3</a:t>
            </a:r>
            <a:endParaRPr lang="en-US" sz="1800" dirty="0"/>
          </a:p>
        </p:txBody>
      </p:sp>
      <p:sp>
        <p:nvSpPr>
          <p:cNvPr id="43" name="Text 34"/>
          <p:cNvSpPr/>
          <p:nvPr/>
        </p:nvSpPr>
        <p:spPr>
          <a:xfrm>
            <a:off x="7018020" y="3925824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點數重複入點</a:t>
            </a:r>
            <a:pPr indent="0" marL="0">
              <a:buNone/>
            </a:pPr>
            <a:r>
              <a:rPr lang="en-US" sz="140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合計 20% (2件)</a:t>
            </a:r>
            <a:endParaRPr lang="en-US" sz="1600" dirty="0"/>
          </a:p>
        </p:txBody>
      </p:sp>
      <p:pic>
        <p:nvPicPr>
          <p:cNvPr id="44" name="Image 7" descr="D:\info\0507_Weekly-Report\Operations-Weekly-Report\automation\icons\pin_gra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8020" y="4419600"/>
            <a:ext cx="137160" cy="137160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7200900" y="4373880"/>
            <a:ext cx="4320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最高回報站點：E｜臺南/全家台南萬年店站（2件）</a:t>
            </a:r>
            <a:endParaRPr lang="en-US" sz="1050" dirty="0"/>
          </a:p>
        </p:txBody>
      </p:sp>
      <p:sp>
        <p:nvSpPr>
          <p:cNvPr id="46" name="Shape 36"/>
          <p:cNvSpPr/>
          <p:nvPr/>
        </p:nvSpPr>
        <p:spPr>
          <a:xfrm>
            <a:off x="365760" y="5257800"/>
            <a:ext cx="11430000" cy="777240"/>
          </a:xfrm>
          <a:prstGeom prst="roundRect">
            <a:avLst>
              <a:gd name="adj" fmla="val 9412"/>
            </a:avLst>
          </a:prstGeom>
          <a:solidFill>
            <a:srgbClr val="FAE0B8"/>
          </a:solidFill>
          <a:ln w="15875">
            <a:solidFill>
              <a:srgbClr val="FFCE00"/>
            </a:solidFill>
            <a:prstDash val="solid"/>
          </a:ln>
        </p:spPr>
      </p:sp>
      <p:pic>
        <p:nvPicPr>
          <p:cNvPr id="47" name="Image 8" descr="D:\info\0507_Weekly-Report\Operations-Weekly-Report\automation\icons\war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6928" y="5477256"/>
            <a:ext cx="310896" cy="310896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1005840" y="53492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4800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【本週融合洞察】收瓶機客訴集中於「滿艙問題（回收箱／寶特瓶）」（25.0%，30件），最高回報站點為 F｜新北/全聯福利中心汐止康寧店站（2件），建議優先派工檢修；電池機客訴則集中於「履帶未作動或異常抖動」（40.0%，4件），建議持續追蹤。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73152" cy="329184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14630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33333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月低回收量站點改善清單 Top 10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675120" y="25603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資料更新日期：2026/09/29（區間2026/08/30-09/29）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77240"/>
          <a:ext cx="1143000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1371600"/>
                <a:gridCol w="914400"/>
                <a:gridCol w="2423160"/>
                <a:gridCol w="1371600"/>
                <a:gridCol w="1554480"/>
                <a:gridCol w="164592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等級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Hive排名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（總566）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縣市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站點名稱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機型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租賃/買斷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近30日合計（瓶）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月增減率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－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臺中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總太東光好室站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－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臺中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總太松竹好室站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－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苗栗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頭屋明德社區站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－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臺北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Global Mall 環球南港車站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F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528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高雄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全聯福利中心大寮三隆店站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F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527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澎湖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澎湖車船處交通船馬公候船室站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－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花蓮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花蓮縣環境保護局站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－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高雄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Global Mall 環球新左營車站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F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526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臺北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台北醫學大學站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－</a:t>
                      </a:r>
                      <a:endParaRPr lang="en-US" sz="13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澎湖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馬公總站客運轉運中心站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0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966460" y="1298448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F5000">
              <a:alpha val="15000"/>
            </a:srgbClr>
          </a:solidFill>
          <a:ln w="12700">
            <a:solidFill>
              <a:srgbClr val="FF5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66460" y="129844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H30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315200" y="1298448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60E9F"/>
            </a:solidFill>
            <a:prstDash val="solid"/>
          </a:ln>
        </p:spPr>
      </p:sp>
      <p:pic>
        <p:nvPicPr>
          <p:cNvPr id="9" name="Image 0" descr="D:\info\0507_Weekly-Report\Operations-Weekly-Report\automation\icons\key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3216" y="1353312"/>
            <a:ext cx="146304" cy="14630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607808" y="12984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租賃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966460" y="1682496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F5000">
              <a:alpha val="15000"/>
            </a:srgbClr>
          </a:solidFill>
          <a:ln w="12700">
            <a:solidFill>
              <a:srgbClr val="FF500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966460" y="16824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H30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7315200" y="1682496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60E9F"/>
            </a:solidFill>
            <a:prstDash val="solid"/>
          </a:ln>
        </p:spPr>
      </p:sp>
      <p:pic>
        <p:nvPicPr>
          <p:cNvPr id="14" name="Image 1" descr="D:\info\0507_Weekly-Report\Operations-Weekly-Report\automation\icons\key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3216" y="1737360"/>
            <a:ext cx="146304" cy="14630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607808" y="168249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租賃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5966460" y="2066544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060E9F">
              <a:alpha val="15000"/>
            </a:srgbClr>
          </a:solidFill>
          <a:ln w="12700">
            <a:solidFill>
              <a:srgbClr val="060E9F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5966460" y="206654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AI-4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7315200" y="2066544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60E9F"/>
            </a:solidFill>
            <a:prstDash val="solid"/>
          </a:ln>
        </p:spPr>
      </p:sp>
      <p:pic>
        <p:nvPicPr>
          <p:cNvPr id="19" name="Image 2" descr="D:\info\0507_Weekly-Report\Operations-Weekly-Report\automation\icons\coins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3216" y="2121408"/>
            <a:ext cx="146304" cy="14630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607808" y="206654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買斷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5966460" y="2450592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F5000">
              <a:alpha val="15000"/>
            </a:srgbClr>
          </a:solidFill>
          <a:ln w="12700">
            <a:solidFill>
              <a:srgbClr val="FF5000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5966460" y="245059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H30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7315200" y="2450592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60E9F"/>
            </a:solidFill>
            <a:prstDash val="solid"/>
          </a:ln>
        </p:spPr>
      </p:sp>
      <p:pic>
        <p:nvPicPr>
          <p:cNvPr id="24" name="Image 3" descr="D:\info\0507_Weekly-Report\Operations-Weekly-Report\automation\icons\key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3216" y="2505456"/>
            <a:ext cx="146304" cy="14630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607808" y="245059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租賃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5966460" y="2834640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060E9F">
              <a:alpha val="15000"/>
            </a:srgbClr>
          </a:solidFill>
          <a:ln w="12700">
            <a:solidFill>
              <a:srgbClr val="060E9F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5966460" y="28346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AI-4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5966460" y="3218688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F5000">
              <a:alpha val="15000"/>
            </a:srgbClr>
          </a:solidFill>
          <a:ln w="12700">
            <a:solidFill>
              <a:srgbClr val="FF5000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5966460" y="321868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H30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5966460" y="3602736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F5000">
              <a:alpha val="15000"/>
            </a:srgbClr>
          </a:solidFill>
          <a:ln w="12700">
            <a:solidFill>
              <a:srgbClr val="FF5000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5966460" y="360273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H30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7315200" y="3602736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60E9F"/>
            </a:solidFill>
            <a:prstDash val="solid"/>
          </a:ln>
        </p:spPr>
      </p:sp>
      <p:pic>
        <p:nvPicPr>
          <p:cNvPr id="33" name="Image 4" descr="D:\info\0507_Weekly-Report\Operations-Weekly-Report\automation\icons\coins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3216" y="3657600"/>
            <a:ext cx="146304" cy="14630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607808" y="36027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買斷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5966460" y="3986784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F5000">
              <a:alpha val="15000"/>
            </a:srgbClr>
          </a:solidFill>
          <a:ln w="12700">
            <a:solidFill>
              <a:srgbClr val="FF5000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5966460" y="398678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H30</a:t>
            </a:r>
            <a:endParaRPr lang="en-US" sz="1000" dirty="0"/>
          </a:p>
        </p:txBody>
      </p:sp>
      <p:sp>
        <p:nvSpPr>
          <p:cNvPr id="37" name="Shape 29"/>
          <p:cNvSpPr/>
          <p:nvPr/>
        </p:nvSpPr>
        <p:spPr>
          <a:xfrm>
            <a:off x="7315200" y="3986784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60E9F"/>
            </a:solidFill>
            <a:prstDash val="solid"/>
          </a:ln>
        </p:spPr>
      </p:sp>
      <p:pic>
        <p:nvPicPr>
          <p:cNvPr id="38" name="Image 5" descr="D:\info\0507_Weekly-Report\Operations-Weekly-Report\automation\icons\key_blu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3216" y="4041648"/>
            <a:ext cx="146304" cy="146304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7607808" y="398678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租賃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5966460" y="4370832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F5000">
              <a:alpha val="15000"/>
            </a:srgbClr>
          </a:solidFill>
          <a:ln w="12700">
            <a:solidFill>
              <a:srgbClr val="FF5000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5966460" y="437083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H30</a:t>
            </a:r>
            <a:endParaRPr lang="en-US" sz="1000" dirty="0"/>
          </a:p>
        </p:txBody>
      </p:sp>
      <p:sp>
        <p:nvSpPr>
          <p:cNvPr id="42" name="Shape 33"/>
          <p:cNvSpPr/>
          <p:nvPr/>
        </p:nvSpPr>
        <p:spPr>
          <a:xfrm>
            <a:off x="7315200" y="4370832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60E9F"/>
            </a:solidFill>
            <a:prstDash val="solid"/>
          </a:ln>
        </p:spPr>
      </p:sp>
      <p:pic>
        <p:nvPicPr>
          <p:cNvPr id="43" name="Image 6" descr="D:\info\0507_Weekly-Report\Operations-Weekly-Report\automation\icons\key_blu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3216" y="4425696"/>
            <a:ext cx="146304" cy="146304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7607808" y="43708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租賃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5966460" y="4754880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F5000">
              <a:alpha val="15000"/>
            </a:srgbClr>
          </a:solidFill>
          <a:ln w="12700">
            <a:solidFill>
              <a:srgbClr val="FF5000"/>
            </a:solidFill>
            <a:prstDash val="solid"/>
          </a:ln>
        </p:spPr>
      </p:sp>
      <p:sp>
        <p:nvSpPr>
          <p:cNvPr id="46" name="Text 36"/>
          <p:cNvSpPr/>
          <p:nvPr/>
        </p:nvSpPr>
        <p:spPr>
          <a:xfrm>
            <a:off x="5966460" y="47548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H30</a:t>
            </a:r>
            <a:endParaRPr lang="en-US" sz="1000" dirty="0"/>
          </a:p>
        </p:txBody>
      </p:sp>
      <p:sp>
        <p:nvSpPr>
          <p:cNvPr id="47" name="Shape 37"/>
          <p:cNvSpPr/>
          <p:nvPr/>
        </p:nvSpPr>
        <p:spPr>
          <a:xfrm>
            <a:off x="365760" y="5276088"/>
            <a:ext cx="11430000" cy="960120"/>
          </a:xfrm>
          <a:prstGeom prst="roundRect">
            <a:avLst>
              <a:gd name="adj" fmla="val 5714"/>
            </a:avLst>
          </a:prstGeom>
          <a:solidFill>
            <a:srgbClr val="F5F7FF"/>
          </a:solidFill>
          <a:ln w="9525">
            <a:solidFill>
              <a:srgbClr val="8EB9C9"/>
            </a:solidFill>
            <a:prstDash val="solid"/>
          </a:ln>
        </p:spPr>
      </p:sp>
      <p:sp>
        <p:nvSpPr>
          <p:cNvPr id="48" name="Text 38"/>
          <p:cNvSpPr/>
          <p:nvPr/>
        </p:nvSpPr>
        <p:spPr>
          <a:xfrm>
            <a:off x="594360" y="534924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詳細計分標準與說明，請參閱Hive平台 (以下為簡述)</a:t>
            </a:r>
            <a:endParaRPr lang="en-US" sz="950" dirty="0"/>
          </a:p>
        </p:txBody>
      </p:sp>
      <p:sp>
        <p:nvSpPr>
          <p:cNvPr id="49" name="Text 39"/>
          <p:cNvSpPr/>
          <p:nvPr/>
        </p:nvSpPr>
        <p:spPr>
          <a:xfrm>
            <a:off x="594360" y="55961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等級+加分/瓶量：</a:t>
            </a:r>
            <a:endParaRPr lang="en-US" sz="900" dirty="0"/>
          </a:p>
        </p:txBody>
      </p:sp>
      <p:sp>
        <p:nvSpPr>
          <p:cNvPr id="50" name="Shape 40"/>
          <p:cNvSpPr/>
          <p:nvPr/>
        </p:nvSpPr>
        <p:spPr>
          <a:xfrm>
            <a:off x="5943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FF5000">
              <a:alpha val="15000"/>
            </a:srgbClr>
          </a:solidFill>
          <a:ln w="9525">
            <a:solidFill>
              <a:srgbClr val="FF5000"/>
            </a:solidFill>
            <a:prstDash val="solid"/>
          </a:ln>
        </p:spPr>
      </p:sp>
      <p:sp>
        <p:nvSpPr>
          <p:cNvPr id="51" name="Text 41"/>
          <p:cNvSpPr/>
          <p:nvPr/>
        </p:nvSpPr>
        <p:spPr>
          <a:xfrm>
            <a:off x="5943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S+18</a:t>
            </a:r>
            <a:endParaRPr lang="en-US" sz="850" dirty="0"/>
          </a:p>
        </p:txBody>
      </p:sp>
      <p:sp>
        <p:nvSpPr>
          <p:cNvPr id="52" name="Text 42"/>
          <p:cNvSpPr/>
          <p:nvPr/>
        </p:nvSpPr>
        <p:spPr>
          <a:xfrm>
            <a:off x="11338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17,000瓶以上</a:t>
            </a:r>
            <a:endParaRPr lang="en-US" sz="700" dirty="0"/>
          </a:p>
        </p:txBody>
      </p:sp>
      <p:sp>
        <p:nvSpPr>
          <p:cNvPr id="53" name="Shape 43"/>
          <p:cNvSpPr/>
          <p:nvPr/>
        </p:nvSpPr>
        <p:spPr>
          <a:xfrm>
            <a:off x="19659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0076A9">
              <a:alpha val="15000"/>
            </a:srgbClr>
          </a:solidFill>
          <a:ln w="9525">
            <a:solidFill>
              <a:srgbClr val="0076A9"/>
            </a:solidFill>
            <a:prstDash val="solid"/>
          </a:ln>
        </p:spPr>
      </p:sp>
      <p:sp>
        <p:nvSpPr>
          <p:cNvPr id="54" name="Text 44"/>
          <p:cNvSpPr/>
          <p:nvPr/>
        </p:nvSpPr>
        <p:spPr>
          <a:xfrm>
            <a:off x="19659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A+12</a:t>
            </a:r>
            <a:endParaRPr lang="en-US" sz="850" dirty="0"/>
          </a:p>
        </p:txBody>
      </p:sp>
      <p:sp>
        <p:nvSpPr>
          <p:cNvPr id="55" name="Text 45"/>
          <p:cNvSpPr/>
          <p:nvPr/>
        </p:nvSpPr>
        <p:spPr>
          <a:xfrm>
            <a:off x="25054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13,300～16,999瓶</a:t>
            </a:r>
            <a:endParaRPr lang="en-US" sz="700" dirty="0"/>
          </a:p>
        </p:txBody>
      </p:sp>
      <p:sp>
        <p:nvSpPr>
          <p:cNvPr id="56" name="Shape 46"/>
          <p:cNvSpPr/>
          <p:nvPr/>
        </p:nvSpPr>
        <p:spPr>
          <a:xfrm>
            <a:off x="33375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060E9F">
              <a:alpha val="15000"/>
            </a:srgbClr>
          </a:solidFill>
          <a:ln w="9525">
            <a:solidFill>
              <a:srgbClr val="060E9F"/>
            </a:solidFill>
            <a:prstDash val="solid"/>
          </a:ln>
        </p:spPr>
      </p:sp>
      <p:sp>
        <p:nvSpPr>
          <p:cNvPr id="57" name="Text 47"/>
          <p:cNvSpPr/>
          <p:nvPr/>
        </p:nvSpPr>
        <p:spPr>
          <a:xfrm>
            <a:off x="33375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B+8</a:t>
            </a:r>
            <a:endParaRPr lang="en-US" sz="850" dirty="0"/>
          </a:p>
        </p:txBody>
      </p:sp>
      <p:sp>
        <p:nvSpPr>
          <p:cNvPr id="58" name="Text 48"/>
          <p:cNvSpPr/>
          <p:nvPr/>
        </p:nvSpPr>
        <p:spPr>
          <a:xfrm>
            <a:off x="38770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11,100～13,299瓶</a:t>
            </a:r>
            <a:endParaRPr lang="en-US" sz="700" dirty="0"/>
          </a:p>
        </p:txBody>
      </p:sp>
      <p:sp>
        <p:nvSpPr>
          <p:cNvPr id="59" name="Shape 49"/>
          <p:cNvSpPr/>
          <p:nvPr/>
        </p:nvSpPr>
        <p:spPr>
          <a:xfrm>
            <a:off x="47091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4F86A0">
              <a:alpha val="15000"/>
            </a:srgbClr>
          </a:solidFill>
          <a:ln w="9525">
            <a:solidFill>
              <a:srgbClr val="4F86A0"/>
            </a:solidFill>
            <a:prstDash val="solid"/>
          </a:ln>
        </p:spPr>
      </p:sp>
      <p:sp>
        <p:nvSpPr>
          <p:cNvPr id="60" name="Text 50"/>
          <p:cNvSpPr/>
          <p:nvPr/>
        </p:nvSpPr>
        <p:spPr>
          <a:xfrm>
            <a:off x="47091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6A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C+4</a:t>
            </a:r>
            <a:endParaRPr lang="en-US" sz="850" dirty="0"/>
          </a:p>
        </p:txBody>
      </p:sp>
      <p:sp>
        <p:nvSpPr>
          <p:cNvPr id="61" name="Text 51"/>
          <p:cNvSpPr/>
          <p:nvPr/>
        </p:nvSpPr>
        <p:spPr>
          <a:xfrm>
            <a:off x="52486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9,000～11,099瓶</a:t>
            </a:r>
            <a:endParaRPr lang="en-US" sz="700" dirty="0"/>
          </a:p>
        </p:txBody>
      </p:sp>
      <p:sp>
        <p:nvSpPr>
          <p:cNvPr id="62" name="Shape 52"/>
          <p:cNvSpPr/>
          <p:nvPr/>
        </p:nvSpPr>
        <p:spPr>
          <a:xfrm>
            <a:off x="60807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888888">
              <a:alpha val="15000"/>
            </a:srgbClr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63" name="Text 53"/>
          <p:cNvSpPr/>
          <p:nvPr/>
        </p:nvSpPr>
        <p:spPr>
          <a:xfrm>
            <a:off x="60807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88888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D+2</a:t>
            </a:r>
            <a:endParaRPr lang="en-US" sz="850" dirty="0"/>
          </a:p>
        </p:txBody>
      </p:sp>
      <p:sp>
        <p:nvSpPr>
          <p:cNvPr id="64" name="Text 54"/>
          <p:cNvSpPr/>
          <p:nvPr/>
        </p:nvSpPr>
        <p:spPr>
          <a:xfrm>
            <a:off x="66202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6,900～8,999瓶</a:t>
            </a:r>
            <a:endParaRPr lang="en-US" sz="700" dirty="0"/>
          </a:p>
        </p:txBody>
      </p:sp>
      <p:sp>
        <p:nvSpPr>
          <p:cNvPr id="65" name="Shape 55"/>
          <p:cNvSpPr/>
          <p:nvPr/>
        </p:nvSpPr>
        <p:spPr>
          <a:xfrm>
            <a:off x="74523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888888">
              <a:alpha val="15000"/>
            </a:srgbClr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66" name="Text 56"/>
          <p:cNvSpPr/>
          <p:nvPr/>
        </p:nvSpPr>
        <p:spPr>
          <a:xfrm>
            <a:off x="74523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88888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E+1</a:t>
            </a:r>
            <a:endParaRPr lang="en-US" sz="850" dirty="0"/>
          </a:p>
        </p:txBody>
      </p:sp>
      <p:sp>
        <p:nvSpPr>
          <p:cNvPr id="67" name="Text 57"/>
          <p:cNvSpPr/>
          <p:nvPr/>
        </p:nvSpPr>
        <p:spPr>
          <a:xfrm>
            <a:off x="79918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4,100～6,899瓶</a:t>
            </a:r>
            <a:endParaRPr lang="en-US" sz="700" dirty="0"/>
          </a:p>
        </p:txBody>
      </p:sp>
      <p:sp>
        <p:nvSpPr>
          <p:cNvPr id="68" name="Shape 58"/>
          <p:cNvSpPr/>
          <p:nvPr/>
        </p:nvSpPr>
        <p:spPr>
          <a:xfrm>
            <a:off x="88239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888888">
              <a:alpha val="15000"/>
            </a:srgbClr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69" name="Text 59"/>
          <p:cNvSpPr/>
          <p:nvPr/>
        </p:nvSpPr>
        <p:spPr>
          <a:xfrm>
            <a:off x="88239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88888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F+0</a:t>
            </a:r>
            <a:endParaRPr lang="en-US" sz="850" dirty="0"/>
          </a:p>
        </p:txBody>
      </p:sp>
      <p:sp>
        <p:nvSpPr>
          <p:cNvPr id="70" name="Text 60"/>
          <p:cNvSpPr/>
          <p:nvPr/>
        </p:nvSpPr>
        <p:spPr>
          <a:xfrm>
            <a:off x="93634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4,100瓶以下</a:t>
            </a:r>
            <a:endParaRPr lang="en-US" sz="700" dirty="0"/>
          </a:p>
        </p:txBody>
      </p:sp>
      <p:sp>
        <p:nvSpPr>
          <p:cNvPr id="71" name="Shape 61"/>
          <p:cNvSpPr/>
          <p:nvPr/>
        </p:nvSpPr>
        <p:spPr>
          <a:xfrm>
            <a:off x="10195560" y="5824728"/>
            <a:ext cx="502920" cy="219456"/>
          </a:xfrm>
          <a:prstGeom prst="roundRect">
            <a:avLst>
              <a:gd name="adj" fmla="val 50000"/>
            </a:avLst>
          </a:prstGeom>
          <a:solidFill>
            <a:srgbClr val="9C7A00">
              <a:alpha val="15000"/>
            </a:srgbClr>
          </a:solidFill>
          <a:ln w="9525">
            <a:solidFill>
              <a:srgbClr val="9C7A00"/>
            </a:solidFill>
            <a:prstDash val="solid"/>
          </a:ln>
        </p:spPr>
      </p:sp>
      <p:sp>
        <p:nvSpPr>
          <p:cNvPr id="72" name="Text 62"/>
          <p:cNvSpPr/>
          <p:nvPr/>
        </p:nvSpPr>
        <p:spPr>
          <a:xfrm>
            <a:off x="10195560" y="58247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C7A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ARK+8</a:t>
            </a:r>
            <a:endParaRPr lang="en-US" sz="850" dirty="0"/>
          </a:p>
        </p:txBody>
      </p:sp>
      <p:sp>
        <p:nvSpPr>
          <p:cNvPr id="73" name="Text 63"/>
          <p:cNvSpPr/>
          <p:nvPr/>
        </p:nvSpPr>
        <p:spPr>
          <a:xfrm>
            <a:off x="10735056" y="5824728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3台有效收瓶機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73152" cy="310896"/>
          </a:xfrm>
          <a:prstGeom prst="rect">
            <a:avLst/>
          </a:prstGeom>
          <a:solidFill>
            <a:srgbClr val="060E9F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128016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客訴趨勢洞察（MoM／QoQ）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326880" y="146304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060E9F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0" y="14630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第39週（09/21 ~ 09/27）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658368"/>
            <a:ext cx="27203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9050" dir="5400000">
              <a:srgbClr val="999999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658368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060E9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768096"/>
            <a:ext cx="2080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本月客訴總量（26年8月）</a:t>
            </a:r>
            <a:endParaRPr lang="en-US" sz="1100" dirty="0"/>
          </a:p>
        </p:txBody>
      </p:sp>
      <p:pic>
        <p:nvPicPr>
          <p:cNvPr id="9" name="Image 0" descr="D:\info\0507_Weekly-Report\Operations-Weekly-Report\automation\icons\headset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3764" y="777240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1024128"/>
            <a:ext cx="23545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513 </a:t>
            </a:r>
            <a:pPr indent="0" marL="0">
              <a:buNone/>
            </a:pPr>
            <a:r>
              <a:rPr lang="en-US" sz="125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件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548640" y="1389888"/>
            <a:ext cx="1805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較上月（678件）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189988" y="1371600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DFF3EA"/>
          </a:solidFill>
          <a:ln/>
        </p:spPr>
      </p:sp>
      <p:sp>
        <p:nvSpPr>
          <p:cNvPr id="13" name="Text 10"/>
          <p:cNvSpPr/>
          <p:nvPr/>
        </p:nvSpPr>
        <p:spPr>
          <a:xfrm>
            <a:off x="2189988" y="13716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▼24.3%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268980" y="658368"/>
            <a:ext cx="27203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9050" dir="5400000">
              <a:srgbClr val="999999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68980" y="658368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0076A9"/>
          </a:solidFill>
          <a:ln/>
        </p:spPr>
      </p:sp>
      <p:sp>
        <p:nvSpPr>
          <p:cNvPr id="16" name="Text 13"/>
          <p:cNvSpPr/>
          <p:nvPr/>
        </p:nvSpPr>
        <p:spPr>
          <a:xfrm>
            <a:off x="3451860" y="768096"/>
            <a:ext cx="2080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客訴密度指標（件/站）</a:t>
            </a:r>
            <a:endParaRPr lang="en-US" sz="1100" dirty="0"/>
          </a:p>
        </p:txBody>
      </p:sp>
      <p:pic>
        <p:nvPicPr>
          <p:cNvPr id="17" name="Image 1" descr="D:\info\0507_Weekly-Report\Operations-Weekly-Report\automation\icons\pin_dark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6984" y="777240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451860" y="1024128"/>
            <a:ext cx="23545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76A9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0.91 </a:t>
            </a:r>
            <a:pPr indent="0" marL="0">
              <a:buNone/>
            </a:pPr>
            <a:r>
              <a:rPr lang="en-US" sz="110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件/站</a:t>
            </a:r>
            <a:endParaRPr lang="en-US" sz="2500" dirty="0"/>
          </a:p>
        </p:txBody>
      </p:sp>
      <p:sp>
        <p:nvSpPr>
          <p:cNvPr id="19" name="Text 15"/>
          <p:cNvSpPr/>
          <p:nvPr/>
        </p:nvSpPr>
        <p:spPr>
          <a:xfrm>
            <a:off x="3451860" y="1389888"/>
            <a:ext cx="1805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每站平均客訴量，暫代萬人客訴率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5093208" y="1371600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DFF3EA"/>
          </a:solidFill>
          <a:ln/>
        </p:spPr>
      </p:sp>
      <p:sp>
        <p:nvSpPr>
          <p:cNvPr id="21" name="Text 17"/>
          <p:cNvSpPr/>
          <p:nvPr/>
        </p:nvSpPr>
        <p:spPr>
          <a:xfrm>
            <a:off x="5093208" y="13716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▼24.2%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6172200" y="658368"/>
            <a:ext cx="27203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9050" dir="5400000">
              <a:srgbClr val="999999">
                <a:alpha val="2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172200" y="658368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FF5000"/>
          </a:solidFill>
          <a:ln/>
        </p:spPr>
      </p:sp>
      <p:sp>
        <p:nvSpPr>
          <p:cNvPr id="24" name="Text 20"/>
          <p:cNvSpPr/>
          <p:nvPr/>
        </p:nvSpPr>
        <p:spPr>
          <a:xfrm>
            <a:off x="6355080" y="768096"/>
            <a:ext cx="2080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本季客訴總量（26年Q2）</a:t>
            </a:r>
            <a:endParaRPr lang="en-US" sz="1100" dirty="0"/>
          </a:p>
        </p:txBody>
      </p:sp>
      <p:pic>
        <p:nvPicPr>
          <p:cNvPr id="25" name="Image 2" descr="D:\info\0507_Weekly-Report\Operations-Weekly-Report\automation\icons\warn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0204" y="777240"/>
            <a:ext cx="219456" cy="21945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355080" y="1024128"/>
            <a:ext cx="23545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2078 </a:t>
            </a:r>
            <a:pPr indent="0" marL="0">
              <a:buNone/>
            </a:pPr>
            <a:r>
              <a:rPr lang="en-US" sz="125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件</a:t>
            </a:r>
            <a:endParaRPr lang="en-US" sz="2500" dirty="0"/>
          </a:p>
        </p:txBody>
      </p:sp>
      <p:sp>
        <p:nvSpPr>
          <p:cNvPr id="27" name="Text 22"/>
          <p:cNvSpPr/>
          <p:nvPr/>
        </p:nvSpPr>
        <p:spPr>
          <a:xfrm>
            <a:off x="6355080" y="1389888"/>
            <a:ext cx="1805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較上季（2125件）</a:t>
            </a:r>
            <a:endParaRPr lang="en-US" sz="850" dirty="0"/>
          </a:p>
        </p:txBody>
      </p:sp>
      <p:sp>
        <p:nvSpPr>
          <p:cNvPr id="28" name="Shape 23"/>
          <p:cNvSpPr/>
          <p:nvPr/>
        </p:nvSpPr>
        <p:spPr>
          <a:xfrm>
            <a:off x="7996428" y="1371600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DFF3EA"/>
          </a:solidFill>
          <a:ln/>
        </p:spPr>
      </p:sp>
      <p:sp>
        <p:nvSpPr>
          <p:cNvPr id="29" name="Text 24"/>
          <p:cNvSpPr/>
          <p:nvPr/>
        </p:nvSpPr>
        <p:spPr>
          <a:xfrm>
            <a:off x="7996428" y="13716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▼2.2%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9075420" y="658368"/>
            <a:ext cx="27203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9050" dir="5400000">
              <a:srgbClr val="999999">
                <a:alpha val="2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075420" y="658368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FFCE00"/>
          </a:solidFill>
          <a:ln/>
        </p:spPr>
      </p:sp>
      <p:sp>
        <p:nvSpPr>
          <p:cNvPr id="32" name="Text 27"/>
          <p:cNvSpPr/>
          <p:nvPr/>
        </p:nvSpPr>
        <p:spPr>
          <a:xfrm>
            <a:off x="9258300" y="768096"/>
            <a:ext cx="2080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機台問題佔比（26年Q2）</a:t>
            </a:r>
            <a:endParaRPr lang="en-US" sz="1100" dirty="0"/>
          </a:p>
        </p:txBody>
      </p:sp>
      <p:pic>
        <p:nvPicPr>
          <p:cNvPr id="33" name="Image 3" descr="D:\info\0507_Weekly-Report\Operations-Weekly-Report\automation\icons\recycle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3424" y="777240"/>
            <a:ext cx="219456" cy="219456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9258300" y="1024128"/>
            <a:ext cx="23545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9C7A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45.4</a:t>
            </a:r>
            <a:pPr indent="0" marL="0">
              <a:buNone/>
            </a:pPr>
            <a:r>
              <a:rPr lang="en-US" sz="1250" b="1" dirty="0">
                <a:solidFill>
                  <a:srgbClr val="9C7A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%</a:t>
            </a:r>
            <a:endParaRPr lang="en-US" sz="2500" dirty="0"/>
          </a:p>
        </p:txBody>
      </p:sp>
      <p:sp>
        <p:nvSpPr>
          <p:cNvPr id="35" name="Text 29"/>
          <p:cNvSpPr/>
          <p:nvPr/>
        </p:nvSpPr>
        <p:spPr>
          <a:xfrm>
            <a:off x="9258300" y="1389888"/>
            <a:ext cx="1805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較上季佔比變化</a:t>
            </a:r>
            <a:endParaRPr lang="en-US" sz="850" dirty="0"/>
          </a:p>
        </p:txBody>
      </p:sp>
      <p:sp>
        <p:nvSpPr>
          <p:cNvPr id="36" name="Shape 30"/>
          <p:cNvSpPr/>
          <p:nvPr/>
        </p:nvSpPr>
        <p:spPr>
          <a:xfrm>
            <a:off x="10899648" y="1371600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FFE9DC"/>
          </a:solidFill>
          <a:ln/>
        </p:spPr>
      </p:sp>
      <p:sp>
        <p:nvSpPr>
          <p:cNvPr id="37" name="Text 31"/>
          <p:cNvSpPr/>
          <p:nvPr/>
        </p:nvSpPr>
        <p:spPr>
          <a:xfrm>
            <a:off x="10899648" y="13716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▼6.8%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365760" y="2075688"/>
            <a:ext cx="64008" cy="256032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39" name="Text 33"/>
          <p:cNvSpPr/>
          <p:nvPr/>
        </p:nvSpPr>
        <p:spPr>
          <a:xfrm>
            <a:off x="502920" y="204825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總客訴量與客訴密度趨勢圖（MoM，近6個月）</a:t>
            </a:r>
            <a:endParaRPr lang="en-US" sz="1300" dirty="0"/>
          </a:p>
        </p:txBody>
      </p:sp>
      <p:graphicFrame>
        <p:nvGraphicFramePr>
          <p:cNvPr id="40" name="Chart 0" descr=""/>
          <p:cNvGraphicFramePr/>
          <p:nvPr/>
        </p:nvGraphicFramePr>
        <p:xfrm>
          <a:off x="365760" y="2423160"/>
          <a:ext cx="5212080" cy="19385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41" name="Shape 34"/>
          <p:cNvSpPr/>
          <p:nvPr/>
        </p:nvSpPr>
        <p:spPr>
          <a:xfrm>
            <a:off x="5852160" y="2075688"/>
            <a:ext cx="64008" cy="256032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42" name="Text 35"/>
          <p:cNvSpPr/>
          <p:nvPr/>
        </p:nvSpPr>
        <p:spPr>
          <a:xfrm>
            <a:off x="5989320" y="2048256"/>
            <a:ext cx="5806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客訴主題結構比變化（QoQ）</a:t>
            </a:r>
            <a:endParaRPr lang="en-US" sz="1300" dirty="0"/>
          </a:p>
        </p:txBody>
      </p:sp>
      <p:graphicFrame>
        <p:nvGraphicFramePr>
          <p:cNvPr id="43" name="Chart 1" descr=""/>
          <p:cNvGraphicFramePr/>
          <p:nvPr/>
        </p:nvGraphicFramePr>
        <p:xfrm>
          <a:off x="5852160" y="2423160"/>
          <a:ext cx="5943600" cy="19385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44" name="Shape 36"/>
          <p:cNvSpPr/>
          <p:nvPr/>
        </p:nvSpPr>
        <p:spPr>
          <a:xfrm>
            <a:off x="365760" y="4617720"/>
            <a:ext cx="64008" cy="256032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45" name="Text 37"/>
          <p:cNvSpPr/>
          <p:nvPr/>
        </p:nvSpPr>
        <p:spPr>
          <a:xfrm>
            <a:off x="502920" y="4590288"/>
            <a:ext cx="11292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客服觀點與改善行動建議</a:t>
            </a:r>
            <a:endParaRPr lang="en-US" sz="1300" dirty="0"/>
          </a:p>
        </p:txBody>
      </p:sp>
      <p:sp>
        <p:nvSpPr>
          <p:cNvPr id="46" name="Shape 38"/>
          <p:cNvSpPr/>
          <p:nvPr/>
        </p:nvSpPr>
        <p:spPr>
          <a:xfrm>
            <a:off x="365760" y="4946904"/>
            <a:ext cx="11430000" cy="566928"/>
          </a:xfrm>
          <a:prstGeom prst="roundRect">
            <a:avLst>
              <a:gd name="adj" fmla="val 9677"/>
            </a:avLst>
          </a:prstGeom>
          <a:solidFill>
            <a:srgbClr val="060E9F"/>
          </a:solidFill>
          <a:ln w="9525">
            <a:solidFill>
              <a:srgbClr val="060E9F"/>
            </a:solidFill>
            <a:prstDash val="solid"/>
          </a:ln>
        </p:spPr>
      </p:sp>
      <p:sp>
        <p:nvSpPr>
          <p:cNvPr id="47" name="Shape 39"/>
          <p:cNvSpPr/>
          <p:nvPr/>
        </p:nvSpPr>
        <p:spPr>
          <a:xfrm>
            <a:off x="365760" y="4946904"/>
            <a:ext cx="54864" cy="566928"/>
          </a:xfrm>
          <a:prstGeom prst="rect">
            <a:avLst/>
          </a:prstGeom>
          <a:solidFill>
            <a:srgbClr val="060E9F"/>
          </a:solidFill>
          <a:ln/>
        </p:spPr>
      </p:sp>
      <p:sp>
        <p:nvSpPr>
          <p:cNvPr id="48" name="Text 40"/>
          <p:cNvSpPr/>
          <p:nvPr/>
        </p:nvSpPr>
        <p:spPr>
          <a:xfrm>
            <a:off x="566928" y="50017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重點結論</a:t>
            </a:r>
            <a:endParaRPr lang="en-US" sz="1050" dirty="0"/>
          </a:p>
        </p:txBody>
      </p:sp>
      <p:sp>
        <p:nvSpPr>
          <p:cNvPr id="49" name="Text 41"/>
          <p:cNvSpPr/>
          <p:nvPr/>
        </p:nvSpPr>
        <p:spPr>
          <a:xfrm>
            <a:off x="2194560" y="500176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本月客訴量較上月下降 24.3%，本季較上季下降 2.2%，整體呈現改善趨勢。 本季變化最大：「APP帳號設定問題」上升 13.7 個百分點，建議優先關注。</a:t>
            </a:r>
            <a:endParaRPr lang="en-US" sz="950" dirty="0"/>
          </a:p>
        </p:txBody>
      </p:sp>
      <p:sp>
        <p:nvSpPr>
          <p:cNvPr id="50" name="Shape 42"/>
          <p:cNvSpPr/>
          <p:nvPr/>
        </p:nvSpPr>
        <p:spPr>
          <a:xfrm>
            <a:off x="365760" y="5632704"/>
            <a:ext cx="11430000" cy="530352"/>
          </a:xfrm>
          <a:prstGeom prst="roundRect">
            <a:avLst>
              <a:gd name="adj" fmla="val 10345"/>
            </a:avLst>
          </a:prstGeom>
          <a:solidFill>
            <a:srgbClr val="FFF4EF"/>
          </a:solidFill>
          <a:ln w="9525">
            <a:solidFill>
              <a:srgbClr val="FF5000"/>
            </a:solidFill>
            <a:prstDash val="solid"/>
          </a:ln>
        </p:spPr>
      </p:sp>
      <p:sp>
        <p:nvSpPr>
          <p:cNvPr id="51" name="Shape 43"/>
          <p:cNvSpPr/>
          <p:nvPr/>
        </p:nvSpPr>
        <p:spPr>
          <a:xfrm>
            <a:off x="365760" y="5632704"/>
            <a:ext cx="54864" cy="530352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52" name="Text 44"/>
          <p:cNvSpPr/>
          <p:nvPr/>
        </p:nvSpPr>
        <p:spPr>
          <a:xfrm>
            <a:off x="566928" y="568756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本季結構變化重點</a:t>
            </a:r>
            <a:endParaRPr lang="en-US" sz="1050" dirty="0"/>
          </a:p>
        </p:txBody>
      </p:sp>
      <p:sp>
        <p:nvSpPr>
          <p:cNvPr id="53" name="Text 45"/>
          <p:cNvSpPr/>
          <p:nvPr/>
        </p:nvSpPr>
        <p:spPr>
          <a:xfrm>
            <a:off x="2194560" y="5687568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本季「APP帳號設定問題」佔比較上季上升 13.7 個百分點（8.0% → 21.7%），為本季結構變化最大的問題類型，建議追蹤後續走勢並評估對應改善措施。（資料累積中，須滿一年以上同季比較才能判斷是否為季節性規律）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2026-09-29T09:48:40Z</dcterms:created>
  <dcterms:modified xsi:type="dcterms:W3CDTF">2026-09-29T09:48:40Z</dcterms:modified>
</cp:coreProperties>
</file>