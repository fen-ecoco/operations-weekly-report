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notesSlides/notesSlide2.xml" ContentType="application/vnd.openxmlformats-officedocument.presentationml.notesSlide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3" d="100"/>
          <a:sy n="143" d="100"/>
        </p:scale>
        <p:origin x="10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佔比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60E9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45BB-4782-B5B9-36C3EC5EDEDF}"/>
              </c:ext>
            </c:extLst>
          </c:dPt>
          <c:dPt>
            <c:idx val="1"/>
            <c:bubble3D val="0"/>
            <c:spPr>
              <a:solidFill>
                <a:srgbClr val="FF50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5BB-4782-B5B9-36C3EC5EDEDF}"/>
              </c:ext>
            </c:extLst>
          </c:dPt>
          <c:dPt>
            <c:idx val="2"/>
            <c:bubble3D val="0"/>
            <c:spPr>
              <a:solidFill>
                <a:srgbClr val="0076A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45BB-4782-B5B9-36C3EC5EDEDF}"/>
              </c:ext>
            </c:extLst>
          </c:dPt>
          <c:dPt>
            <c:idx val="3"/>
            <c:bubble3D val="0"/>
            <c:spPr>
              <a:solidFill>
                <a:srgbClr val="FFCE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45BB-4782-B5B9-36C3EC5EDEDF}"/>
              </c:ext>
            </c:extLst>
          </c:dPt>
          <c:dPt>
            <c:idx val="4"/>
            <c:bubble3D val="0"/>
            <c:spPr>
              <a:solidFill>
                <a:srgbClr val="8EB8C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45BB-4782-B5B9-36C3EC5EDEDF}"/>
              </c:ext>
            </c:extLst>
          </c:dPt>
          <c:dPt>
            <c:idx val="5"/>
            <c:bubble3D val="0"/>
            <c:spPr>
              <a:solidFill>
                <a:srgbClr val="FAE0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45BB-4782-B5B9-36C3EC5EDEDF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zh-TW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45BB-4782-B5B9-36C3EC5EDEDF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zh-TW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45BB-4782-B5B9-36C3EC5EDEDF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zh-TW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45BB-4782-B5B9-36C3EC5EDEDF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zh-TW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45BB-4782-B5B9-36C3EC5EDEDF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zh-TW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45BB-4782-B5B9-36C3EC5EDEDF}"/>
                </c:ext>
              </c:extLst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zh-TW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45BB-4782-B5B9-36C3EC5EDEDF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zh-TW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Sheet1!$A$2:$A$7</c:f>
              <c:strCache>
                <c:ptCount val="6"/>
                <c:pt idx="0">
                  <c:v>APP帳號設定問題</c:v>
                </c:pt>
                <c:pt idx="1">
                  <c:v>機台問題</c:v>
                </c:pt>
                <c:pt idx="2">
                  <c:v>回收點數問題</c:v>
                </c:pt>
                <c:pt idx="3">
                  <c:v>顧客關係</c:v>
                </c:pt>
                <c:pt idx="4">
                  <c:v>優惠券問題</c:v>
                </c:pt>
                <c:pt idx="5">
                  <c:v>APP使用問題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</c:v>
                </c:pt>
                <c:pt idx="1">
                  <c:v>106</c:v>
                </c:pt>
                <c:pt idx="2">
                  <c:v>13</c:v>
                </c:pt>
                <c:pt idx="3">
                  <c:v>19</c:v>
                </c:pt>
                <c:pt idx="4">
                  <c:v>6</c:v>
                </c:pt>
                <c:pt idx="5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45BB-4782-B5B9-36C3EC5EDED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機台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F50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D260-42CC-A77A-9B0775D76971}"/>
              </c:ext>
            </c:extLst>
          </c:dPt>
          <c:dPt>
            <c:idx val="1"/>
            <c:bubble3D val="0"/>
            <c:spPr>
              <a:solidFill>
                <a:srgbClr val="060E9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260-42CC-A77A-9B0775D76971}"/>
              </c:ext>
            </c:extLst>
          </c:dPt>
          <c:dPt>
            <c:idx val="2"/>
            <c:bubble3D val="0"/>
            <c:spPr>
              <a:solidFill>
                <a:srgbClr val="0076A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D260-42CC-A77A-9B0775D76971}"/>
              </c:ext>
            </c:extLst>
          </c:dPt>
          <c:dPt>
            <c:idx val="3"/>
            <c:bubble3D val="0"/>
            <c:spPr>
              <a:solidFill>
                <a:srgbClr val="FFCE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D260-42CC-A77A-9B0775D76971}"/>
              </c:ext>
            </c:extLst>
          </c:dPt>
          <c:dPt>
            <c:idx val="4"/>
            <c:bubble3D val="0"/>
            <c:spPr>
              <a:solidFill>
                <a:srgbClr val="8EB8C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D260-42CC-A77A-9B0775D76971}"/>
              </c:ext>
            </c:extLst>
          </c:dPt>
          <c:dPt>
            <c:idx val="5"/>
            <c:bubble3D val="0"/>
            <c:spPr>
              <a:solidFill>
                <a:srgbClr val="B8BEC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D260-42CC-A77A-9B0775D76971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8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zh-TW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D260-42CC-A77A-9B0775D76971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8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zh-TW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D260-42CC-A77A-9B0775D76971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8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zh-TW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D260-42CC-A77A-9B0775D76971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8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zh-TW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D260-42CC-A77A-9B0775D76971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8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zh-TW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D260-42CC-A77A-9B0775D76971}"/>
                </c:ext>
              </c:extLst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8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zh-TW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D260-42CC-A77A-9B0775D76971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zh-TW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Sheet1!$A$2:$A$7</c:f>
              <c:strCache>
                <c:ptCount val="6"/>
                <c:pt idx="0">
                  <c:v>回收箱滿艙</c:v>
                </c:pt>
                <c:pt idx="1">
                  <c:v>寶特瓶滿艙</c:v>
                </c:pt>
                <c:pt idx="2">
                  <c:v>黑色分選門異常或卡瓶堵塞</c:v>
                </c:pt>
                <c:pt idx="3">
                  <c:v>投入物卡住_瓶罐/電池</c:v>
                </c:pt>
                <c:pt idx="4">
                  <c:v>機台當機/無回應</c:v>
                </c:pt>
                <c:pt idx="5">
                  <c:v>其他機台問題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26</c:v>
                </c:pt>
                <c:pt idx="1">
                  <c:v>24</c:v>
                </c:pt>
                <c:pt idx="2">
                  <c:v>14</c:v>
                </c:pt>
                <c:pt idx="3">
                  <c:v>7</c:v>
                </c:pt>
                <c:pt idx="4">
                  <c:v>6</c:v>
                </c:pt>
                <c:pt idx="5">
                  <c:v>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D260-42CC-A77A-9B0775D7697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42080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4592" y="54864"/>
            <a:ext cx="8778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客服課　08/03 ~ 08/09　客訴問題分析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164592" y="329184"/>
            <a:ext cx="45720" cy="201168"/>
          </a:xfrm>
          <a:prstGeom prst="rect">
            <a:avLst/>
          </a:prstGeom>
          <a:solidFill>
            <a:srgbClr val="FF50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246888" y="33832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0E9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客訴趨勢分析</a:t>
            </a:r>
            <a:endParaRPr lang="en-US" sz="10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4197854"/>
              </p:ext>
            </p:extLst>
          </p:nvPr>
        </p:nvGraphicFramePr>
        <p:xfrm>
          <a:off x="276932" y="556643"/>
          <a:ext cx="8705089" cy="1793365"/>
        </p:xfrm>
        <a:graphic>
          <a:graphicData uri="http://schemas.openxmlformats.org/drawingml/2006/table">
            <a:tbl>
              <a:tblPr/>
              <a:tblGrid>
                <a:gridCol w="10178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47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6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63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663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530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530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530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1428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5867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週次/期間</a:t>
                      </a:r>
                      <a:endParaRPr lang="en-US" sz="85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收瓶機/方舟</a:t>
                      </a:r>
                      <a:endParaRPr lang="en-US" sz="8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二代電池機</a:t>
                      </a:r>
                      <a:endParaRPr lang="en-US" sz="8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註冊帳號</a:t>
                      </a:r>
                      <a:endParaRPr lang="en-US" sz="8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回收點數</a:t>
                      </a:r>
                      <a:endParaRPr lang="en-US" sz="8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優惠券</a:t>
                      </a:r>
                      <a:endParaRPr lang="en-US" sz="8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APP使用</a:t>
                      </a:r>
                      <a:endParaRPr lang="en-US" sz="8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顧客關係</a:t>
                      </a:r>
                      <a:endParaRPr lang="en-US" sz="8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加總</a:t>
                      </a:r>
                      <a:endParaRPr lang="en-US" sz="8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67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555555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29週</a:t>
                      </a:r>
                      <a:endParaRPr lang="en-US" sz="8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555555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07/13-07/19</a:t>
                      </a:r>
                      <a:endParaRPr lang="en-US" sz="8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97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5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7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11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15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18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138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867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555555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30週</a:t>
                      </a:r>
                      <a:endParaRPr lang="en-US" sz="8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555555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07/20-07/26</a:t>
                      </a:r>
                      <a:endParaRPr lang="en-US" sz="8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132</a:t>
                      </a:r>
                      <a:r>
                        <a:rPr lang="en-US" sz="650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▲35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17</a:t>
                      </a:r>
                      <a:r>
                        <a:rPr lang="en-US" sz="650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▲12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6</a:t>
                      </a:r>
                      <a:r>
                        <a:rPr lang="en-US" sz="650" dirty="0">
                          <a:solidFill>
                            <a:srgbClr val="0076A9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▼1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20</a:t>
                      </a:r>
                      <a:r>
                        <a:rPr lang="en-US" sz="650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▲9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12</a:t>
                      </a:r>
                      <a:r>
                        <a:rPr lang="en-US" sz="650" dirty="0">
                          <a:solidFill>
                            <a:srgbClr val="0076A9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▼3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4</a:t>
                      </a:r>
                      <a:r>
                        <a:rPr lang="en-US" sz="650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▲3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26</a:t>
                      </a:r>
                      <a:r>
                        <a:rPr lang="en-US" sz="650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▲8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186</a:t>
                      </a:r>
                      <a:r>
                        <a:rPr lang="en-US" sz="650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▲48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867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555555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31週</a:t>
                      </a:r>
                      <a:endParaRPr lang="en-US" sz="8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555555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07/27-08/02</a:t>
                      </a:r>
                      <a:endParaRPr lang="en-US" sz="8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116</a:t>
                      </a:r>
                      <a:r>
                        <a:rPr lang="en-US" sz="650" dirty="0">
                          <a:solidFill>
                            <a:srgbClr val="0076A9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▼16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12</a:t>
                      </a:r>
                      <a:r>
                        <a:rPr lang="en-US" sz="650" dirty="0">
                          <a:solidFill>
                            <a:srgbClr val="0076A9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▼5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3</a:t>
                      </a:r>
                      <a:r>
                        <a:rPr lang="en-US" sz="650" dirty="0">
                          <a:solidFill>
                            <a:srgbClr val="0076A9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▼3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11</a:t>
                      </a:r>
                      <a:r>
                        <a:rPr lang="en-US" sz="650" dirty="0">
                          <a:solidFill>
                            <a:srgbClr val="0076A9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▼9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11</a:t>
                      </a:r>
                      <a:r>
                        <a:rPr lang="en-US" sz="650" dirty="0">
                          <a:solidFill>
                            <a:srgbClr val="0076A9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▼1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8</a:t>
                      </a:r>
                      <a:r>
                        <a:rPr lang="en-US" sz="650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▲4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20</a:t>
                      </a:r>
                      <a:r>
                        <a:rPr lang="en-US" sz="650" dirty="0">
                          <a:solidFill>
                            <a:srgbClr val="0076A9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▼6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159</a:t>
                      </a:r>
                      <a:r>
                        <a:rPr lang="en-US" sz="650" dirty="0">
                          <a:solidFill>
                            <a:srgbClr val="0076A9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▼27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867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32週</a:t>
                      </a:r>
                      <a:endParaRPr lang="en-US" sz="8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08/03-08/09</a:t>
                      </a:r>
                      <a:endParaRPr lang="en-US" sz="8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101</a:t>
                      </a:r>
                      <a:r>
                        <a:rPr lang="en-US" sz="650" dirty="0">
                          <a:solidFill>
                            <a:srgbClr val="0076A9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▼15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17</a:t>
                      </a:r>
                      <a:r>
                        <a:rPr lang="en-US" sz="650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▲5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3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13</a:t>
                      </a:r>
                      <a:r>
                        <a:rPr lang="en-US" sz="650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▲2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6</a:t>
                      </a:r>
                      <a:r>
                        <a:rPr lang="en-US" sz="650" dirty="0">
                          <a:solidFill>
                            <a:srgbClr val="0076A9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▼5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10</a:t>
                      </a:r>
                      <a:r>
                        <a:rPr lang="en-US" sz="650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▲2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19</a:t>
                      </a:r>
                      <a:r>
                        <a:rPr lang="en-US" sz="650" dirty="0">
                          <a:solidFill>
                            <a:srgbClr val="0076A9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▼1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157</a:t>
                      </a:r>
                      <a:r>
                        <a:rPr lang="en-US" sz="650" dirty="0">
                          <a:solidFill>
                            <a:srgbClr val="0076A9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▼2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164592" y="2404872"/>
            <a:ext cx="45720" cy="201168"/>
          </a:xfrm>
          <a:prstGeom prst="rect">
            <a:avLst/>
          </a:prstGeom>
          <a:solidFill>
            <a:srgbClr val="FF50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Text 4"/>
          <p:cNvSpPr/>
          <p:nvPr/>
        </p:nvSpPr>
        <p:spPr>
          <a:xfrm>
            <a:off x="246888" y="2414016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50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當週客訴佔比 + 主分類佔比（08/03 ~ 08/09）</a:t>
            </a:r>
            <a:endParaRPr lang="en-US" sz="105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64008" y="2642616"/>
          <a:ext cx="3529584" cy="234086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Shape 5"/>
          <p:cNvSpPr/>
          <p:nvPr/>
        </p:nvSpPr>
        <p:spPr>
          <a:xfrm>
            <a:off x="3703320" y="2706624"/>
            <a:ext cx="182880" cy="182880"/>
          </a:xfrm>
          <a:prstGeom prst="rect">
            <a:avLst/>
          </a:prstGeom>
          <a:solidFill>
            <a:srgbClr val="060E9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Text 6"/>
          <p:cNvSpPr/>
          <p:nvPr/>
        </p:nvSpPr>
        <p:spPr>
          <a:xfrm>
            <a:off x="3941064" y="2670048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APP帳號設定問題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3941064" y="2862072"/>
            <a:ext cx="1965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3件　1.9%</a:t>
            </a:r>
            <a:endParaRPr lang="en-US" sz="800" dirty="0"/>
          </a:p>
        </p:txBody>
      </p:sp>
      <p:sp>
        <p:nvSpPr>
          <p:cNvPr id="12" name="Shape 8"/>
          <p:cNvSpPr/>
          <p:nvPr/>
        </p:nvSpPr>
        <p:spPr>
          <a:xfrm>
            <a:off x="3703320" y="3095244"/>
            <a:ext cx="182880" cy="182880"/>
          </a:xfrm>
          <a:prstGeom prst="rect">
            <a:avLst/>
          </a:prstGeom>
          <a:solidFill>
            <a:srgbClr val="FF50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Text 9"/>
          <p:cNvSpPr/>
          <p:nvPr/>
        </p:nvSpPr>
        <p:spPr>
          <a:xfrm>
            <a:off x="3941064" y="3058668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機台問題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3941064" y="3250692"/>
            <a:ext cx="1965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106件　67.5%</a:t>
            </a:r>
            <a:endParaRPr lang="en-US" sz="800" dirty="0"/>
          </a:p>
        </p:txBody>
      </p:sp>
      <p:sp>
        <p:nvSpPr>
          <p:cNvPr id="15" name="Shape 11"/>
          <p:cNvSpPr/>
          <p:nvPr/>
        </p:nvSpPr>
        <p:spPr>
          <a:xfrm>
            <a:off x="3703320" y="3483864"/>
            <a:ext cx="182880" cy="182880"/>
          </a:xfrm>
          <a:prstGeom prst="rect">
            <a:avLst/>
          </a:prstGeom>
          <a:solidFill>
            <a:srgbClr val="0076A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2"/>
          <p:cNvSpPr/>
          <p:nvPr/>
        </p:nvSpPr>
        <p:spPr>
          <a:xfrm>
            <a:off x="3941064" y="3447288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回收點數問題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3941064" y="3639312"/>
            <a:ext cx="1965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13件　8.3%</a:t>
            </a:r>
            <a:endParaRPr lang="en-US" sz="800" dirty="0"/>
          </a:p>
        </p:txBody>
      </p:sp>
      <p:sp>
        <p:nvSpPr>
          <p:cNvPr id="18" name="Shape 14"/>
          <p:cNvSpPr/>
          <p:nvPr/>
        </p:nvSpPr>
        <p:spPr>
          <a:xfrm>
            <a:off x="3703320" y="3872484"/>
            <a:ext cx="182880" cy="182880"/>
          </a:xfrm>
          <a:prstGeom prst="rect">
            <a:avLst/>
          </a:prstGeom>
          <a:solidFill>
            <a:srgbClr val="FFCE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5"/>
          <p:cNvSpPr/>
          <p:nvPr/>
        </p:nvSpPr>
        <p:spPr>
          <a:xfrm>
            <a:off x="3941064" y="3835908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顧客關係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3941064" y="4027932"/>
            <a:ext cx="1965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19件　12.1%</a:t>
            </a:r>
            <a:endParaRPr lang="en-US" sz="800" dirty="0"/>
          </a:p>
        </p:txBody>
      </p:sp>
      <p:sp>
        <p:nvSpPr>
          <p:cNvPr id="21" name="Shape 17"/>
          <p:cNvSpPr/>
          <p:nvPr/>
        </p:nvSpPr>
        <p:spPr>
          <a:xfrm>
            <a:off x="3703320" y="4261104"/>
            <a:ext cx="182880" cy="182880"/>
          </a:xfrm>
          <a:prstGeom prst="rect">
            <a:avLst/>
          </a:prstGeom>
          <a:solidFill>
            <a:srgbClr val="8EB8C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2" name="Text 18"/>
          <p:cNvSpPr/>
          <p:nvPr/>
        </p:nvSpPr>
        <p:spPr>
          <a:xfrm>
            <a:off x="3941064" y="4224528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優惠券問題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3941064" y="4416552"/>
            <a:ext cx="1965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6件　3.8%</a:t>
            </a:r>
            <a:endParaRPr lang="en-US" sz="800" dirty="0"/>
          </a:p>
        </p:txBody>
      </p:sp>
      <p:sp>
        <p:nvSpPr>
          <p:cNvPr id="24" name="Shape 20"/>
          <p:cNvSpPr/>
          <p:nvPr/>
        </p:nvSpPr>
        <p:spPr>
          <a:xfrm>
            <a:off x="3703320" y="4649724"/>
            <a:ext cx="182880" cy="182880"/>
          </a:xfrm>
          <a:prstGeom prst="rect">
            <a:avLst/>
          </a:prstGeom>
          <a:solidFill>
            <a:srgbClr val="FAE0B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5" name="Text 21"/>
          <p:cNvSpPr/>
          <p:nvPr/>
        </p:nvSpPr>
        <p:spPr>
          <a:xfrm>
            <a:off x="3941064" y="4613148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APP使用問題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3941064" y="4805172"/>
            <a:ext cx="1965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10件　6.4%</a:t>
            </a:r>
            <a:endParaRPr lang="en-US" sz="800" dirty="0"/>
          </a:p>
        </p:txBody>
      </p:sp>
      <p:sp>
        <p:nvSpPr>
          <p:cNvPr id="27" name="Shape 23"/>
          <p:cNvSpPr/>
          <p:nvPr/>
        </p:nvSpPr>
        <p:spPr>
          <a:xfrm>
            <a:off x="5788152" y="2642616"/>
            <a:ext cx="3264408" cy="800100"/>
          </a:xfrm>
          <a:prstGeom prst="rect">
            <a:avLst/>
          </a:prstGeom>
          <a:solidFill>
            <a:srgbClr val="FFF4EF"/>
          </a:solidFill>
          <a:ln w="12700">
            <a:solidFill>
              <a:srgbClr val="E0E6F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" name="Shape 24"/>
          <p:cNvSpPr/>
          <p:nvPr/>
        </p:nvSpPr>
        <p:spPr>
          <a:xfrm>
            <a:off x="5788152" y="2642616"/>
            <a:ext cx="45720" cy="800100"/>
          </a:xfrm>
          <a:prstGeom prst="rect">
            <a:avLst/>
          </a:prstGeom>
          <a:solidFill>
            <a:srgbClr val="FF50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9" name="Text 25"/>
          <p:cNvSpPr/>
          <p:nvPr/>
        </p:nvSpPr>
        <p:spPr>
          <a:xfrm>
            <a:off x="5879592" y="2697480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50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6089904" y="269748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點數未入帳號</a:t>
            </a:r>
            <a:endParaRPr lang="en-US" sz="1000" dirty="0"/>
          </a:p>
        </p:txBody>
      </p:sp>
      <p:sp>
        <p:nvSpPr>
          <p:cNvPr id="31" name="Text 27"/>
          <p:cNvSpPr/>
          <p:nvPr/>
        </p:nvSpPr>
        <p:spPr>
          <a:xfrm>
            <a:off x="6089904" y="2916936"/>
            <a:ext cx="22128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50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13件・8.3%</a:t>
            </a:r>
            <a:endParaRPr lang="en-US" sz="1800" dirty="0"/>
          </a:p>
        </p:txBody>
      </p:sp>
      <p:sp>
        <p:nvSpPr>
          <p:cNvPr id="32" name="Text 28"/>
          <p:cNvSpPr/>
          <p:nvPr/>
        </p:nvSpPr>
        <p:spPr>
          <a:xfrm>
            <a:off x="8348472" y="2715768"/>
            <a:ext cx="66751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600" dirty="0"/>
          </a:p>
        </p:txBody>
      </p:sp>
      <p:sp>
        <p:nvSpPr>
          <p:cNvPr id="33" name="Shape 29"/>
          <p:cNvSpPr/>
          <p:nvPr/>
        </p:nvSpPr>
        <p:spPr>
          <a:xfrm>
            <a:off x="5833872" y="3387852"/>
            <a:ext cx="3218688" cy="45720"/>
          </a:xfrm>
          <a:prstGeom prst="rect">
            <a:avLst/>
          </a:prstGeom>
          <a:solidFill>
            <a:srgbClr val="EBEBE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4" name="Shape 30"/>
          <p:cNvSpPr/>
          <p:nvPr/>
        </p:nvSpPr>
        <p:spPr>
          <a:xfrm>
            <a:off x="5833872" y="3387852"/>
            <a:ext cx="267151" cy="45720"/>
          </a:xfrm>
          <a:prstGeom prst="rect">
            <a:avLst/>
          </a:prstGeom>
          <a:solidFill>
            <a:srgbClr val="FF50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5" name="Shape 31"/>
          <p:cNvSpPr/>
          <p:nvPr/>
        </p:nvSpPr>
        <p:spPr>
          <a:xfrm>
            <a:off x="5788152" y="3465576"/>
            <a:ext cx="3264408" cy="800100"/>
          </a:xfrm>
          <a:prstGeom prst="rect">
            <a:avLst/>
          </a:prstGeom>
          <a:solidFill>
            <a:srgbClr val="EEF6FB"/>
          </a:solidFill>
          <a:ln w="12700">
            <a:solidFill>
              <a:srgbClr val="E0E6F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6" name="Shape 32"/>
          <p:cNvSpPr/>
          <p:nvPr/>
        </p:nvSpPr>
        <p:spPr>
          <a:xfrm>
            <a:off x="5788152" y="3465576"/>
            <a:ext cx="45720" cy="800100"/>
          </a:xfrm>
          <a:prstGeom prst="rect">
            <a:avLst/>
          </a:prstGeom>
          <a:solidFill>
            <a:srgbClr val="0076A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7" name="Text 33"/>
          <p:cNvSpPr/>
          <p:nvPr/>
        </p:nvSpPr>
        <p:spPr>
          <a:xfrm>
            <a:off x="5879592" y="3520440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76A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</a:t>
            </a:r>
            <a:endParaRPr lang="en-US" sz="900" dirty="0"/>
          </a:p>
        </p:txBody>
      </p:sp>
      <p:sp>
        <p:nvSpPr>
          <p:cNvPr id="38" name="Text 34"/>
          <p:cNvSpPr/>
          <p:nvPr/>
        </p:nvSpPr>
        <p:spPr>
          <a:xfrm>
            <a:off x="6089904" y="352044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許願新增站點/設站建議</a:t>
            </a:r>
            <a:endParaRPr lang="en-US" sz="1000" dirty="0"/>
          </a:p>
        </p:txBody>
      </p:sp>
      <p:sp>
        <p:nvSpPr>
          <p:cNvPr id="39" name="Text 35"/>
          <p:cNvSpPr/>
          <p:nvPr/>
        </p:nvSpPr>
        <p:spPr>
          <a:xfrm>
            <a:off x="6089904" y="3739896"/>
            <a:ext cx="22128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76A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8件・5.1%</a:t>
            </a:r>
            <a:endParaRPr lang="en-US" sz="1800" dirty="0"/>
          </a:p>
        </p:txBody>
      </p:sp>
      <p:sp>
        <p:nvSpPr>
          <p:cNvPr id="40" name="Text 36"/>
          <p:cNvSpPr/>
          <p:nvPr/>
        </p:nvSpPr>
        <p:spPr>
          <a:xfrm>
            <a:off x="8348472" y="3538728"/>
            <a:ext cx="66751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600" dirty="0"/>
          </a:p>
        </p:txBody>
      </p:sp>
      <p:sp>
        <p:nvSpPr>
          <p:cNvPr id="41" name="Shape 37"/>
          <p:cNvSpPr/>
          <p:nvPr/>
        </p:nvSpPr>
        <p:spPr>
          <a:xfrm>
            <a:off x="5833872" y="4210812"/>
            <a:ext cx="3218688" cy="45720"/>
          </a:xfrm>
          <a:prstGeom prst="rect">
            <a:avLst/>
          </a:prstGeom>
          <a:solidFill>
            <a:srgbClr val="EBEBE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2" name="Shape 38"/>
          <p:cNvSpPr/>
          <p:nvPr/>
        </p:nvSpPr>
        <p:spPr>
          <a:xfrm>
            <a:off x="5833872" y="4210812"/>
            <a:ext cx="164153" cy="45720"/>
          </a:xfrm>
          <a:prstGeom prst="rect">
            <a:avLst/>
          </a:prstGeom>
          <a:solidFill>
            <a:srgbClr val="0076A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3" name="Shape 39"/>
          <p:cNvSpPr/>
          <p:nvPr/>
        </p:nvSpPr>
        <p:spPr>
          <a:xfrm>
            <a:off x="5788152" y="4288536"/>
            <a:ext cx="3264408" cy="800100"/>
          </a:xfrm>
          <a:prstGeom prst="rect">
            <a:avLst/>
          </a:prstGeom>
          <a:solidFill>
            <a:srgbClr val="F5F7FF"/>
          </a:solidFill>
          <a:ln w="12700">
            <a:solidFill>
              <a:srgbClr val="E0E6F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4" name="Shape 40"/>
          <p:cNvSpPr/>
          <p:nvPr/>
        </p:nvSpPr>
        <p:spPr>
          <a:xfrm>
            <a:off x="5788152" y="4288536"/>
            <a:ext cx="45720" cy="800100"/>
          </a:xfrm>
          <a:prstGeom prst="rect">
            <a:avLst/>
          </a:prstGeom>
          <a:solidFill>
            <a:srgbClr val="060E9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5" name="Text 41"/>
          <p:cNvSpPr/>
          <p:nvPr/>
        </p:nvSpPr>
        <p:spPr>
          <a:xfrm>
            <a:off x="5879592" y="4343400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60E9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3</a:t>
            </a:r>
            <a:endParaRPr lang="en-US" sz="900" dirty="0"/>
          </a:p>
        </p:txBody>
      </p:sp>
      <p:sp>
        <p:nvSpPr>
          <p:cNvPr id="46" name="Text 42"/>
          <p:cNvSpPr/>
          <p:nvPr/>
        </p:nvSpPr>
        <p:spPr>
          <a:xfrm>
            <a:off x="6089904" y="434340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其他建議</a:t>
            </a:r>
            <a:endParaRPr lang="en-US" sz="1000" dirty="0"/>
          </a:p>
        </p:txBody>
      </p:sp>
      <p:sp>
        <p:nvSpPr>
          <p:cNvPr id="47" name="Text 43"/>
          <p:cNvSpPr/>
          <p:nvPr/>
        </p:nvSpPr>
        <p:spPr>
          <a:xfrm>
            <a:off x="6089904" y="4562856"/>
            <a:ext cx="22128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0E9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6件・3.8%</a:t>
            </a:r>
            <a:endParaRPr lang="en-US" sz="1800" dirty="0"/>
          </a:p>
        </p:txBody>
      </p:sp>
      <p:sp>
        <p:nvSpPr>
          <p:cNvPr id="48" name="Text 44"/>
          <p:cNvSpPr/>
          <p:nvPr/>
        </p:nvSpPr>
        <p:spPr>
          <a:xfrm>
            <a:off x="8348472" y="4361688"/>
            <a:ext cx="66751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600" dirty="0"/>
          </a:p>
        </p:txBody>
      </p:sp>
      <p:sp>
        <p:nvSpPr>
          <p:cNvPr id="49" name="Shape 45"/>
          <p:cNvSpPr/>
          <p:nvPr/>
        </p:nvSpPr>
        <p:spPr>
          <a:xfrm>
            <a:off x="5833872" y="5033772"/>
            <a:ext cx="3218688" cy="45720"/>
          </a:xfrm>
          <a:prstGeom prst="rect">
            <a:avLst/>
          </a:prstGeom>
          <a:solidFill>
            <a:srgbClr val="EBEBE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0" name="Shape 46"/>
          <p:cNvSpPr/>
          <p:nvPr/>
        </p:nvSpPr>
        <p:spPr>
          <a:xfrm>
            <a:off x="5833872" y="5033772"/>
            <a:ext cx="122310" cy="45720"/>
          </a:xfrm>
          <a:prstGeom prst="rect">
            <a:avLst/>
          </a:prstGeom>
          <a:solidFill>
            <a:srgbClr val="060E9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2" name="文字方塊 51">
            <a:extLst>
              <a:ext uri="{FF2B5EF4-FFF2-40B4-BE49-F238E27FC236}">
                <a16:creationId xmlns:a16="http://schemas.microsoft.com/office/drawing/2014/main" id="{BD8532DF-6E41-5DD9-4D6E-3B70E6FD4626}"/>
              </a:ext>
            </a:extLst>
          </p:cNvPr>
          <p:cNvSpPr txBox="1"/>
          <p:nvPr/>
        </p:nvSpPr>
        <p:spPr>
          <a:xfrm>
            <a:off x="7543800" y="2944701"/>
            <a:ext cx="16002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zh-TW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TC" pitchFamily="34" charset="0"/>
                <a:ea typeface="Noto Sans TC" pitchFamily="34" charset="-122"/>
              </a:rPr>
              <a:t>收瓶機*</a:t>
            </a:r>
            <a:r>
              <a:rPr lang="en-US" altLang="zh-TW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TC" pitchFamily="34" charset="0"/>
                <a:ea typeface="Noto Sans TC" pitchFamily="34" charset="-122"/>
              </a:rPr>
              <a:t>5 &amp; </a:t>
            </a:r>
            <a:r>
              <a:rPr lang="zh-TW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TC" pitchFamily="34" charset="0"/>
                <a:ea typeface="Noto Sans TC" pitchFamily="34" charset="-122"/>
              </a:rPr>
              <a:t>電池機*</a:t>
            </a:r>
            <a:r>
              <a:rPr lang="en-US" altLang="zh-TW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TC" pitchFamily="34" charset="0"/>
                <a:ea typeface="Noto Sans TC" pitchFamily="34" charset="-122"/>
              </a:rPr>
              <a:t>6</a:t>
            </a:r>
            <a:endParaRPr lang="en-US" altLang="zh-TW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4592" y="54864"/>
            <a:ext cx="8778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客服課　08/03 ~ 08/09　機台問題佔比 與 熱門站點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164592" y="329184"/>
            <a:ext cx="45720" cy="201168"/>
          </a:xfrm>
          <a:prstGeom prst="rect">
            <a:avLst/>
          </a:prstGeom>
          <a:solidFill>
            <a:srgbClr val="FF50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246888" y="33832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0E9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客訴詳情與分類佔比</a:t>
            </a:r>
            <a:endParaRPr lang="en-US" sz="105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64008" y="475488"/>
          <a:ext cx="2788920" cy="1554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2907792" y="530352"/>
            <a:ext cx="137160" cy="137160"/>
          </a:xfrm>
          <a:prstGeom prst="rect">
            <a:avLst/>
          </a:prstGeom>
          <a:solidFill>
            <a:srgbClr val="FF50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Text 4"/>
          <p:cNvSpPr/>
          <p:nvPr/>
        </p:nvSpPr>
        <p:spPr>
          <a:xfrm>
            <a:off x="3090672" y="493776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回收箱滿艙　26件（24.5%）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2907792" y="754380"/>
            <a:ext cx="137160" cy="137160"/>
          </a:xfrm>
          <a:prstGeom prst="rect">
            <a:avLst/>
          </a:prstGeom>
          <a:solidFill>
            <a:srgbClr val="060E9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Text 6"/>
          <p:cNvSpPr/>
          <p:nvPr/>
        </p:nvSpPr>
        <p:spPr>
          <a:xfrm>
            <a:off x="3090672" y="717804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寶特瓶滿艙　24件（22.6%）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2907792" y="978408"/>
            <a:ext cx="137160" cy="137160"/>
          </a:xfrm>
          <a:prstGeom prst="rect">
            <a:avLst/>
          </a:prstGeom>
          <a:solidFill>
            <a:srgbClr val="0076A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Text 8"/>
          <p:cNvSpPr/>
          <p:nvPr/>
        </p:nvSpPr>
        <p:spPr>
          <a:xfrm>
            <a:off x="3090672" y="941832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黑色分選門異常或卡瓶堵塞　14件（13.2%）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2907792" y="1202436"/>
            <a:ext cx="137160" cy="137160"/>
          </a:xfrm>
          <a:prstGeom prst="rect">
            <a:avLst/>
          </a:prstGeom>
          <a:solidFill>
            <a:srgbClr val="FFCE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0"/>
          <p:cNvSpPr/>
          <p:nvPr/>
        </p:nvSpPr>
        <p:spPr>
          <a:xfrm>
            <a:off x="3090672" y="1165860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投入物卡住_瓶罐/電池　7件（6.6%）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2907792" y="1426464"/>
            <a:ext cx="137160" cy="137160"/>
          </a:xfrm>
          <a:prstGeom prst="rect">
            <a:avLst/>
          </a:prstGeom>
          <a:solidFill>
            <a:srgbClr val="8EB8C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2"/>
          <p:cNvSpPr/>
          <p:nvPr/>
        </p:nvSpPr>
        <p:spPr>
          <a:xfrm>
            <a:off x="3090672" y="1389888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機台當機/無回應　6件（5.7%）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2907792" y="1650492"/>
            <a:ext cx="137160" cy="137160"/>
          </a:xfrm>
          <a:prstGeom prst="rect">
            <a:avLst/>
          </a:prstGeom>
          <a:solidFill>
            <a:srgbClr val="B8BEC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4"/>
          <p:cNvSpPr/>
          <p:nvPr/>
        </p:nvSpPr>
        <p:spPr>
          <a:xfrm>
            <a:off x="3090672" y="1613916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其他機台問題　29件（27.4%）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5596128" y="475488"/>
            <a:ext cx="1005840" cy="1554480"/>
          </a:xfrm>
          <a:prstGeom prst="rect">
            <a:avLst/>
          </a:prstGeom>
          <a:solidFill>
            <a:srgbClr val="FFF3EC"/>
          </a:solidFill>
          <a:ln w="12700">
            <a:solidFill>
              <a:srgbClr val="FF50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6"/>
          <p:cNvSpPr/>
          <p:nvPr/>
        </p:nvSpPr>
        <p:spPr>
          <a:xfrm>
            <a:off x="5596128" y="530352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888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收瓶機/方舟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5596128" y="731520"/>
            <a:ext cx="1005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5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86%</a:t>
            </a:r>
            <a:endParaRPr lang="en-US" sz="3200" dirty="0"/>
          </a:p>
        </p:txBody>
      </p:sp>
      <p:sp>
        <p:nvSpPr>
          <p:cNvPr id="21" name="Text 18"/>
          <p:cNvSpPr/>
          <p:nvPr/>
        </p:nvSpPr>
        <p:spPr>
          <a:xfrm>
            <a:off x="5596128" y="1609344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888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（101件）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6693408" y="475488"/>
            <a:ext cx="1005840" cy="1554480"/>
          </a:xfrm>
          <a:prstGeom prst="rect">
            <a:avLst/>
          </a:prstGeom>
          <a:solidFill>
            <a:srgbClr val="EDF5FB"/>
          </a:solidFill>
          <a:ln w="12700">
            <a:solidFill>
              <a:srgbClr val="8EB8C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Text 20"/>
          <p:cNvSpPr/>
          <p:nvPr/>
        </p:nvSpPr>
        <p:spPr>
          <a:xfrm>
            <a:off x="6693408" y="530352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888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電池機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6693408" y="731520"/>
            <a:ext cx="1005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76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14%</a:t>
            </a:r>
            <a:endParaRPr lang="en-US" sz="3200" dirty="0"/>
          </a:p>
        </p:txBody>
      </p:sp>
      <p:sp>
        <p:nvSpPr>
          <p:cNvPr id="25" name="Text 22"/>
          <p:cNvSpPr/>
          <p:nvPr/>
        </p:nvSpPr>
        <p:spPr>
          <a:xfrm>
            <a:off x="6693408" y="1609344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888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（17件）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164592" y="2121408"/>
            <a:ext cx="45720" cy="201168"/>
          </a:xfrm>
          <a:prstGeom prst="rect">
            <a:avLst/>
          </a:prstGeom>
          <a:solidFill>
            <a:srgbClr val="FF50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7" name="Text 24"/>
          <p:cNvSpPr/>
          <p:nvPr/>
        </p:nvSpPr>
        <p:spPr>
          <a:xfrm>
            <a:off x="246888" y="2130552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0E9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收瓶機、電池機客訴 Top 3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5669280" y="2121408"/>
            <a:ext cx="45720" cy="201168"/>
          </a:xfrm>
          <a:prstGeom prst="rect">
            <a:avLst/>
          </a:prstGeom>
          <a:solidFill>
            <a:srgbClr val="FF50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9" name="Text 26"/>
          <p:cNvSpPr/>
          <p:nvPr/>
        </p:nvSpPr>
        <p:spPr>
          <a:xfrm>
            <a:off x="5751576" y="2130552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50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本週熱點站點（第32週：08/03 ~ 08/09）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164592" y="2304288"/>
            <a:ext cx="658368" cy="1078992"/>
          </a:xfrm>
          <a:prstGeom prst="rect">
            <a:avLst/>
          </a:prstGeom>
          <a:solidFill>
            <a:srgbClr val="060E9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1" name="Text 28"/>
          <p:cNvSpPr/>
          <p:nvPr/>
        </p:nvSpPr>
        <p:spPr>
          <a:xfrm>
            <a:off x="164592" y="2304288"/>
            <a:ext cx="658368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收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瓶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機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841248" y="2322576"/>
            <a:ext cx="4736592" cy="333756"/>
          </a:xfrm>
          <a:prstGeom prst="rect">
            <a:avLst/>
          </a:prstGeom>
          <a:solidFill>
            <a:srgbClr val="EDF3FF"/>
          </a:solidFill>
          <a:ln w="12700">
            <a:solidFill>
              <a:srgbClr val="E0E6F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3" name="Text 30"/>
          <p:cNvSpPr/>
          <p:nvPr/>
        </p:nvSpPr>
        <p:spPr>
          <a:xfrm>
            <a:off x="896112" y="2386584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50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1133856" y="2386584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回收箱滿艙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4809744" y="2359152"/>
            <a:ext cx="7132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FF5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24%</a:t>
            </a:r>
            <a:endParaRPr lang="en-US" sz="2000" dirty="0"/>
          </a:p>
        </p:txBody>
      </p:sp>
      <p:sp>
        <p:nvSpPr>
          <p:cNvPr id="36" name="Shape 33"/>
          <p:cNvSpPr/>
          <p:nvPr/>
        </p:nvSpPr>
        <p:spPr>
          <a:xfrm>
            <a:off x="1133856" y="2610612"/>
            <a:ext cx="3246120" cy="34747"/>
          </a:xfrm>
          <a:prstGeom prst="rect">
            <a:avLst/>
          </a:prstGeom>
          <a:solidFill>
            <a:srgbClr val="EBEBE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7" name="Shape 34"/>
          <p:cNvSpPr/>
          <p:nvPr/>
        </p:nvSpPr>
        <p:spPr>
          <a:xfrm>
            <a:off x="1133856" y="2610612"/>
            <a:ext cx="779069" cy="34747"/>
          </a:xfrm>
          <a:prstGeom prst="rect">
            <a:avLst/>
          </a:prstGeom>
          <a:solidFill>
            <a:srgbClr val="FF50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8" name="Shape 35"/>
          <p:cNvSpPr/>
          <p:nvPr/>
        </p:nvSpPr>
        <p:spPr>
          <a:xfrm>
            <a:off x="841248" y="2674620"/>
            <a:ext cx="4736592" cy="333756"/>
          </a:xfrm>
          <a:prstGeom prst="rect">
            <a:avLst/>
          </a:prstGeom>
          <a:solidFill>
            <a:srgbClr val="F4F8FF"/>
          </a:solidFill>
          <a:ln w="12700">
            <a:solidFill>
              <a:srgbClr val="E0E6F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9" name="Text 36"/>
          <p:cNvSpPr/>
          <p:nvPr/>
        </p:nvSpPr>
        <p:spPr>
          <a:xfrm>
            <a:off x="896112" y="2738628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0E9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1133856" y="2738628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寶特瓶滿艙</a:t>
            </a:r>
            <a:endParaRPr lang="en-US" sz="950" dirty="0"/>
          </a:p>
        </p:txBody>
      </p:sp>
      <p:sp>
        <p:nvSpPr>
          <p:cNvPr id="41" name="Text 38"/>
          <p:cNvSpPr/>
          <p:nvPr/>
        </p:nvSpPr>
        <p:spPr>
          <a:xfrm>
            <a:off x="4809744" y="2711196"/>
            <a:ext cx="7132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060E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21%</a:t>
            </a:r>
            <a:endParaRPr lang="en-US" sz="2000" dirty="0"/>
          </a:p>
        </p:txBody>
      </p:sp>
      <p:sp>
        <p:nvSpPr>
          <p:cNvPr id="42" name="Shape 39"/>
          <p:cNvSpPr/>
          <p:nvPr/>
        </p:nvSpPr>
        <p:spPr>
          <a:xfrm>
            <a:off x="1133856" y="2962656"/>
            <a:ext cx="3246120" cy="34747"/>
          </a:xfrm>
          <a:prstGeom prst="rect">
            <a:avLst/>
          </a:prstGeom>
          <a:solidFill>
            <a:srgbClr val="EBEBE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3" name="Shape 40"/>
          <p:cNvSpPr/>
          <p:nvPr/>
        </p:nvSpPr>
        <p:spPr>
          <a:xfrm>
            <a:off x="1133856" y="2962656"/>
            <a:ext cx="681685" cy="34747"/>
          </a:xfrm>
          <a:prstGeom prst="rect">
            <a:avLst/>
          </a:prstGeom>
          <a:solidFill>
            <a:srgbClr val="060E9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4" name="Shape 41"/>
          <p:cNvSpPr/>
          <p:nvPr/>
        </p:nvSpPr>
        <p:spPr>
          <a:xfrm>
            <a:off x="841248" y="3026664"/>
            <a:ext cx="4736592" cy="333756"/>
          </a:xfrm>
          <a:prstGeom prst="rect">
            <a:avLst/>
          </a:prstGeom>
          <a:solidFill>
            <a:srgbClr val="F9FBFF"/>
          </a:solidFill>
          <a:ln w="12700">
            <a:solidFill>
              <a:srgbClr val="E0E6F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5" name="Text 42"/>
          <p:cNvSpPr/>
          <p:nvPr/>
        </p:nvSpPr>
        <p:spPr>
          <a:xfrm>
            <a:off x="896112" y="3090672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76A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3</a:t>
            </a:r>
            <a:endParaRPr lang="en-US" sz="1000" dirty="0"/>
          </a:p>
        </p:txBody>
      </p:sp>
      <p:sp>
        <p:nvSpPr>
          <p:cNvPr id="46" name="Text 43"/>
          <p:cNvSpPr/>
          <p:nvPr/>
        </p:nvSpPr>
        <p:spPr>
          <a:xfrm>
            <a:off x="1133856" y="3090672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00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黑色分選門異常或卡瓶堵塞</a:t>
            </a:r>
            <a:endParaRPr lang="en-US" sz="950" dirty="0">
              <a:solidFill>
                <a:srgbClr val="FF0000"/>
              </a:solidFill>
            </a:endParaRPr>
          </a:p>
        </p:txBody>
      </p:sp>
      <p:sp>
        <p:nvSpPr>
          <p:cNvPr id="47" name="Text 44"/>
          <p:cNvSpPr/>
          <p:nvPr/>
        </p:nvSpPr>
        <p:spPr>
          <a:xfrm>
            <a:off x="4809744" y="3063240"/>
            <a:ext cx="7132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0076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14%</a:t>
            </a:r>
            <a:endParaRPr lang="en-US" sz="2000" dirty="0"/>
          </a:p>
        </p:txBody>
      </p:sp>
      <p:sp>
        <p:nvSpPr>
          <p:cNvPr id="48" name="Shape 45"/>
          <p:cNvSpPr/>
          <p:nvPr/>
        </p:nvSpPr>
        <p:spPr>
          <a:xfrm>
            <a:off x="1133856" y="3314700"/>
            <a:ext cx="3246120" cy="34747"/>
          </a:xfrm>
          <a:prstGeom prst="rect">
            <a:avLst/>
          </a:prstGeom>
          <a:solidFill>
            <a:srgbClr val="EBEBE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9" name="Shape 46"/>
          <p:cNvSpPr/>
          <p:nvPr/>
        </p:nvSpPr>
        <p:spPr>
          <a:xfrm>
            <a:off x="1133856" y="3314700"/>
            <a:ext cx="454457" cy="34747"/>
          </a:xfrm>
          <a:prstGeom prst="rect">
            <a:avLst/>
          </a:prstGeom>
          <a:solidFill>
            <a:srgbClr val="0076A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0" name="Shape 47"/>
          <p:cNvSpPr/>
          <p:nvPr/>
        </p:nvSpPr>
        <p:spPr>
          <a:xfrm>
            <a:off x="164592" y="3396996"/>
            <a:ext cx="658368" cy="731520"/>
          </a:xfrm>
          <a:prstGeom prst="rect">
            <a:avLst/>
          </a:prstGeom>
          <a:solidFill>
            <a:srgbClr val="FF50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1" name="Text 48"/>
          <p:cNvSpPr/>
          <p:nvPr/>
        </p:nvSpPr>
        <p:spPr>
          <a:xfrm>
            <a:off x="164592" y="3396996"/>
            <a:ext cx="65836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電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池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機</a:t>
            </a:r>
            <a:endParaRPr lang="en-US" sz="1050" dirty="0"/>
          </a:p>
        </p:txBody>
      </p:sp>
      <p:sp>
        <p:nvSpPr>
          <p:cNvPr id="52" name="Shape 49"/>
          <p:cNvSpPr/>
          <p:nvPr/>
        </p:nvSpPr>
        <p:spPr>
          <a:xfrm>
            <a:off x="841248" y="3415284"/>
            <a:ext cx="4736592" cy="327355"/>
          </a:xfrm>
          <a:prstGeom prst="rect">
            <a:avLst/>
          </a:prstGeom>
          <a:solidFill>
            <a:srgbClr val="F0FDF7"/>
          </a:solidFill>
          <a:ln w="12700">
            <a:solidFill>
              <a:srgbClr val="E0E6F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3" name="Text 50"/>
          <p:cNvSpPr/>
          <p:nvPr/>
        </p:nvSpPr>
        <p:spPr>
          <a:xfrm>
            <a:off x="896112" y="3479292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76A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</a:t>
            </a:r>
            <a:endParaRPr lang="en-US" sz="1000" dirty="0"/>
          </a:p>
        </p:txBody>
      </p:sp>
      <p:sp>
        <p:nvSpPr>
          <p:cNvPr id="54" name="Text 51"/>
          <p:cNvSpPr/>
          <p:nvPr/>
        </p:nvSpPr>
        <p:spPr>
          <a:xfrm>
            <a:off x="1133856" y="3479292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點數未入帳號</a:t>
            </a:r>
            <a:endParaRPr lang="en-US" sz="950" b="1" dirty="0"/>
          </a:p>
        </p:txBody>
      </p:sp>
      <p:sp>
        <p:nvSpPr>
          <p:cNvPr id="55" name="Text 52"/>
          <p:cNvSpPr/>
          <p:nvPr/>
        </p:nvSpPr>
        <p:spPr>
          <a:xfrm>
            <a:off x="4809744" y="3451860"/>
            <a:ext cx="7132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0076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41%</a:t>
            </a:r>
            <a:endParaRPr lang="en-US" sz="2000" dirty="0"/>
          </a:p>
        </p:txBody>
      </p:sp>
      <p:sp>
        <p:nvSpPr>
          <p:cNvPr id="56" name="Shape 53"/>
          <p:cNvSpPr/>
          <p:nvPr/>
        </p:nvSpPr>
        <p:spPr>
          <a:xfrm>
            <a:off x="1133856" y="3694176"/>
            <a:ext cx="3246120" cy="34747"/>
          </a:xfrm>
          <a:prstGeom prst="rect">
            <a:avLst/>
          </a:prstGeom>
          <a:solidFill>
            <a:srgbClr val="EBEBE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7" name="Shape 54"/>
          <p:cNvSpPr/>
          <p:nvPr/>
        </p:nvSpPr>
        <p:spPr>
          <a:xfrm>
            <a:off x="1133856" y="3694176"/>
            <a:ext cx="1330909" cy="34747"/>
          </a:xfrm>
          <a:prstGeom prst="rect">
            <a:avLst/>
          </a:prstGeom>
          <a:solidFill>
            <a:srgbClr val="0076A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8" name="Shape 55"/>
          <p:cNvSpPr/>
          <p:nvPr/>
        </p:nvSpPr>
        <p:spPr>
          <a:xfrm>
            <a:off x="841248" y="3760927"/>
            <a:ext cx="4736592" cy="327355"/>
          </a:xfrm>
          <a:prstGeom prst="rect">
            <a:avLst/>
          </a:prstGeom>
          <a:solidFill>
            <a:srgbClr val="F7FAFE"/>
          </a:solidFill>
          <a:ln w="12700">
            <a:solidFill>
              <a:srgbClr val="E0E6F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9" name="Text 56"/>
          <p:cNvSpPr/>
          <p:nvPr/>
        </p:nvSpPr>
        <p:spPr>
          <a:xfrm>
            <a:off x="896112" y="3824935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EB8C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</a:t>
            </a:r>
            <a:endParaRPr lang="en-US" sz="1000" dirty="0"/>
          </a:p>
        </p:txBody>
      </p:sp>
      <p:sp>
        <p:nvSpPr>
          <p:cNvPr id="60" name="Text 57"/>
          <p:cNvSpPr/>
          <p:nvPr/>
        </p:nvSpPr>
        <p:spPr>
          <a:xfrm>
            <a:off x="1133856" y="3824935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投入物卡住_瓶罐/電池</a:t>
            </a:r>
            <a:endParaRPr lang="en-US" sz="950" dirty="0"/>
          </a:p>
        </p:txBody>
      </p:sp>
      <p:sp>
        <p:nvSpPr>
          <p:cNvPr id="61" name="Text 58"/>
          <p:cNvSpPr/>
          <p:nvPr/>
        </p:nvSpPr>
        <p:spPr>
          <a:xfrm>
            <a:off x="4809744" y="3797503"/>
            <a:ext cx="7132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8EB8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</a:t>
            </a:r>
            <a:endParaRPr lang="en-US" sz="2000" dirty="0"/>
          </a:p>
        </p:txBody>
      </p:sp>
      <p:sp>
        <p:nvSpPr>
          <p:cNvPr id="62" name="Shape 59"/>
          <p:cNvSpPr/>
          <p:nvPr/>
        </p:nvSpPr>
        <p:spPr>
          <a:xfrm>
            <a:off x="1133856" y="4039819"/>
            <a:ext cx="3246120" cy="34747"/>
          </a:xfrm>
          <a:prstGeom prst="rect">
            <a:avLst/>
          </a:prstGeom>
          <a:solidFill>
            <a:srgbClr val="EBEBE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3" name="Shape 60"/>
          <p:cNvSpPr/>
          <p:nvPr/>
        </p:nvSpPr>
        <p:spPr>
          <a:xfrm>
            <a:off x="1133856" y="4039819"/>
            <a:ext cx="1136142" cy="34747"/>
          </a:xfrm>
          <a:prstGeom prst="rect">
            <a:avLst/>
          </a:prstGeom>
          <a:solidFill>
            <a:srgbClr val="8EB8C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4" name="Shape 61"/>
          <p:cNvSpPr/>
          <p:nvPr/>
        </p:nvSpPr>
        <p:spPr>
          <a:xfrm>
            <a:off x="174737" y="4251960"/>
            <a:ext cx="5376672" cy="548640"/>
          </a:xfrm>
          <a:prstGeom prst="rect">
            <a:avLst/>
          </a:prstGeom>
          <a:solidFill>
            <a:srgbClr val="FAE0B8"/>
          </a:solidFill>
          <a:ln w="12700">
            <a:solidFill>
              <a:srgbClr val="FFCE00"/>
            </a:solidFill>
            <a:prstDash val="solid"/>
          </a:ln>
        </p:spPr>
        <p:txBody>
          <a:bodyPr/>
          <a:lstStyle/>
          <a:p>
            <a:pPr>
              <a:spcBef>
                <a:spcPts val="100"/>
              </a:spcBef>
            </a:pPr>
            <a:r>
              <a:rPr lang="zh-TW" altLang="zh-TW" sz="1100" dirty="0">
                <a:latin typeface="Noto Sans TC" panose="020B0200000000000000" pitchFamily="34" charset="-120"/>
                <a:ea typeface="Noto Sans TC" panose="020B0200000000000000" pitchFamily="34" charset="-120"/>
              </a:rPr>
              <a:t>收瓶機 ─ 滿艙居高不下與「黑色分選門卡瓶」事故暴增</a:t>
            </a:r>
            <a:br>
              <a:rPr lang="en-US" altLang="zh-TW" sz="1100" dirty="0">
                <a:latin typeface="Noto Sans TC" panose="020B0200000000000000" pitchFamily="34" charset="-120"/>
                <a:ea typeface="Noto Sans TC" panose="020B0200000000000000" pitchFamily="34" charset="-120"/>
              </a:rPr>
            </a:br>
            <a:r>
              <a:rPr lang="zh-TW" altLang="zh-TW" sz="1100" dirty="0">
                <a:latin typeface="Noto Sans TC" panose="020B0200000000000000" pitchFamily="34" charset="-120"/>
                <a:ea typeface="Noto Sans TC" panose="020B0200000000000000" pitchFamily="34" charset="-120"/>
              </a:rPr>
              <a:t>電池機 ─ 鈕扣電池卡死履帶與「大額點數歸零」災情</a:t>
            </a:r>
            <a:endParaRPr lang="en-US" altLang="zh-TW" sz="1100" dirty="0">
              <a:latin typeface="Noto Sans TC" panose="020B0200000000000000" pitchFamily="34" charset="-120"/>
              <a:ea typeface="Noto Sans TC" panose="020B0200000000000000" pitchFamily="34" charset="-120"/>
            </a:endParaRPr>
          </a:p>
          <a:p>
            <a:endParaRPr lang="zh-TW" altLang="en-US" dirty="0"/>
          </a:p>
        </p:txBody>
      </p:sp>
      <p:sp>
        <p:nvSpPr>
          <p:cNvPr id="65" name="Text 62"/>
          <p:cNvSpPr/>
          <p:nvPr/>
        </p:nvSpPr>
        <p:spPr>
          <a:xfrm>
            <a:off x="256032" y="4169664"/>
            <a:ext cx="5230368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750" dirty="0"/>
          </a:p>
        </p:txBody>
      </p:sp>
      <p:sp>
        <p:nvSpPr>
          <p:cNvPr id="66" name="Shape 63"/>
          <p:cNvSpPr/>
          <p:nvPr/>
        </p:nvSpPr>
        <p:spPr>
          <a:xfrm>
            <a:off x="5669280" y="2304288"/>
            <a:ext cx="3337560" cy="237744"/>
          </a:xfrm>
          <a:prstGeom prst="rect">
            <a:avLst/>
          </a:prstGeom>
          <a:solidFill>
            <a:srgbClr val="FAE0B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7" name="Text 64"/>
          <p:cNvSpPr/>
          <p:nvPr/>
        </p:nvSpPr>
        <p:spPr>
          <a:xfrm>
            <a:off x="5724144" y="2304288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0E9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高雄</a:t>
            </a:r>
            <a:endParaRPr lang="en-US" sz="1200" dirty="0"/>
          </a:p>
        </p:txBody>
      </p:sp>
      <p:sp>
        <p:nvSpPr>
          <p:cNvPr id="68" name="Text 65"/>
          <p:cNvSpPr/>
          <p:nvPr/>
        </p:nvSpPr>
        <p:spPr>
          <a:xfrm>
            <a:off x="8412480" y="2304288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5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300" dirty="0"/>
          </a:p>
        </p:txBody>
      </p:sp>
      <p:sp>
        <p:nvSpPr>
          <p:cNvPr id="69" name="Text 66"/>
          <p:cNvSpPr/>
          <p:nvPr/>
        </p:nvSpPr>
        <p:spPr>
          <a:xfrm>
            <a:off x="5833872" y="2551176"/>
            <a:ext cx="30632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 </a:t>
            </a:r>
            <a:r>
              <a:rPr lang="en-US" sz="850" dirty="0">
                <a:solidFill>
                  <a:srgbClr val="FF00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全聯福利中心鳳山海洋一店站</a:t>
            </a:r>
            <a:endParaRPr lang="en-US" sz="900" dirty="0">
              <a:solidFill>
                <a:srgbClr val="FF0000"/>
              </a:solidFill>
            </a:endParaRPr>
          </a:p>
        </p:txBody>
      </p:sp>
      <p:sp>
        <p:nvSpPr>
          <p:cNvPr id="70" name="Text 67"/>
          <p:cNvSpPr/>
          <p:nvPr/>
        </p:nvSpPr>
        <p:spPr>
          <a:xfrm>
            <a:off x="8412480" y="2551176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71" name="Text 68"/>
          <p:cNvSpPr/>
          <p:nvPr/>
        </p:nvSpPr>
        <p:spPr>
          <a:xfrm>
            <a:off x="5833872" y="2756916"/>
            <a:ext cx="30632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 </a:t>
            </a:r>
            <a:r>
              <a:rPr lang="en-US" sz="8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小北百貨高雄鳳山店站</a:t>
            </a:r>
            <a:endParaRPr lang="en-US" sz="900" dirty="0"/>
          </a:p>
        </p:txBody>
      </p:sp>
      <p:sp>
        <p:nvSpPr>
          <p:cNvPr id="72" name="Text 69"/>
          <p:cNvSpPr/>
          <p:nvPr/>
        </p:nvSpPr>
        <p:spPr>
          <a:xfrm>
            <a:off x="8412480" y="2756916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73" name="Text 70"/>
          <p:cNvSpPr/>
          <p:nvPr/>
        </p:nvSpPr>
        <p:spPr>
          <a:xfrm>
            <a:off x="5833872" y="2962656"/>
            <a:ext cx="30632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 </a:t>
            </a:r>
            <a:r>
              <a:rPr lang="en-US" sz="8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全聯福利中心三民博愛一店站</a:t>
            </a:r>
            <a:endParaRPr lang="en-US" sz="900" dirty="0"/>
          </a:p>
        </p:txBody>
      </p:sp>
      <p:sp>
        <p:nvSpPr>
          <p:cNvPr id="74" name="Text 71"/>
          <p:cNvSpPr/>
          <p:nvPr/>
        </p:nvSpPr>
        <p:spPr>
          <a:xfrm>
            <a:off x="8412480" y="2962656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75" name="Shape 72"/>
          <p:cNvSpPr/>
          <p:nvPr/>
        </p:nvSpPr>
        <p:spPr>
          <a:xfrm>
            <a:off x="5669280" y="3186684"/>
            <a:ext cx="3337560" cy="237744"/>
          </a:xfrm>
          <a:prstGeom prst="rect">
            <a:avLst/>
          </a:prstGeom>
          <a:solidFill>
            <a:srgbClr val="FAE0B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6" name="Text 73"/>
          <p:cNvSpPr/>
          <p:nvPr/>
        </p:nvSpPr>
        <p:spPr>
          <a:xfrm>
            <a:off x="5724144" y="3186684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0E9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臺南</a:t>
            </a:r>
            <a:endParaRPr lang="en-US" sz="1200" dirty="0"/>
          </a:p>
        </p:txBody>
      </p:sp>
      <p:sp>
        <p:nvSpPr>
          <p:cNvPr id="77" name="Text 74"/>
          <p:cNvSpPr/>
          <p:nvPr/>
        </p:nvSpPr>
        <p:spPr>
          <a:xfrm>
            <a:off x="8412480" y="3186684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5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300" dirty="0"/>
          </a:p>
        </p:txBody>
      </p:sp>
      <p:sp>
        <p:nvSpPr>
          <p:cNvPr id="78" name="Text 75"/>
          <p:cNvSpPr/>
          <p:nvPr/>
        </p:nvSpPr>
        <p:spPr>
          <a:xfrm>
            <a:off x="5833872" y="3433572"/>
            <a:ext cx="30632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 </a:t>
            </a:r>
            <a:r>
              <a:rPr lang="en-US" sz="8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臺南集過來智慧回收島站</a:t>
            </a:r>
            <a:endParaRPr lang="en-US" sz="900" dirty="0"/>
          </a:p>
        </p:txBody>
      </p:sp>
      <p:sp>
        <p:nvSpPr>
          <p:cNvPr id="79" name="Text 76"/>
          <p:cNvSpPr/>
          <p:nvPr/>
        </p:nvSpPr>
        <p:spPr>
          <a:xfrm>
            <a:off x="8412480" y="343357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80" name="Text 77"/>
          <p:cNvSpPr/>
          <p:nvPr/>
        </p:nvSpPr>
        <p:spPr>
          <a:xfrm>
            <a:off x="5833872" y="3639312"/>
            <a:ext cx="30632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 </a:t>
            </a:r>
            <a:r>
              <a:rPr lang="en-US" sz="85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億進寢具永大店站</a:t>
            </a:r>
            <a:endParaRPr lang="en-US" sz="900" b="1" dirty="0"/>
          </a:p>
        </p:txBody>
      </p:sp>
      <p:sp>
        <p:nvSpPr>
          <p:cNvPr id="81" name="Text 78"/>
          <p:cNvSpPr/>
          <p:nvPr/>
        </p:nvSpPr>
        <p:spPr>
          <a:xfrm>
            <a:off x="8412480" y="363931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82" name="Text 79"/>
          <p:cNvSpPr/>
          <p:nvPr/>
        </p:nvSpPr>
        <p:spPr>
          <a:xfrm>
            <a:off x="5833872" y="3845052"/>
            <a:ext cx="30632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 </a:t>
            </a:r>
            <a:r>
              <a:rPr lang="en-US" sz="8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小北百貨台南永康中華店站</a:t>
            </a:r>
            <a:endParaRPr lang="en-US" sz="900" dirty="0"/>
          </a:p>
        </p:txBody>
      </p:sp>
      <p:sp>
        <p:nvSpPr>
          <p:cNvPr id="83" name="Text 80"/>
          <p:cNvSpPr/>
          <p:nvPr/>
        </p:nvSpPr>
        <p:spPr>
          <a:xfrm>
            <a:off x="8412480" y="384505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84" name="Shape 81"/>
          <p:cNvSpPr/>
          <p:nvPr/>
        </p:nvSpPr>
        <p:spPr>
          <a:xfrm>
            <a:off x="5669280" y="4069080"/>
            <a:ext cx="3337560" cy="237744"/>
          </a:xfrm>
          <a:prstGeom prst="rect">
            <a:avLst/>
          </a:prstGeom>
          <a:solidFill>
            <a:srgbClr val="FAE0B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5" name="Text 82"/>
          <p:cNvSpPr/>
          <p:nvPr/>
        </p:nvSpPr>
        <p:spPr>
          <a:xfrm>
            <a:off x="5724144" y="4069080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0E9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雲林</a:t>
            </a:r>
            <a:endParaRPr lang="en-US" sz="1200" dirty="0"/>
          </a:p>
        </p:txBody>
      </p:sp>
      <p:sp>
        <p:nvSpPr>
          <p:cNvPr id="86" name="Text 83"/>
          <p:cNvSpPr/>
          <p:nvPr/>
        </p:nvSpPr>
        <p:spPr>
          <a:xfrm>
            <a:off x="8412480" y="4069080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5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300" dirty="0"/>
          </a:p>
        </p:txBody>
      </p:sp>
      <p:sp>
        <p:nvSpPr>
          <p:cNvPr id="87" name="Text 84"/>
          <p:cNvSpPr/>
          <p:nvPr/>
        </p:nvSpPr>
        <p:spPr>
          <a:xfrm>
            <a:off x="5833872" y="4315968"/>
            <a:ext cx="30632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  </a:t>
            </a:r>
            <a:r>
              <a:rPr lang="en-US" sz="850" dirty="0">
                <a:solidFill>
                  <a:srgbClr val="FF00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全聯福利中心林內中正店站</a:t>
            </a:r>
            <a:endParaRPr lang="en-US" sz="850" dirty="0">
              <a:solidFill>
                <a:srgbClr val="FF0000"/>
              </a:solidFill>
            </a:endParaRPr>
          </a:p>
        </p:txBody>
      </p:sp>
      <p:sp>
        <p:nvSpPr>
          <p:cNvPr id="88" name="Text 85"/>
          <p:cNvSpPr/>
          <p:nvPr/>
        </p:nvSpPr>
        <p:spPr>
          <a:xfrm>
            <a:off x="8412480" y="431596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  <p:sp>
        <p:nvSpPr>
          <p:cNvPr id="89" name="Text 86"/>
          <p:cNvSpPr/>
          <p:nvPr/>
        </p:nvSpPr>
        <p:spPr>
          <a:xfrm>
            <a:off x="5833872" y="4521708"/>
            <a:ext cx="30632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 </a:t>
            </a:r>
            <a:r>
              <a:rPr lang="en-US" sz="8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虎尾科大站</a:t>
            </a:r>
            <a:endParaRPr lang="en-US" sz="900" dirty="0"/>
          </a:p>
        </p:txBody>
      </p:sp>
      <p:sp>
        <p:nvSpPr>
          <p:cNvPr id="90" name="Text 87"/>
          <p:cNvSpPr/>
          <p:nvPr/>
        </p:nvSpPr>
        <p:spPr>
          <a:xfrm>
            <a:off x="8412480" y="452170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91" name="Text 88"/>
          <p:cNvSpPr/>
          <p:nvPr/>
        </p:nvSpPr>
        <p:spPr>
          <a:xfrm>
            <a:off x="5833872" y="4727448"/>
            <a:ext cx="30632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 </a:t>
            </a:r>
            <a:r>
              <a:rPr lang="en-US" sz="8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全聯福利中心斗六中興店站</a:t>
            </a:r>
            <a:endParaRPr lang="en-US" sz="900" dirty="0"/>
          </a:p>
        </p:txBody>
      </p:sp>
      <p:sp>
        <p:nvSpPr>
          <p:cNvPr id="92" name="Text 89"/>
          <p:cNvSpPr/>
          <p:nvPr/>
        </p:nvSpPr>
        <p:spPr>
          <a:xfrm>
            <a:off x="8412480" y="472744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378</Words>
  <Application>Microsoft Office PowerPoint</Application>
  <PresentationFormat>如螢幕大小 (16:9)</PresentationFormat>
  <Paragraphs>150</Paragraphs>
  <Slides>2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5" baseType="lpstr">
      <vt:lpstr>Noto Sans TC</vt:lpstr>
      <vt:lpstr>Arial</vt:lpstr>
      <vt:lpstr>Office Theme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王茗芬</cp:lastModifiedBy>
  <cp:revision>2</cp:revision>
  <dcterms:created xsi:type="dcterms:W3CDTF">2026-08-10T03:00:08Z</dcterms:created>
  <dcterms:modified xsi:type="dcterms:W3CDTF">2026-08-10T04:37:20Z</dcterms:modified>
</cp:coreProperties>
</file>