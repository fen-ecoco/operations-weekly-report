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佔比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FAE0B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APP帳號設定問題</c:v>
                </c:pt>
                <c:pt idx="1">
                  <c:v>機台問題</c:v>
                </c:pt>
                <c:pt idx="2">
                  <c:v>回收點數問題</c:v>
                </c:pt>
                <c:pt idx="3">
                  <c:v>顧客關係</c:v>
                </c:pt>
                <c:pt idx="4">
                  <c:v>優惠券問題</c:v>
                </c:pt>
                <c:pt idx="5">
                  <c:v>APP使用問題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</c:v>
                </c:pt>
                <c:pt idx="1">
                  <c:v>106</c:v>
                </c:pt>
                <c:pt idx="2">
                  <c:v>13</c:v>
                </c:pt>
                <c:pt idx="3">
                  <c:v>19</c:v>
                </c:pt>
                <c:pt idx="4">
                  <c:v>6</c:v>
                </c:pt>
                <c:pt idx="5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機台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B8BEC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回收箱滿艙</c:v>
                </c:pt>
                <c:pt idx="1">
                  <c:v>寶特瓶滿艙</c:v>
                </c:pt>
                <c:pt idx="2">
                  <c:v>黑色分選門異常或卡瓶堵塞</c:v>
                </c:pt>
                <c:pt idx="3">
                  <c:v>投入物卡住_瓶罐/電池</c:v>
                </c:pt>
                <c:pt idx="4">
                  <c:v>機台當機/無回應</c:v>
                </c:pt>
                <c:pt idx="5">
                  <c:v>其他機台問題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26</c:v>
                </c:pt>
                <c:pt idx="1">
                  <c:v>24</c:v>
                </c:pt>
                <c:pt idx="2">
                  <c:v>14</c:v>
                </c:pt>
                <c:pt idx="3">
                  <c:v>7</c:v>
                </c:pt>
                <c:pt idx="4">
                  <c:v>6</c:v>
                </c:pt>
                <c:pt idx="5">
                  <c:v>29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08/03 ~ 08/09　客訴問題分析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客訴趨勢分析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548640"/>
          <a:ext cx="8814816" cy="1792224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005840"/>
                <a:gridCol w="1005840"/>
                <a:gridCol w="1005840"/>
                <a:gridCol w="804672"/>
                <a:gridCol w="804672"/>
                <a:gridCol w="804672"/>
                <a:gridCol w="768096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週次/期間</a:t>
                      </a:r>
                      <a:endParaRPr lang="en-US" sz="85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收瓶機/方舟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二代電池機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註冊帳號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回收點數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優惠券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APP使用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顧客關係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加總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29週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07/13-07/19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30週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07/20-07/26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186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▲48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31週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07/27-08/02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32週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08/03-08/09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64592" y="2404872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246888" y="241401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當週客訴佔比 + 主分類佔比（08/03 ~ 08/09）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" y="2642616"/>
          <a:ext cx="3529584" cy="23408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3703320" y="2706624"/>
            <a:ext cx="182880" cy="18288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10" name="Text 6"/>
          <p:cNvSpPr/>
          <p:nvPr/>
        </p:nvSpPr>
        <p:spPr>
          <a:xfrm>
            <a:off x="3941064" y="26700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APP帳號設定問題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941064" y="28620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3件　1.9%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703320" y="3095244"/>
            <a:ext cx="182880" cy="18288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13" name="Text 9"/>
          <p:cNvSpPr/>
          <p:nvPr/>
        </p:nvSpPr>
        <p:spPr>
          <a:xfrm>
            <a:off x="3941064" y="305866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機台問題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941064" y="325069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106件　67.5%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3703320" y="3483864"/>
            <a:ext cx="182880" cy="18288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6" name="Text 12"/>
          <p:cNvSpPr/>
          <p:nvPr/>
        </p:nvSpPr>
        <p:spPr>
          <a:xfrm>
            <a:off x="3941064" y="34472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回收點數問題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941064" y="363931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13件　8.3%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3703320" y="3872484"/>
            <a:ext cx="182880" cy="18288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9" name="Text 15"/>
          <p:cNvSpPr/>
          <p:nvPr/>
        </p:nvSpPr>
        <p:spPr>
          <a:xfrm>
            <a:off x="3941064" y="383590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顧客關係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941064" y="402793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19件　12.1%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3703320" y="4261104"/>
            <a:ext cx="182880" cy="18288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22" name="Text 18"/>
          <p:cNvSpPr/>
          <p:nvPr/>
        </p:nvSpPr>
        <p:spPr>
          <a:xfrm>
            <a:off x="3941064" y="422452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優惠券問題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941064" y="441655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6件　3.8%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703320" y="4649724"/>
            <a:ext cx="182880" cy="182880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25" name="Text 21"/>
          <p:cNvSpPr/>
          <p:nvPr/>
        </p:nvSpPr>
        <p:spPr>
          <a:xfrm>
            <a:off x="3941064" y="46131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APP使用問題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941064" y="48051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10件　6.4%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788152" y="2642616"/>
            <a:ext cx="3264408" cy="800100"/>
          </a:xfrm>
          <a:prstGeom prst="rect">
            <a:avLst/>
          </a:prstGeom>
          <a:solidFill>
            <a:srgbClr val="FFF4E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88152" y="2642616"/>
            <a:ext cx="45720" cy="80010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5"/>
          <p:cNvSpPr/>
          <p:nvPr/>
        </p:nvSpPr>
        <p:spPr>
          <a:xfrm>
            <a:off x="5879592" y="269748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089904" y="26974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089904" y="291693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13件・8.3%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8348472" y="271576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33" name="Shape 29"/>
          <p:cNvSpPr/>
          <p:nvPr/>
        </p:nvSpPr>
        <p:spPr>
          <a:xfrm>
            <a:off x="5833872" y="338785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4" name="Shape 30"/>
          <p:cNvSpPr/>
          <p:nvPr/>
        </p:nvSpPr>
        <p:spPr>
          <a:xfrm>
            <a:off x="5833872" y="3387852"/>
            <a:ext cx="267151" cy="45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5" name="Shape 31"/>
          <p:cNvSpPr/>
          <p:nvPr/>
        </p:nvSpPr>
        <p:spPr>
          <a:xfrm>
            <a:off x="5788152" y="3465576"/>
            <a:ext cx="3264408" cy="800100"/>
          </a:xfrm>
          <a:prstGeom prst="rect">
            <a:avLst/>
          </a:prstGeom>
          <a:solidFill>
            <a:srgbClr val="EEF6FB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788152" y="3465576"/>
            <a:ext cx="45720" cy="80010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7" name="Text 33"/>
          <p:cNvSpPr/>
          <p:nvPr/>
        </p:nvSpPr>
        <p:spPr>
          <a:xfrm>
            <a:off x="5879592" y="35204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089904" y="35204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089904" y="373989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8件・5.1%</a:t>
            </a:r>
            <a:endParaRPr lang="en-US" sz="1800" dirty="0"/>
          </a:p>
        </p:txBody>
      </p:sp>
      <p:sp>
        <p:nvSpPr>
          <p:cNvPr id="40" name="Text 36"/>
          <p:cNvSpPr/>
          <p:nvPr/>
        </p:nvSpPr>
        <p:spPr>
          <a:xfrm>
            <a:off x="8348472" y="353872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1" name="Shape 37"/>
          <p:cNvSpPr/>
          <p:nvPr/>
        </p:nvSpPr>
        <p:spPr>
          <a:xfrm>
            <a:off x="5833872" y="421081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2" name="Shape 38"/>
          <p:cNvSpPr/>
          <p:nvPr/>
        </p:nvSpPr>
        <p:spPr>
          <a:xfrm>
            <a:off x="5833872" y="4210812"/>
            <a:ext cx="164153" cy="45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43" name="Shape 39"/>
          <p:cNvSpPr/>
          <p:nvPr/>
        </p:nvSpPr>
        <p:spPr>
          <a:xfrm>
            <a:off x="5788152" y="4288536"/>
            <a:ext cx="3264408" cy="800100"/>
          </a:xfrm>
          <a:prstGeom prst="rect">
            <a:avLst/>
          </a:prstGeom>
          <a:solidFill>
            <a:srgbClr val="F5F7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788152" y="4288536"/>
            <a:ext cx="45720" cy="80010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5" name="Text 41"/>
          <p:cNvSpPr/>
          <p:nvPr/>
        </p:nvSpPr>
        <p:spPr>
          <a:xfrm>
            <a:off x="5879592" y="43434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6089904" y="43434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其他建議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089904" y="456285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6件・3.8%</a:t>
            </a:r>
            <a:endParaRPr lang="en-US" sz="1800" dirty="0"/>
          </a:p>
        </p:txBody>
      </p:sp>
      <p:sp>
        <p:nvSpPr>
          <p:cNvPr id="48" name="Text 44"/>
          <p:cNvSpPr/>
          <p:nvPr/>
        </p:nvSpPr>
        <p:spPr>
          <a:xfrm>
            <a:off x="8348472" y="436168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9" name="Shape 45"/>
          <p:cNvSpPr/>
          <p:nvPr/>
        </p:nvSpPr>
        <p:spPr>
          <a:xfrm>
            <a:off x="5833872" y="503377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0" name="Shape 46"/>
          <p:cNvSpPr/>
          <p:nvPr/>
        </p:nvSpPr>
        <p:spPr>
          <a:xfrm>
            <a:off x="5833872" y="5033772"/>
            <a:ext cx="122310" cy="45720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08/03 ~ 08/09　機台問題佔比 與 熱門站點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客訴詳情與分類佔比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" y="475488"/>
          <a:ext cx="27889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907792" y="530352"/>
            <a:ext cx="137160" cy="13716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3090672" y="49377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回收箱滿艙　26件（24.5%）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907792" y="754380"/>
            <a:ext cx="137160" cy="13716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9" name="Text 6"/>
          <p:cNvSpPr/>
          <p:nvPr/>
        </p:nvSpPr>
        <p:spPr>
          <a:xfrm>
            <a:off x="3090672" y="717804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寶特瓶滿艙　24件（22.6%）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907792" y="978408"/>
            <a:ext cx="137160" cy="13716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1" name="Text 8"/>
          <p:cNvSpPr/>
          <p:nvPr/>
        </p:nvSpPr>
        <p:spPr>
          <a:xfrm>
            <a:off x="3090672" y="941832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黑色分選門異常或卡瓶堵塞　14件（13.2%）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07792" y="1202436"/>
            <a:ext cx="137160" cy="13716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3" name="Text 10"/>
          <p:cNvSpPr/>
          <p:nvPr/>
        </p:nvSpPr>
        <p:spPr>
          <a:xfrm>
            <a:off x="3090672" y="1165860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投入物卡住_瓶罐/電池　7件（6.6%）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907792" y="1426464"/>
            <a:ext cx="137160" cy="13716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15" name="Text 12"/>
          <p:cNvSpPr/>
          <p:nvPr/>
        </p:nvSpPr>
        <p:spPr>
          <a:xfrm>
            <a:off x="3090672" y="1389888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機台當機/無回應　6件（5.7%）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907792" y="1650492"/>
            <a:ext cx="137160" cy="13716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17" name="Text 14"/>
          <p:cNvSpPr/>
          <p:nvPr/>
        </p:nvSpPr>
        <p:spPr>
          <a:xfrm>
            <a:off x="3090672" y="161391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其他機台問題　29件（27.4%）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96128" y="475488"/>
            <a:ext cx="1005840" cy="1554480"/>
          </a:xfrm>
          <a:prstGeom prst="rect">
            <a:avLst/>
          </a:prstGeom>
          <a:solidFill>
            <a:srgbClr val="FFF3EC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9612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收瓶機/方舟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59612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559612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（101件）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93408" y="475488"/>
            <a:ext cx="1005840" cy="1554480"/>
          </a:xfrm>
          <a:prstGeom prst="rect">
            <a:avLst/>
          </a:prstGeom>
          <a:solidFill>
            <a:srgbClr val="EDF5FB"/>
          </a:solidFill>
          <a:ln w="12700">
            <a:solidFill>
              <a:srgbClr val="8EB8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9340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電池機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9340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69340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（17件）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164592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7" name="Text 24"/>
          <p:cNvSpPr/>
          <p:nvPr/>
        </p:nvSpPr>
        <p:spPr>
          <a:xfrm>
            <a:off x="246888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收瓶機、電池機客訴 Top 3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0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751576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本週熱點站點（第32週：08/03 ~ 08/09）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31" name="Text 28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41248" y="2322576"/>
            <a:ext cx="4736592" cy="333756"/>
          </a:xfrm>
          <a:prstGeom prst="rect">
            <a:avLst/>
          </a:prstGeom>
          <a:solidFill>
            <a:srgbClr val="EDF3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23865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133856" y="238658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回收箱滿艙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809744" y="235915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133856" y="2610612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7" name="Shape 34"/>
          <p:cNvSpPr/>
          <p:nvPr/>
        </p:nvSpPr>
        <p:spPr>
          <a:xfrm>
            <a:off x="1133856" y="2610612"/>
            <a:ext cx="779069" cy="34747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Shape 35"/>
          <p:cNvSpPr/>
          <p:nvPr/>
        </p:nvSpPr>
        <p:spPr>
          <a:xfrm>
            <a:off x="841248" y="2674620"/>
            <a:ext cx="4736592" cy="333756"/>
          </a:xfrm>
          <a:prstGeom prst="rect">
            <a:avLst/>
          </a:prstGeom>
          <a:solidFill>
            <a:srgbClr val="F4F8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96112" y="273862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1133856" y="2738628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寶特瓶滿艙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809744" y="271119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60E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1133856" y="296265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3" name="Shape 40"/>
          <p:cNvSpPr/>
          <p:nvPr/>
        </p:nvSpPr>
        <p:spPr>
          <a:xfrm>
            <a:off x="1133856" y="2962656"/>
            <a:ext cx="681685" cy="34747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" y="3026664"/>
            <a:ext cx="4736592" cy="333756"/>
          </a:xfrm>
          <a:prstGeom prst="rect">
            <a:avLst/>
          </a:prstGeom>
          <a:solidFill>
            <a:srgbClr val="F9FB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96112" y="309067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1133856" y="30906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黑色分選門異常或卡瓶堵塞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809744" y="306324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1133856" y="3314700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33856" y="3314700"/>
            <a:ext cx="454457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0" name="Shape 47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51" name="Text 48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41248" y="3415284"/>
            <a:ext cx="4736592" cy="327355"/>
          </a:xfrm>
          <a:prstGeom prst="rect">
            <a:avLst/>
          </a:prstGeom>
          <a:solidFill>
            <a:srgbClr val="F0FDF7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96112" y="347929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1133856" y="34792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809744" y="345186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2000" dirty="0"/>
          </a:p>
        </p:txBody>
      </p:sp>
      <p:sp>
        <p:nvSpPr>
          <p:cNvPr id="56" name="Shape 53"/>
          <p:cNvSpPr/>
          <p:nvPr/>
        </p:nvSpPr>
        <p:spPr>
          <a:xfrm>
            <a:off x="1133856" y="369417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7" name="Shape 54"/>
          <p:cNvSpPr/>
          <p:nvPr/>
        </p:nvSpPr>
        <p:spPr>
          <a:xfrm>
            <a:off x="1133856" y="3694176"/>
            <a:ext cx="1330909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8" name="Shape 55"/>
          <p:cNvSpPr/>
          <p:nvPr/>
        </p:nvSpPr>
        <p:spPr>
          <a:xfrm>
            <a:off x="841248" y="3760927"/>
            <a:ext cx="4736592" cy="327355"/>
          </a:xfrm>
          <a:prstGeom prst="rect">
            <a:avLst/>
          </a:prstGeom>
          <a:solidFill>
            <a:srgbClr val="F7FAFE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3824935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B8C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1133856" y="3824935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投入物卡住_瓶罐/電池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809744" y="3797503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1133856" y="4039819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63" name="Shape 60"/>
          <p:cNvSpPr/>
          <p:nvPr/>
        </p:nvSpPr>
        <p:spPr>
          <a:xfrm>
            <a:off x="1133856" y="4039819"/>
            <a:ext cx="1136142" cy="34747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64" name="Shape 61"/>
          <p:cNvSpPr/>
          <p:nvPr/>
        </p:nvSpPr>
        <p:spPr>
          <a:xfrm>
            <a:off x="164592" y="4151376"/>
            <a:ext cx="5376672" cy="548640"/>
          </a:xfrm>
          <a:prstGeom prst="rect">
            <a:avLst/>
          </a:prstGeom>
          <a:solidFill>
            <a:srgbClr val="FAE0B8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256032" y="4169664"/>
            <a:ext cx="52303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5669280" y="2304288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67" name="Text 64"/>
          <p:cNvSpPr/>
          <p:nvPr/>
        </p:nvSpPr>
        <p:spPr>
          <a:xfrm>
            <a:off x="5724144" y="230428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高雄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412480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5833872" y="255117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全聯福利中心鳳山海洋一店站</a:t>
            </a:r>
            <a:endParaRPr lang="en-US" sz="900" dirty="0"/>
          </a:p>
        </p:txBody>
      </p:sp>
      <p:sp>
        <p:nvSpPr>
          <p:cNvPr id="70" name="Text 67"/>
          <p:cNvSpPr/>
          <p:nvPr/>
        </p:nvSpPr>
        <p:spPr>
          <a:xfrm>
            <a:off x="8412480" y="25511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833872" y="275691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小北百貨高雄鳳山店站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8412480" y="27569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5833872" y="296265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全聯福利中心三民博愛一店站</a:t>
            </a:r>
            <a:endParaRPr lang="en-US" sz="900" dirty="0"/>
          </a:p>
        </p:txBody>
      </p:sp>
      <p:sp>
        <p:nvSpPr>
          <p:cNvPr id="74" name="Text 71"/>
          <p:cNvSpPr/>
          <p:nvPr/>
        </p:nvSpPr>
        <p:spPr>
          <a:xfrm>
            <a:off x="8412480" y="29626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5669280" y="3186684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76" name="Text 73"/>
          <p:cNvSpPr/>
          <p:nvPr/>
        </p:nvSpPr>
        <p:spPr>
          <a:xfrm>
            <a:off x="5724144" y="3186684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8412480" y="318668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5833872" y="343357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臺南集過來智慧回收島站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412480" y="34335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5833872" y="363931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億進寢具永大店站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8412480" y="36393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833872" y="384505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小北百貨台南永康中華店站</a:t>
            </a:r>
            <a:endParaRPr lang="en-US" sz="900" dirty="0"/>
          </a:p>
        </p:txBody>
      </p:sp>
      <p:sp>
        <p:nvSpPr>
          <p:cNvPr id="83" name="Text 80"/>
          <p:cNvSpPr/>
          <p:nvPr/>
        </p:nvSpPr>
        <p:spPr>
          <a:xfrm>
            <a:off x="8412480" y="38450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669280" y="4069080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85" name="Text 82"/>
          <p:cNvSpPr/>
          <p:nvPr/>
        </p:nvSpPr>
        <p:spPr>
          <a:xfrm>
            <a:off x="5724144" y="4069080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雲林</a:t>
            </a:r>
            <a:endParaRPr lang="en-US" sz="1200" dirty="0"/>
          </a:p>
        </p:txBody>
      </p:sp>
      <p:sp>
        <p:nvSpPr>
          <p:cNvPr id="86" name="Text 83"/>
          <p:cNvSpPr/>
          <p:nvPr/>
        </p:nvSpPr>
        <p:spPr>
          <a:xfrm>
            <a:off x="8412480" y="40690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87" name="Text 84"/>
          <p:cNvSpPr/>
          <p:nvPr/>
        </p:nvSpPr>
        <p:spPr>
          <a:xfrm>
            <a:off x="5833872" y="431596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 全聯福利中心林內中正店站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8412480" y="431596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89" name="Text 86"/>
          <p:cNvSpPr/>
          <p:nvPr/>
        </p:nvSpPr>
        <p:spPr>
          <a:xfrm>
            <a:off x="5833872" y="452170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虎尾科大站</a:t>
            </a:r>
            <a:endParaRPr lang="en-US" sz="900" dirty="0"/>
          </a:p>
        </p:txBody>
      </p:sp>
      <p:sp>
        <p:nvSpPr>
          <p:cNvPr id="90" name="Text 87"/>
          <p:cNvSpPr/>
          <p:nvPr/>
        </p:nvSpPr>
        <p:spPr>
          <a:xfrm>
            <a:off x="8412480" y="45217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5833872" y="472744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全聯福利中心斗六中興店站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8412480" y="47274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2026-08-10T03:00:08Z</dcterms:created>
  <dcterms:modified xsi:type="dcterms:W3CDTF">2026-08-10T03:00:08Z</dcterms:modified>
</cp:coreProperties>
</file>