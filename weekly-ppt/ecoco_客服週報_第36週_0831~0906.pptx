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客訴總量（件）</c:v>
                </c:pt>
              </c:strCache>
            </c:strRef>
          </c:tx>
          <c:spPr>
            <a:solidFill>
              <a:srgbClr val="060E9F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3月</c:v>
                </c:pt>
                <c:pt idx="1">
                  <c:v>4月</c:v>
                </c:pt>
                <c:pt idx="2">
                  <c:v>5月</c:v>
                </c:pt>
                <c:pt idx="3">
                  <c:v>6月</c:v>
                </c:pt>
                <c:pt idx="4">
                  <c:v>7月</c:v>
                </c:pt>
                <c:pt idx="5">
                  <c:v>8月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1045</c:v>
                </c:pt>
                <c:pt idx="1">
                  <c:v>600</c:v>
                </c:pt>
                <c:pt idx="2">
                  <c:v>880</c:v>
                </c:pt>
                <c:pt idx="3">
                  <c:v>598</c:v>
                </c:pt>
                <c:pt idx="4">
                  <c:v>678</c:v>
                </c:pt>
                <c:pt idx="5">
                  <c:v>513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A2-4441-8A92-D7534BC768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客訴密度（件/站）</c:v>
                </c:pt>
              </c:strCache>
            </c:strRef>
          </c:tx>
          <c:spPr>
            <a:ln w="31750" cap="flat">
              <a:solidFill>
                <a:srgbClr val="FF50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5000"/>
              </a:solidFill>
              <a:ln w="9525" cap="flat">
                <a:solidFill>
                  <a:srgbClr val="FF500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3月</c:v>
                </c:pt>
                <c:pt idx="1">
                  <c:v>4月</c:v>
                </c:pt>
                <c:pt idx="2">
                  <c:v>5月</c:v>
                </c:pt>
                <c:pt idx="3">
                  <c:v>6月</c:v>
                </c:pt>
                <c:pt idx="4">
                  <c:v>7月</c:v>
                </c:pt>
                <c:pt idx="5">
                  <c:v>8月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1.99</c:v>
                </c:pt>
                <c:pt idx="1">
                  <c:v>1.1399999999999999</c:v>
                </c:pt>
                <c:pt idx="2">
                  <c:v>1.67</c:v>
                </c:pt>
                <c:pt idx="3">
                  <c:v>1.1399999999999999</c:v>
                </c:pt>
                <c:pt idx="4">
                  <c:v>1.29</c:v>
                </c:pt>
                <c:pt idx="5">
                  <c:v>0.98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8A2-4441-8A92-D7534BC768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3"/>
        <c:crosses val="autoZero"/>
        <c:auto val="1"/>
        <c:lblAlgn val="ctr"/>
        <c:lblOffset val="100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8888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APP帳號設定問題</c:v>
                </c:pt>
              </c:strCache>
            </c:strRef>
          </c:tx>
          <c:spPr>
            <a:solidFill>
              <a:srgbClr val="BA7517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FFFFFF"/>
                    </a:solidFill>
                    <a:latin typeface="Noto Sans TC Bold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26年Q1</c:v>
                </c:pt>
                <c:pt idx="1">
                  <c:v>26年Q2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21.7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23-413C-98B7-362D5E9430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機台問題</c:v>
                </c:pt>
              </c:strCache>
            </c:strRef>
          </c:tx>
          <c:spPr>
            <a:solidFill>
              <a:srgbClr val="060E9F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FFFFFF"/>
                    </a:solidFill>
                    <a:latin typeface="Noto Sans TC Bold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26年Q1</c:v>
                </c:pt>
                <c:pt idx="1">
                  <c:v>26年Q2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52.2</c:v>
                </c:pt>
                <c:pt idx="1">
                  <c:v>45.4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23-413C-98B7-362D5E94301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回收點數問題</c:v>
                </c:pt>
              </c:strCache>
            </c:strRef>
          </c:tx>
          <c:spPr>
            <a:solidFill>
              <a:srgbClr val="0076A9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FFFFFF"/>
                    </a:solidFill>
                    <a:latin typeface="Noto Sans TC Bold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26年Q1</c:v>
                </c:pt>
                <c:pt idx="1">
                  <c:v>26年Q2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10</c:v>
                </c:pt>
                <c:pt idx="1">
                  <c:v>10.7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23-413C-98B7-362D5E94301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顧客關係</c:v>
                </c:pt>
              </c:strCache>
            </c:strRef>
          </c:tx>
          <c:spPr>
            <a:solidFill>
              <a:srgbClr val="7F77DD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FFFFFF"/>
                    </a:solidFill>
                    <a:latin typeface="Noto Sans TC Bold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26年Q1</c:v>
                </c:pt>
                <c:pt idx="1">
                  <c:v>26年Q2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11.8</c:v>
                </c:pt>
                <c:pt idx="1">
                  <c:v>10.6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223-413C-98B7-362D5E94301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優惠券問題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FFFFFF"/>
                    </a:solidFill>
                    <a:latin typeface="Noto Sans TC Bold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26年Q1</c:v>
                </c:pt>
                <c:pt idx="1">
                  <c:v>26年Q2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11.3</c:v>
                </c:pt>
                <c:pt idx="1">
                  <c:v>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223-413C-98B7-362D5E94301D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APP使用問題</c:v>
                </c:pt>
              </c:strCache>
            </c:strRef>
          </c:tx>
          <c:spPr>
            <a:solidFill>
              <a:srgbClr val="D4537E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FFFFFF"/>
                    </a:solidFill>
                    <a:latin typeface="Noto Sans TC Bold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26年Q1</c:v>
                </c:pt>
                <c:pt idx="1">
                  <c:v>26年Q2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6.3</c:v>
                </c:pt>
                <c:pt idx="1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223-413C-98B7-362D5E94301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88888"/>
                    </a:solidFill>
                    <a:latin typeface="Arial"/>
                  </a:defRPr>
                </a:pPr>
                <a:r>
                  <a:rPr lang="zh-TW" altLang="en-US" sz="900" b="0" i="0" u="none" strike="noStrike">
                    <a:solidFill>
                      <a:srgbClr val="888888"/>
                    </a:solidFill>
                    <a:latin typeface="Arial"/>
                  </a:rPr>
                  <a:t>客訴佔比</a:t>
                </a:r>
              </a:p>
            </c:rich>
          </c:tx>
          <c:overlay val="0"/>
        </c:title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88888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283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1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ecoco 客服週報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326880" y="164592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第36週（08/31 ~ 09/06）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4864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本週客訴總件數 (第36週)</a:t>
            </a:r>
            <a:endParaRPr lang="en-US" sz="1200" dirty="0"/>
          </a:p>
        </p:txBody>
      </p:sp>
      <p:pic>
        <p:nvPicPr>
          <p:cNvPr id="8" name="Image 0" descr="D:\info\0507_Weekly-Report\Operations-Weekly-Report\automation\icons\headset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188" y="8503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89 </a:t>
            </a:r>
            <a:r>
              <a:rPr lang="en-US" sz="13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4864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較上週 (76件) 增加 13 件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215341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215341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▲17.1%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326898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1"/>
          <p:cNvSpPr/>
          <p:nvPr/>
        </p:nvSpPr>
        <p:spPr>
          <a:xfrm>
            <a:off x="326898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345186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回報最高主題</a:t>
            </a:r>
            <a:endParaRPr lang="en-US" sz="1200" dirty="0"/>
          </a:p>
        </p:txBody>
      </p:sp>
      <p:pic>
        <p:nvPicPr>
          <p:cNvPr id="16" name="Image 1" descr="D:\info\0507_Weekly-Report\Operations-Weekly-Report\automation\icons\warn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85039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5186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回收箱滿艙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45186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佔比 13.5%（共 12 件）</a:t>
            </a:r>
            <a:endParaRPr lang="en-US" sz="920" dirty="0"/>
          </a:p>
        </p:txBody>
      </p:sp>
      <p:sp>
        <p:nvSpPr>
          <p:cNvPr id="19" name="Shape 15"/>
          <p:cNvSpPr/>
          <p:nvPr/>
        </p:nvSpPr>
        <p:spPr>
          <a:xfrm>
            <a:off x="505663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6"/>
          <p:cNvSpPr/>
          <p:nvPr/>
        </p:nvSpPr>
        <p:spPr>
          <a:xfrm>
            <a:off x="505663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▲3%</a:t>
            </a:r>
            <a:endParaRPr lang="en-US" sz="1020" dirty="0"/>
          </a:p>
        </p:txBody>
      </p:sp>
      <p:sp>
        <p:nvSpPr>
          <p:cNvPr id="21" name="Shape 17"/>
          <p:cNvSpPr/>
          <p:nvPr/>
        </p:nvSpPr>
        <p:spPr>
          <a:xfrm>
            <a:off x="617220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18"/>
          <p:cNvSpPr/>
          <p:nvPr/>
        </p:nvSpPr>
        <p:spPr>
          <a:xfrm>
            <a:off x="617220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19"/>
          <p:cNvSpPr/>
          <p:nvPr/>
        </p:nvSpPr>
        <p:spPr>
          <a:xfrm>
            <a:off x="635508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客訴量最高站點</a:t>
            </a:r>
            <a:endParaRPr lang="en-US" sz="1200" dirty="0"/>
          </a:p>
        </p:txBody>
      </p:sp>
      <p:pic>
        <p:nvPicPr>
          <p:cNvPr id="24" name="Image 2" descr="D:\info\0507_Weekly-Report\Operations-Weekly-Report\automation\icons\pin_dark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3628" y="85039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5508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全聯福利中心台中大昌店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635508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臺中市（本週 6 件）</a:t>
            </a:r>
            <a:endParaRPr lang="en-US" sz="920" dirty="0"/>
          </a:p>
        </p:txBody>
      </p:sp>
      <p:sp>
        <p:nvSpPr>
          <p:cNvPr id="27" name="Shape 22"/>
          <p:cNvSpPr/>
          <p:nvPr/>
        </p:nvSpPr>
        <p:spPr>
          <a:xfrm>
            <a:off x="795985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3"/>
          <p:cNvSpPr/>
          <p:nvPr/>
        </p:nvSpPr>
        <p:spPr>
          <a:xfrm>
            <a:off x="795985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▲3件</a:t>
            </a:r>
            <a:endParaRPr lang="en-US" sz="1020" dirty="0"/>
          </a:p>
        </p:txBody>
      </p:sp>
      <p:sp>
        <p:nvSpPr>
          <p:cNvPr id="29" name="Shape 24"/>
          <p:cNvSpPr/>
          <p:nvPr/>
        </p:nvSpPr>
        <p:spPr>
          <a:xfrm>
            <a:off x="907542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5"/>
          <p:cNvSpPr/>
          <p:nvPr/>
        </p:nvSpPr>
        <p:spPr>
          <a:xfrm>
            <a:off x="907542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6"/>
          <p:cNvSpPr/>
          <p:nvPr/>
        </p:nvSpPr>
        <p:spPr>
          <a:xfrm>
            <a:off x="925830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非機台問題佔比</a:t>
            </a:r>
            <a:endParaRPr lang="en-US" sz="1200" dirty="0"/>
          </a:p>
        </p:txBody>
      </p:sp>
      <p:pic>
        <p:nvPicPr>
          <p:cNvPr id="32" name="Image 3" descr="D:\info\0507_Weekly-Report\Operations-Weekly-Report\automation\icons\usercog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56848" y="850392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25830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9C7A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34.8</a:t>
            </a:r>
            <a:r>
              <a:rPr lang="en-US" sz="13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%</a:t>
            </a:r>
            <a:endParaRPr lang="en-US" sz="2700" dirty="0"/>
          </a:p>
        </p:txBody>
      </p:sp>
      <p:sp>
        <p:nvSpPr>
          <p:cNvPr id="34" name="Text 28"/>
          <p:cNvSpPr/>
          <p:nvPr/>
        </p:nvSpPr>
        <p:spPr>
          <a:xfrm>
            <a:off x="925830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20" dirty="0" err="1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代表案例類型</a:t>
            </a: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：</a:t>
            </a:r>
            <a:b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</a:br>
            <a:r>
              <a:rPr lang="en-US" sz="920" dirty="0" err="1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相關活動規則疑問</a:t>
            </a:r>
            <a:endParaRPr lang="en-US" sz="920" dirty="0"/>
          </a:p>
        </p:txBody>
      </p:sp>
      <p:sp>
        <p:nvSpPr>
          <p:cNvPr id="35" name="Shape 29"/>
          <p:cNvSpPr/>
          <p:nvPr/>
        </p:nvSpPr>
        <p:spPr>
          <a:xfrm>
            <a:off x="1086307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DDEAF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0"/>
          <p:cNvSpPr/>
          <p:nvPr/>
        </p:nvSpPr>
        <p:spPr>
          <a:xfrm>
            <a:off x="1086307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▼9.9%</a:t>
            </a:r>
            <a:endParaRPr lang="en-US" sz="1020" dirty="0"/>
          </a:p>
        </p:txBody>
      </p:sp>
      <p:sp>
        <p:nvSpPr>
          <p:cNvPr id="37" name="Shape 31"/>
          <p:cNvSpPr/>
          <p:nvPr/>
        </p:nvSpPr>
        <p:spPr>
          <a:xfrm>
            <a:off x="365760" y="2459736"/>
            <a:ext cx="64008" cy="256032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2"/>
          <p:cNvSpPr/>
          <p:nvPr/>
        </p:nvSpPr>
        <p:spPr>
          <a:xfrm>
            <a:off x="502920" y="2432304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客訴趨勢分析（近4週）　單位：件數</a:t>
            </a:r>
            <a:endParaRPr lang="en-US" sz="13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07208"/>
          <a:ext cx="7141464" cy="3017520"/>
        </p:xfrm>
        <a:graphic>
          <a:graphicData uri="http://schemas.openxmlformats.org/drawingml/2006/table">
            <a:tbl>
              <a:tblPr/>
              <a:tblGrid>
                <a:gridCol w="1024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週次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機台問題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APP帳號設定問題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回收點數問題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顧客關係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優惠券問題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APP使用問題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加總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第33週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165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第34週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34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▼66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4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16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61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▼104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第35週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42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8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17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4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76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▲15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第36週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58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7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14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7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▲5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89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Shape 33"/>
          <p:cNvSpPr/>
          <p:nvPr/>
        </p:nvSpPr>
        <p:spPr>
          <a:xfrm>
            <a:off x="7772400" y="2459736"/>
            <a:ext cx="64008" cy="256032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4"/>
          <p:cNvSpPr/>
          <p:nvPr/>
        </p:nvSpPr>
        <p:spPr>
          <a:xfrm>
            <a:off x="7909560" y="243230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非機台問題 Top 3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7772400" y="2807208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FF4EF"/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36"/>
          <p:cNvSpPr/>
          <p:nvPr/>
        </p:nvSpPr>
        <p:spPr>
          <a:xfrm>
            <a:off x="7772400" y="2807208"/>
            <a:ext cx="54864" cy="118872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Text 37"/>
          <p:cNvSpPr/>
          <p:nvPr/>
        </p:nvSpPr>
        <p:spPr>
          <a:xfrm>
            <a:off x="7918704" y="291693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700" dirty="0"/>
          </a:p>
        </p:txBody>
      </p:sp>
      <p:sp>
        <p:nvSpPr>
          <p:cNvPr id="45" name="Text 38"/>
          <p:cNvSpPr/>
          <p:nvPr/>
        </p:nvSpPr>
        <p:spPr>
          <a:xfrm>
            <a:off x="8394192" y="2898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endParaRPr lang="en-US" sz="1250" dirty="0"/>
          </a:p>
        </p:txBody>
      </p:sp>
      <p:sp>
        <p:nvSpPr>
          <p:cNvPr id="46" name="Text 39"/>
          <p:cNvSpPr/>
          <p:nvPr/>
        </p:nvSpPr>
        <p:spPr>
          <a:xfrm>
            <a:off x="8394192" y="32826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7件</a:t>
            </a:r>
            <a:r>
              <a:rPr lang="en-US" sz="11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7.9%</a:t>
            </a:r>
            <a:endParaRPr lang="en-US" sz="1700" dirty="0"/>
          </a:p>
        </p:txBody>
      </p:sp>
      <p:sp>
        <p:nvSpPr>
          <p:cNvPr id="47" name="Shape 40"/>
          <p:cNvSpPr/>
          <p:nvPr/>
        </p:nvSpPr>
        <p:spPr>
          <a:xfrm>
            <a:off x="8394192" y="3794760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8" name="Shape 41"/>
          <p:cNvSpPr/>
          <p:nvPr/>
        </p:nvSpPr>
        <p:spPr>
          <a:xfrm>
            <a:off x="8394192" y="3794760"/>
            <a:ext cx="3200400" cy="6400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2"/>
          <p:cNvSpPr/>
          <p:nvPr/>
        </p:nvSpPr>
        <p:spPr>
          <a:xfrm>
            <a:off x="7772400" y="4151376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EF6FB"/>
          </a:solidFill>
          <a:ln w="12700">
            <a:solidFill>
              <a:srgbClr val="0076A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3"/>
          <p:cNvSpPr/>
          <p:nvPr/>
        </p:nvSpPr>
        <p:spPr>
          <a:xfrm>
            <a:off x="7772400" y="4151376"/>
            <a:ext cx="54864" cy="118872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4"/>
          <p:cNvSpPr/>
          <p:nvPr/>
        </p:nvSpPr>
        <p:spPr>
          <a:xfrm>
            <a:off x="7918704" y="42611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700" dirty="0"/>
          </a:p>
        </p:txBody>
      </p:sp>
      <p:sp>
        <p:nvSpPr>
          <p:cNvPr id="52" name="Text 45"/>
          <p:cNvSpPr/>
          <p:nvPr/>
        </p:nvSpPr>
        <p:spPr>
          <a:xfrm>
            <a:off x="8394192" y="42428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使用規則/限制條件說明</a:t>
            </a:r>
            <a:endParaRPr lang="en-US" sz="1250" dirty="0"/>
          </a:p>
        </p:txBody>
      </p:sp>
      <p:sp>
        <p:nvSpPr>
          <p:cNvPr id="53" name="Text 46"/>
          <p:cNvSpPr/>
          <p:nvPr/>
        </p:nvSpPr>
        <p:spPr>
          <a:xfrm>
            <a:off x="8394192" y="46268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6件</a:t>
            </a:r>
            <a:r>
              <a:rPr lang="en-US" sz="115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6.7%</a:t>
            </a:r>
            <a:endParaRPr lang="en-US" sz="1700" dirty="0"/>
          </a:p>
        </p:txBody>
      </p:sp>
      <p:sp>
        <p:nvSpPr>
          <p:cNvPr id="54" name="Shape 47"/>
          <p:cNvSpPr/>
          <p:nvPr/>
        </p:nvSpPr>
        <p:spPr>
          <a:xfrm>
            <a:off x="8394192" y="5138928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48"/>
          <p:cNvSpPr/>
          <p:nvPr/>
        </p:nvSpPr>
        <p:spPr>
          <a:xfrm>
            <a:off x="8394192" y="5138928"/>
            <a:ext cx="2743200" cy="64008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49"/>
          <p:cNvSpPr/>
          <p:nvPr/>
        </p:nvSpPr>
        <p:spPr>
          <a:xfrm>
            <a:off x="7772400" y="5495544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5F7FF"/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0"/>
          <p:cNvSpPr/>
          <p:nvPr/>
        </p:nvSpPr>
        <p:spPr>
          <a:xfrm>
            <a:off x="7772400" y="5495544"/>
            <a:ext cx="54864" cy="118872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8" name="Text 51"/>
          <p:cNvSpPr/>
          <p:nvPr/>
        </p:nvSpPr>
        <p:spPr>
          <a:xfrm>
            <a:off x="7918704" y="56052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700" dirty="0"/>
          </a:p>
        </p:txBody>
      </p:sp>
      <p:sp>
        <p:nvSpPr>
          <p:cNvPr id="59" name="Text 52"/>
          <p:cNvSpPr/>
          <p:nvPr/>
        </p:nvSpPr>
        <p:spPr>
          <a:xfrm>
            <a:off x="8394192" y="55869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許願新增站點/設站建議</a:t>
            </a:r>
            <a:endParaRPr lang="en-US" sz="1250" dirty="0"/>
          </a:p>
        </p:txBody>
      </p:sp>
      <p:sp>
        <p:nvSpPr>
          <p:cNvPr id="60" name="Text 53"/>
          <p:cNvSpPr/>
          <p:nvPr/>
        </p:nvSpPr>
        <p:spPr>
          <a:xfrm>
            <a:off x="8394192" y="59710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5件</a:t>
            </a:r>
            <a:r>
              <a:rPr lang="en-US" sz="11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5.6%</a:t>
            </a:r>
            <a:endParaRPr lang="en-US" sz="1700" dirty="0"/>
          </a:p>
        </p:txBody>
      </p:sp>
      <p:sp>
        <p:nvSpPr>
          <p:cNvPr id="61" name="Shape 54"/>
          <p:cNvSpPr/>
          <p:nvPr/>
        </p:nvSpPr>
        <p:spPr>
          <a:xfrm>
            <a:off x="8394192" y="6483096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2" name="Shape 55"/>
          <p:cNvSpPr/>
          <p:nvPr/>
        </p:nvSpPr>
        <p:spPr>
          <a:xfrm>
            <a:off x="8394192" y="6483096"/>
            <a:ext cx="2286000" cy="64008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329184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30352" y="1463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客訴機台類型與高頻站點分析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9326880" y="164592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9326880" y="164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第36週（08/31 ~ 09/06）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55549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7" name="Image 0" descr="D:\info\0507_Weekly-Report\Operations-Weekly-Report\automation\icons\recycl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06984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0704" y="10241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收瓶機 ／ 方舟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091940" y="10698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4091940" y="1069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64件 (91.4%)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5216" y="155448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694944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43000" y="160934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滿艙問題（回收箱／寶特瓶）</a:t>
            </a:r>
            <a:r>
              <a:rPr lang="en-US" sz="14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28.1% (18件)</a:t>
            </a:r>
            <a:endParaRPr lang="en-US" sz="1600" dirty="0"/>
          </a:p>
        </p:txBody>
      </p:sp>
      <p:pic>
        <p:nvPicPr>
          <p:cNvPr id="14" name="Image 1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103120"/>
            <a:ext cx="137160" cy="1371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205740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最高回報站點：C｜臺北/小北百貨台北寧夏店站（3件）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85216" y="271272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3"/>
          <p:cNvSpPr/>
          <p:nvPr/>
        </p:nvSpPr>
        <p:spPr>
          <a:xfrm>
            <a:off x="694944" y="2813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143000" y="276758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機台操作畫面無法登入</a:t>
            </a:r>
            <a:r>
              <a:rPr lang="en-US" sz="14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12.5% (8件)</a:t>
            </a:r>
            <a:endParaRPr lang="en-US" sz="1600" dirty="0"/>
          </a:p>
        </p:txBody>
      </p:sp>
      <p:pic>
        <p:nvPicPr>
          <p:cNvPr id="19" name="Image 2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261360"/>
            <a:ext cx="137160" cy="1371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321564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00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最高回報站點：E｜臺中/全聯福利中心台中大昌店站（6件）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21" name="Shape 16"/>
          <p:cNvSpPr/>
          <p:nvPr/>
        </p:nvSpPr>
        <p:spPr>
          <a:xfrm>
            <a:off x="585216" y="387096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7"/>
          <p:cNvSpPr/>
          <p:nvPr/>
        </p:nvSpPr>
        <p:spPr>
          <a:xfrm>
            <a:off x="694944" y="3971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143000" y="392582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r>
              <a:rPr lang="en-US" sz="14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10.9% (7件)</a:t>
            </a:r>
            <a:endParaRPr lang="en-US" sz="1600" dirty="0"/>
          </a:p>
        </p:txBody>
      </p:sp>
      <p:pic>
        <p:nvPicPr>
          <p:cNvPr id="24" name="Image 3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419600"/>
            <a:ext cx="137160" cy="1371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437388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最高回報站點：D｜桃園/小北百貨桃園蘆竹大新店站（2件）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240780" y="868680"/>
            <a:ext cx="55549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27" name="Image 4" descr="D:\info\0507_Weekly-Report\Operations-Weekly-Report\automation\icons\battery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2" y="1069848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35724" y="10241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二代電池機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9966960" y="10698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3"/>
          <p:cNvSpPr/>
          <p:nvPr/>
        </p:nvSpPr>
        <p:spPr>
          <a:xfrm>
            <a:off x="9966960" y="1069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6件 (8.6%)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460236" y="155448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25"/>
          <p:cNvSpPr/>
          <p:nvPr/>
        </p:nvSpPr>
        <p:spPr>
          <a:xfrm>
            <a:off x="6569964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7018020" y="160934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投入物卡住_瓶罐/電池</a:t>
            </a:r>
            <a:r>
              <a:rPr lang="en-US" sz="14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50% (3件)</a:t>
            </a:r>
            <a:endParaRPr lang="en-US" sz="1600" dirty="0"/>
          </a:p>
        </p:txBody>
      </p:sp>
      <p:pic>
        <p:nvPicPr>
          <p:cNvPr id="34" name="Image 5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2103120"/>
            <a:ext cx="137160" cy="1371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200900" y="205740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最高回報站點：B｜臺南/億進寢具文賢店站（1件）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6460236" y="271272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29"/>
          <p:cNvSpPr/>
          <p:nvPr/>
        </p:nvSpPr>
        <p:spPr>
          <a:xfrm>
            <a:off x="6569964" y="2813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800" dirty="0"/>
          </a:p>
        </p:txBody>
      </p:sp>
      <p:sp>
        <p:nvSpPr>
          <p:cNvPr id="38" name="Text 30"/>
          <p:cNvSpPr/>
          <p:nvPr/>
        </p:nvSpPr>
        <p:spPr>
          <a:xfrm>
            <a:off x="7018020" y="276758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機台當機/無回應</a:t>
            </a:r>
            <a:r>
              <a:rPr lang="en-US" sz="14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16.7% (1件)</a:t>
            </a:r>
            <a:endParaRPr lang="en-US" sz="1600" dirty="0"/>
          </a:p>
        </p:txBody>
      </p:sp>
      <p:pic>
        <p:nvPicPr>
          <p:cNvPr id="39" name="Image 6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3261360"/>
            <a:ext cx="137160" cy="13716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7200900" y="321564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最高回報站點：C｜高雄/億進寢具右昌店站（1件）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6460236" y="387096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33"/>
          <p:cNvSpPr/>
          <p:nvPr/>
        </p:nvSpPr>
        <p:spPr>
          <a:xfrm>
            <a:off x="6569964" y="3971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800" dirty="0"/>
          </a:p>
        </p:txBody>
      </p:sp>
      <p:sp>
        <p:nvSpPr>
          <p:cNvPr id="43" name="Text 34"/>
          <p:cNvSpPr/>
          <p:nvPr/>
        </p:nvSpPr>
        <p:spPr>
          <a:xfrm>
            <a:off x="7018020" y="392582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機台需維護/故障提醒</a:t>
            </a:r>
            <a:r>
              <a:rPr lang="en-US" sz="14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16.7% (1件)</a:t>
            </a:r>
            <a:endParaRPr lang="en-US" sz="1600" dirty="0"/>
          </a:p>
        </p:txBody>
      </p:sp>
      <p:pic>
        <p:nvPicPr>
          <p:cNvPr id="44" name="Image 7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4419600"/>
            <a:ext cx="137160" cy="13716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200900" y="437388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最高回報站點：屏東/小北百貨屏東林森店站（1件）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365760" y="5257800"/>
            <a:ext cx="11430000" cy="777240"/>
          </a:xfrm>
          <a:prstGeom prst="roundRect">
            <a:avLst>
              <a:gd name="adj" fmla="val 9412"/>
            </a:avLst>
          </a:prstGeom>
          <a:solidFill>
            <a:srgbClr val="FAE0B8"/>
          </a:solidFill>
          <a:ln w="15875">
            <a:solidFill>
              <a:srgbClr val="FFCE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7" name="Image 8" descr="D:\info\0507_Weekly-Report\Operations-Weekly-Report\automation\icons\war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5477256"/>
            <a:ext cx="310896" cy="31089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1005840" y="5349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【本週融合洞察】收瓶機客訴集中於「滿艙問題（回收箱／寶特瓶）」（28.1%，18件），最高回報站點為 C｜臺北/小北百貨台北寧夏店站（3件），</a:t>
            </a:r>
            <a:r>
              <a:rPr lang="en-US" sz="1050" dirty="0" err="1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建議優先派工檢修</a:t>
            </a:r>
            <a:r>
              <a:rPr lang="en-US" sz="1050" dirty="0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；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zh-TW" altLang="en-US" sz="1050" dirty="0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                                   </a:t>
            </a:r>
            <a:r>
              <a:rPr lang="en-US" sz="1050" dirty="0" err="1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電池機客訴則集中於「投入物卡住_瓶罐</a:t>
            </a:r>
            <a:r>
              <a:rPr lang="en-US" sz="1050" dirty="0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/電池」（50.0%，3件），建議持續追蹤。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329184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30352" y="1463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月低回收量站點改善清單 Top 10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675120" y="2560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資料更新日期：2026/09/07（區間2026/08/08-09/07）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30000" cy="429768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等級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Hive排名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（總566）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縣市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站點名稱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機型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租賃/買斷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近30日合計（瓶）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月增減率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528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新北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衛生福利部雙和醫院第一醫療大樓站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529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新北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南山高中大中一樓站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514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全聯福利中心總部大樓站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800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▼50%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513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雲林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全家北港豐順店站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800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512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屏東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全聯福利中心屏東南州店站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1,202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511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健美洋行南一中體育館站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1,392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持平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510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高雄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全聯福利中心湖內中山店站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1,457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509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高雄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全聯福利中心三民十全三店站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1,703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▲1420.5%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508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成功大學學生活動中心(一)站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1,729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持平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507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成功大學生物科技教學大樓站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1,786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66460" y="129844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5966460" y="12984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0" y="129844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9" name="Image 0" descr="D:\info\0507_Weekly-Report\Operations-Weekly-Report\automation\icons\key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1353312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07808" y="12984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966460" y="168249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8"/>
          <p:cNvSpPr/>
          <p:nvPr/>
        </p:nvSpPr>
        <p:spPr>
          <a:xfrm>
            <a:off x="5966460" y="16824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966460" y="206654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0"/>
          <p:cNvSpPr/>
          <p:nvPr/>
        </p:nvSpPr>
        <p:spPr>
          <a:xfrm>
            <a:off x="5966460" y="20665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966460" y="2450592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12700">
            <a:solidFill>
              <a:srgbClr val="0076A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2"/>
          <p:cNvSpPr/>
          <p:nvPr/>
        </p:nvSpPr>
        <p:spPr>
          <a:xfrm>
            <a:off x="5966460" y="24505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AI-HD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966460" y="283464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4"/>
          <p:cNvSpPr/>
          <p:nvPr/>
        </p:nvSpPr>
        <p:spPr>
          <a:xfrm>
            <a:off x="5966460" y="28346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966460" y="321868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12700">
            <a:solidFill>
              <a:srgbClr val="0076A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6"/>
          <p:cNvSpPr/>
          <p:nvPr/>
        </p:nvSpPr>
        <p:spPr>
          <a:xfrm>
            <a:off x="5966460" y="32186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AI-HD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966460" y="360273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12700">
            <a:solidFill>
              <a:srgbClr val="0076A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8"/>
          <p:cNvSpPr/>
          <p:nvPr/>
        </p:nvSpPr>
        <p:spPr>
          <a:xfrm>
            <a:off x="5966460" y="36027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AI-HD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966460" y="398678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12700">
            <a:solidFill>
              <a:srgbClr val="0076A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0"/>
          <p:cNvSpPr/>
          <p:nvPr/>
        </p:nvSpPr>
        <p:spPr>
          <a:xfrm>
            <a:off x="5966460" y="398678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AI-HD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966460" y="4370832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2"/>
          <p:cNvSpPr/>
          <p:nvPr/>
        </p:nvSpPr>
        <p:spPr>
          <a:xfrm>
            <a:off x="5966460" y="43708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7315200" y="437083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8" name="Image 1" descr="D:\info\0507_Weekly-Report\Operations-Weekly-Report\automation\icons\key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4425696"/>
            <a:ext cx="146304" cy="14630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607808" y="4370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5966460" y="475488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6"/>
          <p:cNvSpPr/>
          <p:nvPr/>
        </p:nvSpPr>
        <p:spPr>
          <a:xfrm>
            <a:off x="5966460" y="4754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7315200" y="475488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3" name="Image 2" descr="D:\info\0507_Weekly-Report\Operations-Weekly-Report\automation\icons\key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4809744"/>
            <a:ext cx="146304" cy="14630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607808" y="47548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365760" y="5276088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F5F7FF"/>
          </a:solidFill>
          <a:ln w="9525">
            <a:solidFill>
              <a:srgbClr val="8EB9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0"/>
          <p:cNvSpPr/>
          <p:nvPr/>
        </p:nvSpPr>
        <p:spPr>
          <a:xfrm>
            <a:off x="594360" y="53492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資料來源：Hive，一般站依近 30 個台灣日曆日實際清運的塑膠＋鋁罐瓶數分 S～F；三台以上有效收瓶機獨立列為 ARK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594360" y="55961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等級+加分/瓶量：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5943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9525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3"/>
          <p:cNvSpPr/>
          <p:nvPr/>
        </p:nvSpPr>
        <p:spPr>
          <a:xfrm>
            <a:off x="5943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S+18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11338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17,000瓶以上</a:t>
            </a:r>
            <a:endParaRPr lang="en-US" sz="700" dirty="0"/>
          </a:p>
        </p:txBody>
      </p:sp>
      <p:sp>
        <p:nvSpPr>
          <p:cNvPr id="41" name="Shape 35"/>
          <p:cNvSpPr/>
          <p:nvPr/>
        </p:nvSpPr>
        <p:spPr>
          <a:xfrm>
            <a:off x="19659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9525">
            <a:solidFill>
              <a:srgbClr val="0076A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36"/>
          <p:cNvSpPr/>
          <p:nvPr/>
        </p:nvSpPr>
        <p:spPr>
          <a:xfrm>
            <a:off x="19659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A+12</a:t>
            </a:r>
            <a:endParaRPr lang="en-US" sz="850" dirty="0"/>
          </a:p>
        </p:txBody>
      </p:sp>
      <p:sp>
        <p:nvSpPr>
          <p:cNvPr id="43" name="Text 37"/>
          <p:cNvSpPr/>
          <p:nvPr/>
        </p:nvSpPr>
        <p:spPr>
          <a:xfrm>
            <a:off x="25054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13,300～16,999瓶</a:t>
            </a:r>
            <a:endParaRPr lang="en-US" sz="700" dirty="0"/>
          </a:p>
        </p:txBody>
      </p:sp>
      <p:sp>
        <p:nvSpPr>
          <p:cNvPr id="44" name="Shape 38"/>
          <p:cNvSpPr/>
          <p:nvPr/>
        </p:nvSpPr>
        <p:spPr>
          <a:xfrm>
            <a:off x="33375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9525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39"/>
          <p:cNvSpPr/>
          <p:nvPr/>
        </p:nvSpPr>
        <p:spPr>
          <a:xfrm>
            <a:off x="33375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B+8</a:t>
            </a:r>
            <a:endParaRPr lang="en-US" sz="850" dirty="0"/>
          </a:p>
        </p:txBody>
      </p:sp>
      <p:sp>
        <p:nvSpPr>
          <p:cNvPr id="46" name="Text 40"/>
          <p:cNvSpPr/>
          <p:nvPr/>
        </p:nvSpPr>
        <p:spPr>
          <a:xfrm>
            <a:off x="38770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11,100～13,299瓶</a:t>
            </a:r>
            <a:endParaRPr lang="en-US" sz="700" dirty="0"/>
          </a:p>
        </p:txBody>
      </p:sp>
      <p:sp>
        <p:nvSpPr>
          <p:cNvPr id="47" name="Shape 41"/>
          <p:cNvSpPr/>
          <p:nvPr/>
        </p:nvSpPr>
        <p:spPr>
          <a:xfrm>
            <a:off x="47091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4F86A0">
              <a:alpha val="15000"/>
            </a:srgbClr>
          </a:solidFill>
          <a:ln w="9525">
            <a:solidFill>
              <a:srgbClr val="4F86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2"/>
          <p:cNvSpPr/>
          <p:nvPr/>
        </p:nvSpPr>
        <p:spPr>
          <a:xfrm>
            <a:off x="47091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F86A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C+4</a:t>
            </a:r>
            <a:endParaRPr lang="en-US" sz="850" dirty="0"/>
          </a:p>
        </p:txBody>
      </p:sp>
      <p:sp>
        <p:nvSpPr>
          <p:cNvPr id="49" name="Text 43"/>
          <p:cNvSpPr/>
          <p:nvPr/>
        </p:nvSpPr>
        <p:spPr>
          <a:xfrm>
            <a:off x="52486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9,000～11,099瓶</a:t>
            </a:r>
            <a:endParaRPr lang="en-US" sz="700" dirty="0"/>
          </a:p>
        </p:txBody>
      </p:sp>
      <p:sp>
        <p:nvSpPr>
          <p:cNvPr id="50" name="Shape 44"/>
          <p:cNvSpPr/>
          <p:nvPr/>
        </p:nvSpPr>
        <p:spPr>
          <a:xfrm>
            <a:off x="60807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5"/>
          <p:cNvSpPr/>
          <p:nvPr/>
        </p:nvSpPr>
        <p:spPr>
          <a:xfrm>
            <a:off x="60807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D+2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66202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6,900～8,999瓶</a:t>
            </a:r>
            <a:endParaRPr lang="en-US" sz="700" dirty="0"/>
          </a:p>
        </p:txBody>
      </p:sp>
      <p:sp>
        <p:nvSpPr>
          <p:cNvPr id="53" name="Shape 47"/>
          <p:cNvSpPr/>
          <p:nvPr/>
        </p:nvSpPr>
        <p:spPr>
          <a:xfrm>
            <a:off x="74523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Text 48"/>
          <p:cNvSpPr/>
          <p:nvPr/>
        </p:nvSpPr>
        <p:spPr>
          <a:xfrm>
            <a:off x="74523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E+1</a:t>
            </a:r>
            <a:endParaRPr lang="en-US" sz="850" dirty="0"/>
          </a:p>
        </p:txBody>
      </p:sp>
      <p:sp>
        <p:nvSpPr>
          <p:cNvPr id="55" name="Text 49"/>
          <p:cNvSpPr/>
          <p:nvPr/>
        </p:nvSpPr>
        <p:spPr>
          <a:xfrm>
            <a:off x="79918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4,100～6,899瓶</a:t>
            </a:r>
            <a:endParaRPr lang="en-US" sz="700" dirty="0"/>
          </a:p>
        </p:txBody>
      </p:sp>
      <p:sp>
        <p:nvSpPr>
          <p:cNvPr id="56" name="Shape 50"/>
          <p:cNvSpPr/>
          <p:nvPr/>
        </p:nvSpPr>
        <p:spPr>
          <a:xfrm>
            <a:off x="88239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Text 51"/>
          <p:cNvSpPr/>
          <p:nvPr/>
        </p:nvSpPr>
        <p:spPr>
          <a:xfrm>
            <a:off x="88239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F+0</a:t>
            </a:r>
            <a:endParaRPr lang="en-US" sz="850" dirty="0"/>
          </a:p>
        </p:txBody>
      </p:sp>
      <p:sp>
        <p:nvSpPr>
          <p:cNvPr id="58" name="Text 52"/>
          <p:cNvSpPr/>
          <p:nvPr/>
        </p:nvSpPr>
        <p:spPr>
          <a:xfrm>
            <a:off x="93634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4,100瓶以下</a:t>
            </a:r>
            <a:endParaRPr lang="en-US" sz="700" dirty="0"/>
          </a:p>
        </p:txBody>
      </p:sp>
      <p:sp>
        <p:nvSpPr>
          <p:cNvPr id="59" name="Shape 53"/>
          <p:cNvSpPr/>
          <p:nvPr/>
        </p:nvSpPr>
        <p:spPr>
          <a:xfrm>
            <a:off x="101955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9C7A00">
              <a:alpha val="15000"/>
            </a:srgbClr>
          </a:solidFill>
          <a:ln w="9525">
            <a:solidFill>
              <a:srgbClr val="9C7A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Text 54"/>
          <p:cNvSpPr/>
          <p:nvPr/>
        </p:nvSpPr>
        <p:spPr>
          <a:xfrm>
            <a:off x="101955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ARK+8</a:t>
            </a:r>
            <a:endParaRPr lang="en-US" sz="850" dirty="0"/>
          </a:p>
        </p:txBody>
      </p:sp>
      <p:sp>
        <p:nvSpPr>
          <p:cNvPr id="61" name="Text 55"/>
          <p:cNvSpPr/>
          <p:nvPr/>
        </p:nvSpPr>
        <p:spPr>
          <a:xfrm>
            <a:off x="107350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3台有效收瓶機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73152" cy="310896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30352" y="128016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客訴趨勢洞察（MoM／QoQ）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326880" y="146304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9326880" y="1463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第36週（08/31 ~ 09/06）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36576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4864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本月客訴總量（26年8月）</a:t>
            </a:r>
            <a:endParaRPr lang="en-US" sz="1100" dirty="0"/>
          </a:p>
        </p:txBody>
      </p:sp>
      <p:pic>
        <p:nvPicPr>
          <p:cNvPr id="9" name="Image 0" descr="D:\info\0507_Weekly-Report\Operations-Weekly-Report\automation\icons\headset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764" y="777240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513 </a:t>
            </a:r>
            <a:r>
              <a:rPr lang="en-US" sz="12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4864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較上月（678件）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18998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DFF3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218998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9E75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▼24.3%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6898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2"/>
          <p:cNvSpPr/>
          <p:nvPr/>
        </p:nvSpPr>
        <p:spPr>
          <a:xfrm>
            <a:off x="326898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/>
          <p:nvPr/>
        </p:nvSpPr>
        <p:spPr>
          <a:xfrm>
            <a:off x="345186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客訴密度指標（件/站）</a:t>
            </a:r>
            <a:endParaRPr lang="en-US" sz="1100" dirty="0"/>
          </a:p>
        </p:txBody>
      </p:sp>
      <p:pic>
        <p:nvPicPr>
          <p:cNvPr id="17" name="Image 1" descr="D:\info\0507_Weekly-Report\Operations-Weekly-Report\automation\icons\pin_dark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984" y="777240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5186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0.98 </a:t>
            </a:r>
            <a:r>
              <a:rPr lang="en-US" sz="11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件/站</a:t>
            </a:r>
            <a:endParaRPr lang="en-US" sz="2500" dirty="0"/>
          </a:p>
        </p:txBody>
      </p:sp>
      <p:sp>
        <p:nvSpPr>
          <p:cNvPr id="19" name="Text 15"/>
          <p:cNvSpPr/>
          <p:nvPr/>
        </p:nvSpPr>
        <p:spPr>
          <a:xfrm>
            <a:off x="345186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每站平均客訴量，暫代萬人客訴率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09320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DFF3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7"/>
          <p:cNvSpPr/>
          <p:nvPr/>
        </p:nvSpPr>
        <p:spPr>
          <a:xfrm>
            <a:off x="509320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9E75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▼24%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17220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19"/>
          <p:cNvSpPr/>
          <p:nvPr/>
        </p:nvSpPr>
        <p:spPr>
          <a:xfrm>
            <a:off x="617220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0"/>
          <p:cNvSpPr/>
          <p:nvPr/>
        </p:nvSpPr>
        <p:spPr>
          <a:xfrm>
            <a:off x="635508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本季客訴總量（26年Q2）</a:t>
            </a:r>
            <a:endParaRPr lang="en-US" sz="1100" dirty="0"/>
          </a:p>
        </p:txBody>
      </p:sp>
      <p:pic>
        <p:nvPicPr>
          <p:cNvPr id="25" name="Image 2" descr="D:\info\0507_Weekly-Report\Operations-Weekly-Report\automation\icons\warn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204" y="777240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5508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2078 </a:t>
            </a:r>
            <a:r>
              <a:rPr lang="en-US" sz="12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</a:t>
            </a:r>
            <a:endParaRPr lang="en-US" sz="2500" dirty="0"/>
          </a:p>
        </p:txBody>
      </p:sp>
      <p:sp>
        <p:nvSpPr>
          <p:cNvPr id="27" name="Text 22"/>
          <p:cNvSpPr/>
          <p:nvPr/>
        </p:nvSpPr>
        <p:spPr>
          <a:xfrm>
            <a:off x="635508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較上季（2125件）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799642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DFF3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4"/>
          <p:cNvSpPr/>
          <p:nvPr/>
        </p:nvSpPr>
        <p:spPr>
          <a:xfrm>
            <a:off x="799642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9E75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▼2.2%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907542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6"/>
          <p:cNvSpPr/>
          <p:nvPr/>
        </p:nvSpPr>
        <p:spPr>
          <a:xfrm>
            <a:off x="907542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27"/>
          <p:cNvSpPr/>
          <p:nvPr/>
        </p:nvSpPr>
        <p:spPr>
          <a:xfrm>
            <a:off x="925830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機台問題佔比（26年Q2）</a:t>
            </a:r>
            <a:endParaRPr lang="en-US" sz="1100" dirty="0"/>
          </a:p>
        </p:txBody>
      </p:sp>
      <p:pic>
        <p:nvPicPr>
          <p:cNvPr id="33" name="Image 3" descr="D:\info\0507_Weekly-Report\Operations-Weekly-Report\automation\icons\recycle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93424" y="777240"/>
            <a:ext cx="219456" cy="21945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25830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9C7A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45.4</a:t>
            </a:r>
            <a:r>
              <a:rPr lang="en-US" sz="12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%</a:t>
            </a:r>
            <a:endParaRPr lang="en-US" sz="2500" dirty="0"/>
          </a:p>
        </p:txBody>
      </p:sp>
      <p:sp>
        <p:nvSpPr>
          <p:cNvPr id="35" name="Text 29"/>
          <p:cNvSpPr/>
          <p:nvPr/>
        </p:nvSpPr>
        <p:spPr>
          <a:xfrm>
            <a:off x="925830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較上季佔比變化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1089964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1"/>
          <p:cNvSpPr/>
          <p:nvPr/>
        </p:nvSpPr>
        <p:spPr>
          <a:xfrm>
            <a:off x="1089964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▼6.8%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365760" y="2075688"/>
            <a:ext cx="64008" cy="256032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3"/>
          <p:cNvSpPr/>
          <p:nvPr/>
        </p:nvSpPr>
        <p:spPr>
          <a:xfrm>
            <a:off x="502920" y="204825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總客訴量與客訴密度趨勢圖（MoM，近6個月）</a:t>
            </a:r>
            <a:endParaRPr lang="en-US" sz="1300" dirty="0"/>
          </a:p>
        </p:txBody>
      </p:sp>
      <p:graphicFrame>
        <p:nvGraphicFramePr>
          <p:cNvPr id="40" name="Chart 0"/>
          <p:cNvGraphicFramePr/>
          <p:nvPr/>
        </p:nvGraphicFramePr>
        <p:xfrm>
          <a:off x="365760" y="2423160"/>
          <a:ext cx="5212080" cy="1938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1" name="Shape 34"/>
          <p:cNvSpPr/>
          <p:nvPr/>
        </p:nvSpPr>
        <p:spPr>
          <a:xfrm>
            <a:off x="5852160" y="2075688"/>
            <a:ext cx="64008" cy="256032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35"/>
          <p:cNvSpPr/>
          <p:nvPr/>
        </p:nvSpPr>
        <p:spPr>
          <a:xfrm>
            <a:off x="5989320" y="2048256"/>
            <a:ext cx="5806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客訴主題結構比變化（QoQ）</a:t>
            </a:r>
            <a:endParaRPr lang="en-US" sz="1300" dirty="0"/>
          </a:p>
        </p:txBody>
      </p:sp>
      <p:graphicFrame>
        <p:nvGraphicFramePr>
          <p:cNvPr id="43" name="Chart 1"/>
          <p:cNvGraphicFramePr/>
          <p:nvPr/>
        </p:nvGraphicFramePr>
        <p:xfrm>
          <a:off x="5852160" y="2423160"/>
          <a:ext cx="5943600" cy="1938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44" name="Shape 36"/>
          <p:cNvSpPr/>
          <p:nvPr/>
        </p:nvSpPr>
        <p:spPr>
          <a:xfrm>
            <a:off x="365760" y="4617720"/>
            <a:ext cx="64008" cy="256032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Text 37"/>
          <p:cNvSpPr/>
          <p:nvPr/>
        </p:nvSpPr>
        <p:spPr>
          <a:xfrm>
            <a:off x="502920" y="4590288"/>
            <a:ext cx="11292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客服觀點與改善行動建議</a:t>
            </a:r>
            <a:endParaRPr lang="en-US" sz="1300" dirty="0"/>
          </a:p>
        </p:txBody>
      </p:sp>
      <p:sp>
        <p:nvSpPr>
          <p:cNvPr id="46" name="Shape 38"/>
          <p:cNvSpPr/>
          <p:nvPr/>
        </p:nvSpPr>
        <p:spPr>
          <a:xfrm>
            <a:off x="365760" y="4946904"/>
            <a:ext cx="11430000" cy="566928"/>
          </a:xfrm>
          <a:prstGeom prst="roundRect">
            <a:avLst>
              <a:gd name="adj" fmla="val 9677"/>
            </a:avLst>
          </a:prstGeom>
          <a:solidFill>
            <a:srgbClr val="060E9F"/>
          </a:solidFill>
          <a:ln w="9525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Shape 39"/>
          <p:cNvSpPr/>
          <p:nvPr/>
        </p:nvSpPr>
        <p:spPr>
          <a:xfrm>
            <a:off x="365760" y="4946904"/>
            <a:ext cx="54864" cy="566928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0"/>
          <p:cNvSpPr/>
          <p:nvPr/>
        </p:nvSpPr>
        <p:spPr>
          <a:xfrm>
            <a:off x="566928" y="5001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重點結論</a:t>
            </a:r>
            <a:endParaRPr lang="en-US" sz="1050" dirty="0"/>
          </a:p>
        </p:txBody>
      </p:sp>
      <p:sp>
        <p:nvSpPr>
          <p:cNvPr id="49" name="Text 41"/>
          <p:cNvSpPr/>
          <p:nvPr/>
        </p:nvSpPr>
        <p:spPr>
          <a:xfrm>
            <a:off x="2194560" y="50017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本月客訴量較上月下降 24.3%，本季較上季下降 2.2%，整體呈現改善趨勢。 本季變化最大：「APP帳號設定問題」上升 13.7 個百分點，建議優先關注。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365760" y="5632704"/>
            <a:ext cx="11430000" cy="530352"/>
          </a:xfrm>
          <a:prstGeom prst="roundRect">
            <a:avLst>
              <a:gd name="adj" fmla="val 10345"/>
            </a:avLst>
          </a:prstGeom>
          <a:solidFill>
            <a:srgbClr val="FFF4EF"/>
          </a:solidFill>
          <a:ln w="9525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Shape 43"/>
          <p:cNvSpPr/>
          <p:nvPr/>
        </p:nvSpPr>
        <p:spPr>
          <a:xfrm>
            <a:off x="365760" y="5632704"/>
            <a:ext cx="54864" cy="530352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Text 44"/>
          <p:cNvSpPr/>
          <p:nvPr/>
        </p:nvSpPr>
        <p:spPr>
          <a:xfrm>
            <a:off x="566928" y="56875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本季結構變化重點</a:t>
            </a:r>
            <a:endParaRPr lang="en-US" sz="1050" dirty="0"/>
          </a:p>
        </p:txBody>
      </p:sp>
      <p:sp>
        <p:nvSpPr>
          <p:cNvPr id="53" name="Text 45"/>
          <p:cNvSpPr/>
          <p:nvPr/>
        </p:nvSpPr>
        <p:spPr>
          <a:xfrm>
            <a:off x="2194560" y="5687568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本季「APP帳號設定問題」佔比較上季上升 13.7 個百分點（8.0% → 21.7%），為本季結構變化最大的問題類型，建議追蹤後續走勢並評估對應改善措施。（資料累積中，須滿一年以上同季比較才能判斷是否為季節性規律）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737</Words>
  <Application>Microsoft Office PowerPoint</Application>
  <PresentationFormat>寬螢幕</PresentationFormat>
  <Paragraphs>247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Noto Sans TC Black</vt:lpstr>
      <vt:lpstr>Noto Sans TC Bold</vt:lpstr>
      <vt:lpstr>Noto Sans TC Medium</vt:lpstr>
      <vt:lpstr>Arial</vt:lpstr>
      <vt:lpstr>Office Theme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王茗芬</cp:lastModifiedBy>
  <cp:revision>2</cp:revision>
  <dcterms:created xsi:type="dcterms:W3CDTF">2026-09-07T03:00:05Z</dcterms:created>
  <dcterms:modified xsi:type="dcterms:W3CDTF">2026-09-07T04:13:15Z</dcterms:modified>
</cp:coreProperties>
</file>