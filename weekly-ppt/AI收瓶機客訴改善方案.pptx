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Poppins"/>
      <p:regular r:id="rId13"/>
      <p:bold r:id="rId14"/>
      <p:italic r:id="rId15"/>
      <p:boldItalic r:id="rId16"/>
    </p:embeddedFont>
    <p:embeddedFont>
      <p:font typeface="Noto Sans TC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oppins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italic.fntdata"/><Relationship Id="rId14" Type="http://schemas.openxmlformats.org/officeDocument/2006/relationships/font" Target="fonts/Poppins-bold.fntdata"/><Relationship Id="rId17" Type="http://schemas.openxmlformats.org/officeDocument/2006/relationships/font" Target="fonts/NotoSansTC-regular.fntdata"/><Relationship Id="rId16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NotoSansTC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11" Type="http://schemas.openxmlformats.org/officeDocument/2006/relationships/image" Target="../media/image17.png"/><Relationship Id="rId10" Type="http://schemas.openxmlformats.org/officeDocument/2006/relationships/image" Target="../media/image14.png"/><Relationship Id="rId12" Type="http://schemas.openxmlformats.org/officeDocument/2006/relationships/image" Target="../media/image19.png"/><Relationship Id="rId9" Type="http://schemas.openxmlformats.org/officeDocument/2006/relationships/image" Target="../media/image1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11.png"/><Relationship Id="rId8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Relationship Id="rId7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11" Type="http://schemas.openxmlformats.org/officeDocument/2006/relationships/image" Target="../media/image28.png"/><Relationship Id="rId10" Type="http://schemas.openxmlformats.org/officeDocument/2006/relationships/image" Target="../media/image30.png"/><Relationship Id="rId12" Type="http://schemas.openxmlformats.org/officeDocument/2006/relationships/image" Target="../media/image31.png"/><Relationship Id="rId9" Type="http://schemas.openxmlformats.org/officeDocument/2006/relationships/image" Target="../media/image25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39416"/>
            <a:ext cx="33909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2858541"/>
            <a:ext cx="5400675" cy="1234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0F2B92"/>
                </a:solidFill>
                <a:latin typeface="Noto Sans TC"/>
                <a:ea typeface="Noto Sans TC"/>
                <a:cs typeface="Noto Sans TC"/>
                <a:sym typeface="Noto Sans TC"/>
              </a:rPr>
              <a:t>AI收瓶機大量投瓶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050" u="none" cap="none" strike="noStrike">
                <a:solidFill>
                  <a:srgbClr val="0F2B92"/>
                </a:solidFill>
                <a:latin typeface="Noto Sans TC"/>
                <a:ea typeface="Noto Sans TC"/>
                <a:cs typeface="Noto Sans TC"/>
                <a:sym typeface="Noto Sans TC"/>
              </a:rPr>
              <a:t> 延遲入點客訴改善方案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283422"/>
            <a:ext cx="73342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優化前端介面提示資訊，引導使用者期望管理，有效降低「點數未入帳」客訴率</a:t>
            </a:r>
            <a:endParaRPr/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353716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21259"/>
            <a:ext cx="5334000" cy="14058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69965"/>
            <a:ext cx="5334000" cy="16667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1828800"/>
            <a:ext cx="53340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847725" y="2840384"/>
            <a:ext cx="48196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收瓶機（方舟）為客訴主要來源，其中「點數未入帳」占比高達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12.1% (7件)</a:t>
            </a: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，常發生於高頻使用站點。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09625" y="4008090"/>
            <a:ext cx="5100637" cy="27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2B92"/>
                </a:solidFill>
                <a:latin typeface="Noto Sans TC"/>
                <a:ea typeface="Noto Sans TC"/>
                <a:cs typeface="Noto Sans TC"/>
                <a:sym typeface="Noto Sans TC"/>
              </a:rPr>
              <a:t>三大主要客訴類別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1828800"/>
            <a:ext cx="53340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847725" y="2466082"/>
            <a:ext cx="1980247" cy="27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2B92"/>
                </a:solidFill>
                <a:latin typeface="Noto Sans TC"/>
                <a:ea typeface="Noto Sans TC"/>
                <a:cs typeface="Noto Sans TC"/>
                <a:sym typeface="Noto Sans TC"/>
              </a:rPr>
              <a:t>收瓶機客訴占比最高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76911" y="2459384"/>
            <a:ext cx="1090463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942975" y="4374743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000125" y="4375695"/>
            <a:ext cx="4667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滿艙問題：</a:t>
            </a: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 29.3% (17件) — 回收箱/寶特瓶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42975" y="4649033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000125" y="4649985"/>
            <a:ext cx="4667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機台當機/無回應：</a:t>
            </a: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 13.8% (8件) — 系統無反應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42975" y="4923323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•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000125" y="4924276"/>
            <a:ext cx="4667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點數未入帳：</a:t>
            </a: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 12.1% (7件) — 大量投遞後點數時間差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2B92"/>
                </a:solidFill>
                <a:latin typeface="Noto Sans TC"/>
                <a:ea typeface="Noto Sans TC"/>
                <a:cs typeface="Noto Sans TC"/>
                <a:sym typeface="Noto Sans TC"/>
              </a:rPr>
              <a:t>客訴數據分析：收瓶機問題現況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47937"/>
            <a:ext cx="3492549" cy="25620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547937"/>
            <a:ext cx="3492549" cy="25620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547937"/>
            <a:ext cx="3492549" cy="25620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84321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866775" y="3605212"/>
            <a:ext cx="3047099" cy="27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2B92"/>
                </a:solidFill>
                <a:latin typeface="Noto Sans TC"/>
                <a:ea typeface="Noto Sans TC"/>
                <a:cs typeface="Noto Sans TC"/>
                <a:sym typeface="Noto Sans TC"/>
              </a:rPr>
              <a:t>1. 單次大量投遞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66775" y="3991867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使用者一次性投入大量寶特瓶，導致後端資料運算與 API 封包傳輸產生排隊時間差，點數無法「即時」發放。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84321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4645074" y="3605212"/>
            <a:ext cx="3047099" cy="27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2B92"/>
                </a:solidFill>
                <a:latin typeface="Noto Sans TC"/>
                <a:ea typeface="Noto Sans TC"/>
                <a:cs typeface="Noto Sans TC"/>
                <a:sym typeface="Noto Sans TC"/>
              </a:rPr>
              <a:t>2. 期望值落差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4645074" y="3991867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舊版介面結算頁僅簡單標示「感謝您的使用」，使用者直覺預期點數應在完成投遞時立刻入帳。</a:t>
            </a:r>
            <a:endParaRPr/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84321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8423374" y="3605212"/>
            <a:ext cx="3047099" cy="27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2B92"/>
                </a:solidFill>
                <a:latin typeface="Noto Sans TC"/>
                <a:ea typeface="Noto Sans TC"/>
                <a:cs typeface="Noto Sans TC"/>
                <a:sym typeface="Noto Sans TC"/>
              </a:rPr>
              <a:t>3. 觸發焦慮客訴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423374" y="3991867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使用者離開機台後開啟 APP 發現點數尚未變更，誤以為點數被遺漏或系統故障，隨即通報客服處理。</a:t>
            </a:r>
            <a:endParaRPr/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8791" y="2995612"/>
            <a:ext cx="207466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27091" y="2995612"/>
            <a:ext cx="207466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05391" y="2995612"/>
            <a:ext cx="207466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2B92"/>
                </a:solidFill>
                <a:latin typeface="Noto Sans TC"/>
                <a:ea typeface="Noto Sans TC"/>
                <a:cs typeface="Noto Sans TC"/>
                <a:sym typeface="Noto Sans TC"/>
              </a:rPr>
              <a:t>「點數未入帳」客訴之痛點與成因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19375"/>
            <a:ext cx="5334000" cy="24192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619375"/>
            <a:ext cx="5334000" cy="24192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914400" y="3457575"/>
            <a:ext cx="4880610" cy="27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2B92"/>
                </a:solidFill>
                <a:latin typeface="Noto Sans TC"/>
                <a:ea typeface="Noto Sans TC"/>
                <a:cs typeface="Noto Sans TC"/>
                <a:sym typeface="Noto Sans TC"/>
              </a:rPr>
              <a:t>明確告知「延遲可能」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914400" y="3872805"/>
            <a:ext cx="46482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將結算標題優化為「投遞已完成」，並主動加註「目前單次大量投遞時，點數可能延遲數小時入帳」，打破使用者對即時入帳的絕對期待，大幅降低誤解。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629400" y="3457575"/>
            <a:ext cx="4880610" cy="27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2B92"/>
                </a:solidFill>
                <a:latin typeface="Noto Sans TC"/>
                <a:ea typeface="Noto Sans TC"/>
                <a:cs typeface="Noto Sans TC"/>
                <a:sym typeface="Noto Sans TC"/>
              </a:rPr>
              <a:t>給予明確操作指引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629400" y="3872805"/>
            <a:ext cx="46482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文案結尾清晰指示「請稍後至 ECOCO APP 查看」，給予使用者確定感，引導用戶給予系統處理解析的時間，避免第一時間撥打客服電話。</a:t>
            </a:r>
            <a:endParaRPr/>
          </a:p>
        </p:txBody>
      </p:sp>
      <p:pic>
        <p:nvPicPr>
          <p:cNvPr descr="image.png" id="141" name="Google Shape;14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2981325"/>
            <a:ext cx="237083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9400" y="2981325"/>
            <a:ext cx="237083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2B92"/>
                </a:solidFill>
                <a:latin typeface="Noto Sans TC"/>
                <a:ea typeface="Noto Sans TC"/>
                <a:cs typeface="Noto Sans TC"/>
                <a:sym typeface="Noto Sans TC"/>
              </a:rPr>
              <a:t>核心改善策略：前端期望值管理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25947"/>
            <a:ext cx="5334000" cy="44062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625947"/>
            <a:ext cx="5334000" cy="44062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550" y="1644997"/>
            <a:ext cx="5295900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0550" y="2111722"/>
            <a:ext cx="529590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05550" y="1644997"/>
            <a:ext cx="5295900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05550" y="2111722"/>
            <a:ext cx="529590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1050" y="1802159"/>
            <a:ext cx="118616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0550" y="2121247"/>
            <a:ext cx="5295900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781050" y="4969222"/>
            <a:ext cx="516064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2B92"/>
                </a:solidFill>
                <a:latin typeface="Noto Sans TC"/>
                <a:ea typeface="Noto Sans TC"/>
                <a:cs typeface="Noto Sans TC"/>
                <a:sym typeface="Noto Sans TC"/>
              </a:rPr>
              <a:t>文案：感謝您的使用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781050" y="5274022"/>
            <a:ext cx="49149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未針對大量投遞點數發放時程給予提示，資訊不及時導致用戶產生焦慮客訴。</a:t>
            </a:r>
            <a:endParaRPr/>
          </a:p>
        </p:txBody>
      </p:sp>
      <p:pic>
        <p:nvPicPr>
          <p:cNvPr descr="image.png" id="159" name="Google Shape;159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96050" y="1802159"/>
            <a:ext cx="118616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305550" y="2121247"/>
            <a:ext cx="5295900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6496050" y="4969222"/>
            <a:ext cx="516064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2B92"/>
                </a:solidFill>
                <a:latin typeface="Noto Sans TC"/>
                <a:ea typeface="Noto Sans TC"/>
                <a:cs typeface="Noto Sans TC"/>
                <a:sym typeface="Noto Sans TC"/>
              </a:rPr>
              <a:t>文案：投遞已完成 + 延遲說明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496050" y="5274022"/>
            <a:ext cx="49149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明確告知「單次大量投遞可能延遲數小時入帳」，並指引至 APP 查看，預期管理完備。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2B92"/>
                </a:solidFill>
                <a:latin typeface="Noto Sans TC"/>
                <a:ea typeface="Noto Sans TC"/>
                <a:cs typeface="Noto Sans TC"/>
                <a:sym typeface="Noto Sans TC"/>
              </a:rPr>
              <a:t>UI 畫面優化前後對照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14612"/>
            <a:ext cx="5334000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436614"/>
            <a:ext cx="5334000" cy="12971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924300"/>
            <a:ext cx="5334000" cy="129718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2015430" y="3090862"/>
            <a:ext cx="244599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FFCC00"/>
                </a:solidFill>
                <a:latin typeface="Poppins"/>
                <a:ea typeface="Poppins"/>
                <a:cs typeface="Poppins"/>
                <a:sym typeface="Poppins"/>
              </a:rPr>
              <a:t>-50%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1981200" y="4281487"/>
            <a:ext cx="25146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Noto Sans TC"/>
                <a:ea typeface="Noto Sans TC"/>
                <a:cs typeface="Noto Sans TC"/>
                <a:sym typeface="Noto Sans TC"/>
              </a:rPr>
              <a:t>預期降低點數延遲相關客訴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6524625" y="2674739"/>
            <a:ext cx="5100637" cy="27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2B92"/>
                </a:solidFill>
                <a:latin typeface="Noto Sans TC"/>
                <a:ea typeface="Noto Sans TC"/>
                <a:cs typeface="Noto Sans TC"/>
                <a:sym typeface="Noto Sans TC"/>
              </a:rPr>
              <a:t>1. 零硬體成本，高改善效益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6524625" y="2947094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僅透過軟體結算畫面文案微調，不需變動後端架構或硬體，即能顯著降低客服人力負擔。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6524625" y="4162425"/>
            <a:ext cx="5100637" cy="27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2B92"/>
                </a:solidFill>
                <a:latin typeface="Noto Sans TC"/>
                <a:ea typeface="Noto Sans TC"/>
                <a:cs typeface="Noto Sans TC"/>
                <a:sym typeface="Noto Sans TC"/>
              </a:rPr>
              <a:t>2. 高頻站點重點追蹤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6524625" y="4434780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上線後重點監控桃園全聯大溪員林店、台南迷客夏、新竹全家飛鳳店等高頻站點之客訴降幅數據。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2B92"/>
                </a:solidFill>
                <a:latin typeface="Noto Sans TC"/>
                <a:ea typeface="Noto Sans TC"/>
                <a:cs typeface="Noto Sans TC"/>
                <a:sym typeface="Noto Sans TC"/>
              </a:rPr>
              <a:t>預期效益與後續追蹤計畫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9302" y="4564260"/>
            <a:ext cx="3353395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2575560" y="2684115"/>
            <a:ext cx="704088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2B92"/>
                </a:solidFill>
                <a:latin typeface="Noto Sans TC"/>
                <a:ea typeface="Noto Sans TC"/>
                <a:cs typeface="Noto Sans TC"/>
                <a:sym typeface="Noto Sans TC"/>
              </a:rPr>
              <a:t>簡報結束，謝謝您的聆聽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2952601" y="3703290"/>
            <a:ext cx="6286648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Noto Sans TC"/>
                <a:ea typeface="Noto Sans TC"/>
                <a:cs typeface="Noto Sans TC"/>
                <a:sym typeface="Noto Sans TC"/>
              </a:rPr>
              <a:t>持續優化 AI 收瓶機用戶體驗，打造更完善的循環經濟服務系統</a:t>
            </a:r>
            <a:endParaRPr/>
          </a:p>
        </p:txBody>
      </p:sp>
      <p:pic>
        <p:nvPicPr>
          <p:cNvPr descr="image.png" id="187" name="Google Shape;18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73650" y="1884015"/>
            <a:ext cx="444549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